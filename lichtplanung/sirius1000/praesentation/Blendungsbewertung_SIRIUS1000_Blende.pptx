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7.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leitung" id="{1e1d4ab3-4931-88ba-e6ab-eb99fd96cc61}">
          <p14:sldIdLst>
            <p14:sldId id="256"/>
            <p14:sldId id="257"/>
          </p14:sldIdLst>
        </p14:section>
        <p14:section name="Grundlagen" id="{d23cf199-f7ee-d2c1-1bca-815d2aa92ade}">
          <p14:sldIdLst>
            <p14:sldId id="258"/>
            <p14:sldId id="259"/>
            <p14:sldId id="260"/>
            <p14:sldId id="261"/>
          </p14:sldIdLst>
        </p14:section>
        <p14:section name="Ergebnisse" id="{8f17518c-c08b-ecb3-20b6-b76b2ef69692}">
          <p14:sldIdLst>
            <p14:sldId id="262"/>
            <p14:sldId id="263"/>
            <p14:sldId id="264"/>
            <p14:sldId id="265"/>
          </p14:sldIdLst>
        </p14:section>
        <p14:section name="Bewertung" id="{b909f3aa-f3b9-158e-c5b2-a6ae22f89f53}">
          <p14:sldIdLst>
            <p14:sldId id="266"/>
            <p14:sldId id="267"/>
          </p14:sldIdLst>
        </p14:section>
        <p14:section name="Arena" id="{f610ca26-5c61-466c-e0fc-520d007d6020}">
          <p14:sldIdLst>
            <p14:sldId id="268"/>
            <p14:sldId id="269"/>
            <p14:sldId id="270"/>
          </p14:sldIdLst>
        </p14:section>
        <p14:section name="Ohne externe Blende" id="{c9ea323d-bc2c-c9f4-40e6-90b199c0aac6}">
          <p14:sldIdLst>
            <p14:sldId id="271"/>
            <p14:sldId id="272"/>
            <p14:sldId id="273"/>
            <p14:sldId id="274"/>
          </p14:sldIdLst>
        </p14:section>
        <p14:section name="Neue außenliegende Blende" id="{20ad713c-decd-8575-1adb-22ea322574eb}">
          <p14:sldIdLst>
            <p14:sldId id="275"/>
            <p14:sldId id="276"/>
            <p14:sldId id="277"/>
          </p14:sldIdLst>
        </p14:section>
        <p14:section name="Kompakte Blende" id="{82a41f44-fe81-c3ca-9825-33c1196690b8}">
          <p14:sldIdLst>
            <p14:sldId id="278"/>
            <p14:sldId id="279"/>
            <p14:sldId id="280"/>
          </p14:sldIdLst>
        </p14:section>
        <p14:section name="V2 seitlich überarbeitet" id="{148ef19f-9471-0393-282c-7f8adb96d2a8}">
          <p14:sldIdLst>
            <p14:sldId id="281"/>
            <p14:sldId id="282"/>
          </p14:sldIdLst>
        </p14:section>
        <p14:section name="Anhang" id="{2f4034a7-1061-4b3b-5abe-73491ed7b23c}">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C180 nach hinten, heute</c:v>
                </c:pt>
              </c:strCache>
            </c:strRef>
          </c:tx>
          <c:spPr>
            <a:solidFill>
              <a:srgbClr val="17202B"/>
            </a:solidFill>
            <a:ln w="25400" cap="flat">
              <a:solidFill>
                <a:srgbClr val="1720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02B"/>
              </a:solidFill>
              <a:ln w="9525" cap="flat">
                <a:solidFill>
                  <a:srgbClr val="17202B"/>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Sheet1!$B$2:$B$26</c:f>
              <c:numCache>
                <c:formatCode>General</c:formatCode>
                <c:ptCount val="25"/>
                <c:pt idx="0">
                  <c:v>23649</c:v>
                </c:pt>
                <c:pt idx="1">
                  <c:v>23103</c:v>
                </c:pt>
                <c:pt idx="2">
                  <c:v>20817</c:v>
                </c:pt>
                <c:pt idx="3">
                  <c:v>17785</c:v>
                </c:pt>
                <c:pt idx="4">
                  <c:v>15342</c:v>
                </c:pt>
                <c:pt idx="5">
                  <c:v>13178</c:v>
                </c:pt>
                <c:pt idx="6">
                  <c:v>11414</c:v>
                </c:pt>
                <c:pt idx="7">
                  <c:v>10439</c:v>
                </c:pt>
                <c:pt idx="8">
                  <c:v>9955</c:v>
                </c:pt>
                <c:pt idx="9">
                  <c:v>10250</c:v>
                </c:pt>
                <c:pt idx="10">
                  <c:v>10381</c:v>
                </c:pt>
                <c:pt idx="11">
                  <c:v>8597</c:v>
                </c:pt>
                <c:pt idx="12">
                  <c:v>6267</c:v>
                </c:pt>
                <c:pt idx="13">
                  <c:v>4658</c:v>
                </c:pt>
                <c:pt idx="14">
                  <c:v>2238</c:v>
                </c:pt>
                <c:pt idx="15">
                  <c:v>287</c:v>
                </c:pt>
                <c:pt idx="16">
                  <c:v>48</c:v>
                </c:pt>
                <c:pt idx="17">
                  <c:v>9</c:v>
                </c:pt>
                <c:pt idx="18">
                  <c:v>1</c:v>
                </c:pt>
                <c:pt idx="19">
                  <c:v>1</c:v>
                </c:pt>
                <c:pt idx="20">
                  <c:v>4</c:v>
                </c:pt>
                <c:pt idx="21">
                  <c:v>6</c:v>
                </c:pt>
                <c:pt idx="22">
                  <c:v>10</c:v>
                </c:pt>
                <c:pt idx="23">
                  <c:v>1</c:v>
                </c:pt>
                <c:pt idx="24">
                  <c:v>5</c:v>
                </c:pt>
              </c:numCache>
            </c:numRef>
          </c:val>
          <c:smooth val="0"/>
        </c:ser>
        <c:ser>
          <c:idx val="1"/>
          <c:order val="1"/>
          <c:tx>
            <c:strRef>
              <c:f>Sheet1!$C$1</c:f>
              <c:strCache>
                <c:ptCount val="1"/>
                <c:pt idx="0">
                  <c:v>C180 nach hinten, Lochung 50 %</c:v>
                </c:pt>
              </c:strCache>
            </c:strRef>
          </c:tx>
          <c:spPr>
            <a:solidFill>
              <a:srgbClr val="A35A00"/>
            </a:solidFill>
            <a:ln w="25400" cap="flat">
              <a:solidFill>
                <a:srgbClr val="A35A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35A00"/>
              </a:solidFill>
              <a:ln w="9525" cap="flat">
                <a:solidFill>
                  <a:srgbClr val="A35A00"/>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Sheet1!$C$2:$C$26</c:f>
              <c:numCache>
                <c:formatCode>General</c:formatCode>
                <c:ptCount val="25"/>
                <c:pt idx="0">
                  <c:v>23649</c:v>
                </c:pt>
                <c:pt idx="1">
                  <c:v>23103</c:v>
                </c:pt>
                <c:pt idx="2">
                  <c:v>20834</c:v>
                </c:pt>
                <c:pt idx="3">
                  <c:v>17987</c:v>
                </c:pt>
                <c:pt idx="4">
                  <c:v>15615</c:v>
                </c:pt>
                <c:pt idx="5">
                  <c:v>13482</c:v>
                </c:pt>
                <c:pt idx="6">
                  <c:v>11727</c:v>
                </c:pt>
                <c:pt idx="7">
                  <c:v>10929</c:v>
                </c:pt>
                <c:pt idx="8">
                  <c:v>10610</c:v>
                </c:pt>
                <c:pt idx="9">
                  <c:v>11176</c:v>
                </c:pt>
                <c:pt idx="10">
                  <c:v>11684</c:v>
                </c:pt>
                <c:pt idx="11">
                  <c:v>9777</c:v>
                </c:pt>
                <c:pt idx="12">
                  <c:v>7613</c:v>
                </c:pt>
                <c:pt idx="13">
                  <c:v>6302</c:v>
                </c:pt>
                <c:pt idx="14">
                  <c:v>3936</c:v>
                </c:pt>
                <c:pt idx="15">
                  <c:v>1710</c:v>
                </c:pt>
                <c:pt idx="16">
                  <c:v>793</c:v>
                </c:pt>
                <c:pt idx="17">
                  <c:v>146</c:v>
                </c:pt>
                <c:pt idx="18">
                  <c:v>1</c:v>
                </c:pt>
                <c:pt idx="19">
                  <c:v>1</c:v>
                </c:pt>
                <c:pt idx="20">
                  <c:v>4</c:v>
                </c:pt>
                <c:pt idx="21">
                  <c:v>6</c:v>
                </c:pt>
                <c:pt idx="22">
                  <c:v>10</c:v>
                </c:pt>
                <c:pt idx="23">
                  <c:v>1</c:v>
                </c:pt>
                <c:pt idx="24">
                  <c:v>5</c:v>
                </c:pt>
              </c:numCache>
            </c:numRef>
          </c:val>
          <c:smooth val="0"/>
        </c:ser>
        <c:ser>
          <c:idx val="2"/>
          <c:order val="2"/>
          <c:tx>
            <c:strRef>
              <c:f>Sheet1!$D$1</c:f>
              <c:strCache>
                <c:ptCount val="1"/>
                <c:pt idx="0">
                  <c:v>C0 nach vorn</c:v>
                </c:pt>
              </c:strCache>
            </c:strRef>
          </c:tx>
          <c:spPr>
            <a:solidFill>
              <a:srgbClr val="D5DBE1"/>
            </a:solidFill>
            <a:ln w="25400" cap="flat">
              <a:solidFill>
                <a:srgbClr val="D5DBE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5DBE1"/>
              </a:solidFill>
              <a:ln w="9525" cap="flat">
                <a:solidFill>
                  <a:srgbClr val="D5DBE1"/>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Sheet1!$D$2:$D$26</c:f>
              <c:numCache>
                <c:formatCode>General</c:formatCode>
                <c:ptCount val="25"/>
                <c:pt idx="0">
                  <c:v>23649</c:v>
                </c:pt>
                <c:pt idx="1">
                  <c:v>25140</c:v>
                </c:pt>
                <c:pt idx="2">
                  <c:v>27195</c:v>
                </c:pt>
                <c:pt idx="3">
                  <c:v>29687</c:v>
                </c:pt>
                <c:pt idx="4">
                  <c:v>37489</c:v>
                </c:pt>
                <c:pt idx="5">
                  <c:v>56313</c:v>
                </c:pt>
                <c:pt idx="6">
                  <c:v>83039</c:v>
                </c:pt>
                <c:pt idx="7">
                  <c:v>93304</c:v>
                </c:pt>
                <c:pt idx="8">
                  <c:v>79531</c:v>
                </c:pt>
                <c:pt idx="9">
                  <c:v>66261</c:v>
                </c:pt>
                <c:pt idx="10">
                  <c:v>51656</c:v>
                </c:pt>
                <c:pt idx="11">
                  <c:v>32120</c:v>
                </c:pt>
                <c:pt idx="12">
                  <c:v>17490</c:v>
                </c:pt>
                <c:pt idx="13">
                  <c:v>9296</c:v>
                </c:pt>
                <c:pt idx="14">
                  <c:v>5217</c:v>
                </c:pt>
                <c:pt idx="15">
                  <c:v>3107</c:v>
                </c:pt>
                <c:pt idx="16">
                  <c:v>2028</c:v>
                </c:pt>
                <c:pt idx="17">
                  <c:v>1228</c:v>
                </c:pt>
                <c:pt idx="18">
                  <c:v>989</c:v>
                </c:pt>
                <c:pt idx="19">
                  <c:v>709</c:v>
                </c:pt>
                <c:pt idx="20">
                  <c:v>309</c:v>
                </c:pt>
                <c:pt idx="21">
                  <c:v>26</c:v>
                </c:pt>
                <c:pt idx="22">
                  <c:v>12</c:v>
                </c:pt>
                <c:pt idx="23">
                  <c:v>3</c:v>
                </c:pt>
                <c:pt idx="24">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3"/>
                    </a:solidFill>
                    <a:latin typeface="+mn-lt"/>
                  </a:defRPr>
                </a:pPr>
                <a:r>
                  <a:rPr sz="1100" b="0" i="0" u="none" strike="noStrike">
                    <a:solidFill>
                      <a:srgbClr val="5B6673"/>
                    </a:solidFill>
                    <a:latin typeface="+mn-lt"/>
                  </a:rPr>
                  <a:t>Ausstrahlungswinkel γ [°] (0 = senkrecht nach unten)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2"/>
        <c:crosses val="autoZero"/>
        <c:auto val="1"/>
        <c:lblAlgn val="ctr"/>
        <c:noMultiLvlLbl val="1"/>
        <c:tickLblSkip val="3"/>
      </c:catAx>
      <c:valAx>
        <c:axId val="2094734552"/>
        <c:scaling>
          <c:logBase val="10"/>
          <c:orientation val="minMax"/>
          <c:max val="100000"/>
          <c:min val="1"/>
        </c:scaling>
        <c:delete val="0"/>
        <c:axPos val="l"/>
        <c:majorGridlines>
          <c:spPr>
            <a:ln w="6350" cap="flat">
              <a:solidFill>
                <a:srgbClr val="D5DBE1"/>
              </a:solidFill>
              <a:prstDash val="solid"/>
              <a:round/>
            </a:ln>
          </c:spPr>
        </c:majorGridlines>
        <c:title>
          <c:tx>
            <c:rich>
              <a:bodyPr/>
              <a:lstStyle/>
              <a:p>
                <a:pPr>
                  <a:defRPr sz="1100" b="0" i="0" u="none" strike="noStrike">
                    <a:solidFill>
                      <a:srgbClr val="5B6673"/>
                    </a:solidFill>
                    <a:latin typeface="+mn-lt"/>
                  </a:defRPr>
                </a:pPr>
                <a:r>
                  <a:rPr sz="1100" b="0" i="0" u="none" strike="noStrike">
                    <a:solidFill>
                      <a:srgbClr val="5B6673"/>
                    </a:solidFill>
                    <a:latin typeface="+mn-lt"/>
                  </a:rPr>
                  <a:t>Lichtstärke [cd]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5 m, heute</c:v>
                </c:pt>
              </c:strCache>
            </c:strRef>
          </c:tx>
          <c:spPr>
            <a:solidFill>
              <a:srgbClr val="0B5CAD"/>
            </a:solidFill>
            <a:ln w="25400" cap="flat">
              <a:solidFill>
                <a:srgbClr val="0B5C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5CAD"/>
              </a:solidFill>
              <a:ln w="9525" cap="flat">
                <a:solidFill>
                  <a:srgbClr val="0B5CAD"/>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Sheet1!$B$2:$B$20</c:f>
              <c:numCache>
                <c:formatCode>General</c:formatCode>
                <c:ptCount val="19"/>
                <c:pt idx="0">
                  <c:v>18.5</c:v>
                </c:pt>
                <c:pt idx="1">
                  <c:v>21.9</c:v>
                </c:pt>
                <c:pt idx="2">
                  <c:v>23.6</c:v>
                </c:pt>
                <c:pt idx="3">
                  <c:v>24.8</c:v>
                </c:pt>
                <c:pt idx="4">
                  <c:v>26.1</c:v>
                </c:pt>
                <c:pt idx="5">
                  <c:v>27.5</c:v>
                </c:pt>
                <c:pt idx="6">
                  <c:v>28.7</c:v>
                </c:pt>
                <c:pt idx="7">
                  <c:v>29.6</c:v>
                </c:pt>
                <c:pt idx="8">
                  <c:v>29.2</c:v>
                </c:pt>
                <c:pt idx="9">
                  <c:v>28.6</c:v>
                </c:pt>
                <c:pt idx="10">
                  <c:v>27.6</c:v>
                </c:pt>
                <c:pt idx="11">
                  <c:v>26.4</c:v>
                </c:pt>
                <c:pt idx="12">
                  <c:v>25.6</c:v>
                </c:pt>
                <c:pt idx="13">
                  <c:v>24.8</c:v>
                </c:pt>
                <c:pt idx="14">
                  <c:v>24</c:v>
                </c:pt>
                <c:pt idx="15">
                  <c:v>22.7</c:v>
                </c:pt>
                <c:pt idx="16">
                  <c:v>21.3</c:v>
                </c:pt>
                <c:pt idx="17">
                  <c:v>19.7</c:v>
                </c:pt>
                <c:pt idx="18">
                  <c:v>18</c:v>
                </c:pt>
              </c:numCache>
            </c:numRef>
          </c:val>
          <c:smooth val="0"/>
        </c:ser>
        <c:ser>
          <c:idx val="1"/>
          <c:order val="1"/>
          <c:tx>
            <c:strRef>
              <c:f>Sheet1!$C$1</c:f>
              <c:strCache>
                <c:ptCount val="1"/>
                <c:pt idx="0">
                  <c:v>5 m, Lochung 50 %</c:v>
                </c:pt>
              </c:strCache>
            </c:strRef>
          </c:tx>
          <c:spPr>
            <a:solidFill>
              <a:srgbClr val="A35A00"/>
            </a:solidFill>
            <a:ln w="25400" cap="flat">
              <a:solidFill>
                <a:srgbClr val="A35A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35A00"/>
              </a:solidFill>
              <a:ln w="9525" cap="flat">
                <a:solidFill>
                  <a:srgbClr val="A35A00"/>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Sheet1!$C$2:$C$20</c:f>
              <c:numCache>
                <c:formatCode>General</c:formatCode>
                <c:ptCount val="19"/>
                <c:pt idx="0">
                  <c:v>18.5</c:v>
                </c:pt>
                <c:pt idx="1">
                  <c:v>21.9</c:v>
                </c:pt>
                <c:pt idx="2">
                  <c:v>23.7</c:v>
                </c:pt>
                <c:pt idx="3">
                  <c:v>25.1</c:v>
                </c:pt>
                <c:pt idx="4">
                  <c:v>26.5</c:v>
                </c:pt>
                <c:pt idx="5">
                  <c:v>28.1</c:v>
                </c:pt>
                <c:pt idx="6">
                  <c:v>29.6</c:v>
                </c:pt>
                <c:pt idx="7">
                  <c:v>30.7</c:v>
                </c:pt>
                <c:pt idx="8">
                  <c:v>30.4</c:v>
                </c:pt>
                <c:pt idx="9">
                  <c:v>29.8</c:v>
                </c:pt>
                <c:pt idx="10">
                  <c:v>29.1</c:v>
                </c:pt>
                <c:pt idx="11">
                  <c:v>28.3</c:v>
                </c:pt>
                <c:pt idx="12">
                  <c:v>27.8</c:v>
                </c:pt>
                <c:pt idx="13">
                  <c:v>27.3</c:v>
                </c:pt>
                <c:pt idx="14">
                  <c:v>26.8</c:v>
                </c:pt>
                <c:pt idx="15">
                  <c:v>26</c:v>
                </c:pt>
                <c:pt idx="16">
                  <c:v>25.1</c:v>
                </c:pt>
                <c:pt idx="17">
                  <c:v>24</c:v>
                </c:pt>
                <c:pt idx="18">
                  <c:v>23</c:v>
                </c:pt>
              </c:numCache>
            </c:numRef>
          </c:val>
          <c:smooth val="0"/>
        </c:ser>
        <c:ser>
          <c:idx val="2"/>
          <c:order val="2"/>
          <c:tx>
            <c:strRef>
              <c:f>Sheet1!$D$1</c:f>
              <c:strCache>
                <c:ptCount val="1"/>
                <c:pt idx="0">
                  <c:v>8 m, heute</c:v>
                </c:pt>
              </c:strCache>
            </c:strRef>
          </c:tx>
          <c:spPr>
            <a:solidFill>
              <a:srgbClr val="17202B"/>
            </a:solidFill>
            <a:ln w="25400" cap="flat">
              <a:solidFill>
                <a:srgbClr val="1720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02B"/>
              </a:solidFill>
              <a:ln w="9525" cap="flat">
                <a:solidFill>
                  <a:srgbClr val="17202B"/>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Sheet1!$D$2:$D$20</c:f>
              <c:numCache>
                <c:formatCode>General</c:formatCode>
                <c:ptCount val="19"/>
                <c:pt idx="0">
                  <c:v>3.5</c:v>
                </c:pt>
                <c:pt idx="1">
                  <c:v>8.3</c:v>
                </c:pt>
                <c:pt idx="2">
                  <c:v>11</c:v>
                </c:pt>
                <c:pt idx="3">
                  <c:v>12.8</c:v>
                </c:pt>
                <c:pt idx="4">
                  <c:v>14</c:v>
                </c:pt>
                <c:pt idx="5">
                  <c:v>14.9</c:v>
                </c:pt>
                <c:pt idx="6">
                  <c:v>15.5</c:v>
                </c:pt>
                <c:pt idx="7">
                  <c:v>16.3</c:v>
                </c:pt>
                <c:pt idx="8">
                  <c:v>17</c:v>
                </c:pt>
                <c:pt idx="9">
                  <c:v>17.7</c:v>
                </c:pt>
                <c:pt idx="10">
                  <c:v>18.4</c:v>
                </c:pt>
                <c:pt idx="11">
                  <c:v>19.3</c:v>
                </c:pt>
                <c:pt idx="12">
                  <c:v>20</c:v>
                </c:pt>
                <c:pt idx="13">
                  <c:v>20.5</c:v>
                </c:pt>
                <c:pt idx="14">
                  <c:v>21</c:v>
                </c:pt>
                <c:pt idx="15">
                  <c:v>20.9</c:v>
                </c:pt>
                <c:pt idx="16">
                  <c:v>20.6</c:v>
                </c:pt>
                <c:pt idx="17">
                  <c:v>20.3</c:v>
                </c:pt>
                <c:pt idx="18">
                  <c:v>19.8</c:v>
                </c:pt>
              </c:numCache>
            </c:numRef>
          </c:val>
          <c:smooth val="0"/>
        </c:ser>
        <c:ser>
          <c:idx val="3"/>
          <c:order val="3"/>
          <c:tx>
            <c:strRef>
              <c:f>Sheet1!$E$1</c:f>
              <c:strCache>
                <c:ptCount val="1"/>
                <c:pt idx="0">
                  <c:v>8 m, Lochung 50 %</c:v>
                </c:pt>
              </c:strCache>
            </c:strRef>
          </c:tx>
          <c:spPr>
            <a:solidFill>
              <a:srgbClr val="C58A3A"/>
            </a:solidFill>
            <a:ln w="25400" cap="flat">
              <a:solidFill>
                <a:srgbClr val="C58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8A3A"/>
              </a:solidFill>
              <a:ln w="9525" cap="flat">
                <a:solidFill>
                  <a:srgbClr val="C58A3A"/>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Sheet1!$E$2:$E$20</c:f>
              <c:numCache>
                <c:formatCode>General</c:formatCode>
                <c:ptCount val="19"/>
                <c:pt idx="0">
                  <c:v>3.4</c:v>
                </c:pt>
                <c:pt idx="1">
                  <c:v>8.2</c:v>
                </c:pt>
                <c:pt idx="2">
                  <c:v>11</c:v>
                </c:pt>
                <c:pt idx="3">
                  <c:v>12.9</c:v>
                </c:pt>
                <c:pt idx="4">
                  <c:v>14.1</c:v>
                </c:pt>
                <c:pt idx="5">
                  <c:v>15</c:v>
                </c:pt>
                <c:pt idx="6">
                  <c:v>15.7</c:v>
                </c:pt>
                <c:pt idx="7">
                  <c:v>16.6</c:v>
                </c:pt>
                <c:pt idx="8">
                  <c:v>17.4</c:v>
                </c:pt>
                <c:pt idx="9">
                  <c:v>18.2</c:v>
                </c:pt>
                <c:pt idx="10">
                  <c:v>19.1</c:v>
                </c:pt>
                <c:pt idx="11">
                  <c:v>20</c:v>
                </c:pt>
                <c:pt idx="12">
                  <c:v>20.8</c:v>
                </c:pt>
                <c:pt idx="13">
                  <c:v>21.5</c:v>
                </c:pt>
                <c:pt idx="14">
                  <c:v>22.1</c:v>
                </c:pt>
                <c:pt idx="15">
                  <c:v>22.1</c:v>
                </c:pt>
                <c:pt idx="16">
                  <c:v>21.8</c:v>
                </c:pt>
                <c:pt idx="17">
                  <c:v>21.5</c:v>
                </c:pt>
                <c:pt idx="18">
                  <c:v>21.2</c:v>
                </c:pt>
              </c:numCache>
            </c:numRef>
          </c:val>
          <c:smooth val="0"/>
        </c:ser>
        <c:ser>
          <c:idx val="4"/>
          <c:order val="4"/>
          <c:tx>
            <c:strRef>
              <c:f>Sheet1!$F$1</c:f>
              <c:strCache>
                <c:ptCount val="1"/>
                <c:pt idx="0">
                  <c:v>Grenzwert Sport-Wettkampf GR 50</c:v>
                </c:pt>
              </c:strCache>
            </c:strRef>
          </c:tx>
          <c:spPr>
            <a:solidFill>
              <a:srgbClr val="D5DBE1"/>
            </a:solidFill>
            <a:ln w="25400" cap="flat">
              <a:solidFill>
                <a:srgbClr val="D5DBE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5DBE1"/>
              </a:solidFill>
              <a:ln w="9525" cap="flat">
                <a:solidFill>
                  <a:srgbClr val="D5DBE1"/>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Sheet1!$F$2:$F$20</c:f>
              <c:numCache>
                <c:formatCode>General</c:formatCode>
                <c:ptCount val="19"/>
                <c:pt idx="0">
                  <c:v>50</c:v>
                </c:pt>
                <c:pt idx="1">
                  <c:v>50</c:v>
                </c:pt>
                <c:pt idx="2">
                  <c:v>50</c:v>
                </c:pt>
                <c:pt idx="3">
                  <c:v>50</c:v>
                </c:pt>
                <c:pt idx="4">
                  <c:v>50</c:v>
                </c:pt>
                <c:pt idx="5">
                  <c:v>50</c:v>
                </c:pt>
                <c:pt idx="6">
                  <c:v>50</c:v>
                </c:pt>
                <c:pt idx="7">
                  <c:v>50</c:v>
                </c:pt>
                <c:pt idx="8">
                  <c:v>50</c:v>
                </c:pt>
                <c:pt idx="9">
                  <c:v>50</c:v>
                </c:pt>
                <c:pt idx="10">
                  <c:v>50</c:v>
                </c:pt>
                <c:pt idx="11">
                  <c:v>50</c:v>
                </c:pt>
                <c:pt idx="12">
                  <c:v>50</c:v>
                </c:pt>
                <c:pt idx="13">
                  <c:v>50</c:v>
                </c:pt>
                <c:pt idx="14">
                  <c:v>50</c:v>
                </c:pt>
                <c:pt idx="15">
                  <c:v>50</c:v>
                </c:pt>
                <c:pt idx="16">
                  <c:v>50</c:v>
                </c:pt>
                <c:pt idx="17">
                  <c:v>50</c:v>
                </c:pt>
                <c:pt idx="18">
                  <c:v>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3"/>
                    </a:solidFill>
                    <a:latin typeface="+mn-lt"/>
                  </a:defRPr>
                </a:pPr>
                <a:r>
                  <a:rPr sz="1100" b="0" i="0" u="none" strike="noStrike">
                    <a:solidFill>
                      <a:srgbClr val="5B6673"/>
                    </a:solidFill>
                    <a:latin typeface="+mn-lt"/>
                  </a:rPr>
                  <a:t>Abstand hinter der Leuchte [m]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2"/>
        <c:crosses val="autoZero"/>
        <c:auto val="1"/>
        <c:lblAlgn val="ctr"/>
        <c:noMultiLvlLbl val="1"/>
        <c:tickLblSkip val="2"/>
      </c:catAx>
      <c:valAx>
        <c:axId val="2094734552"/>
        <c:scaling>
          <c:orientation val="minMax"/>
          <c:max val="60"/>
          <c:min val="0"/>
        </c:scaling>
        <c:delete val="0"/>
        <c:axPos val="l"/>
        <c:majorGridlines>
          <c:spPr>
            <a:ln w="6350" cap="flat">
              <a:solidFill>
                <a:srgbClr val="D5DBE1"/>
              </a:solidFill>
              <a:prstDash val="solid"/>
              <a:round/>
            </a:ln>
          </c:spPr>
        </c:majorGridlines>
        <c:title>
          <c:tx>
            <c:rich>
              <a:bodyPr/>
              <a:lstStyle/>
              <a:p>
                <a:pPr>
                  <a:defRPr sz="1100" b="0" i="0" u="none" strike="noStrike">
                    <a:solidFill>
                      <a:srgbClr val="5B6673"/>
                    </a:solidFill>
                    <a:latin typeface="+mn-lt"/>
                  </a:defRPr>
                </a:pPr>
                <a:r>
                  <a:rPr sz="1100" b="0" i="0" u="none" strike="noStrike">
                    <a:solidFill>
                      <a:srgbClr val="5B6673"/>
                    </a:solidFill>
                    <a:latin typeface="+mn-lt"/>
                  </a:rPr>
                  <a:t>GR (Boden ρ 20 %)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5B66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5 m, heute</c:v>
                </c:pt>
              </c:strCache>
            </c:strRef>
          </c:tx>
          <c:spPr>
            <a:solidFill>
              <a:srgbClr val="0B5CAD"/>
            </a:solidFill>
            <a:ln w="25400" cap="flat">
              <a:solidFill>
                <a:srgbClr val="0B5C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5CAD"/>
              </a:solidFill>
              <a:ln w="9525" cap="flat">
                <a:solidFill>
                  <a:srgbClr val="0B5CAD"/>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Sheet1!$B$2:$B$20</c:f>
              <c:numCache>
                <c:formatCode>General</c:formatCode>
                <c:ptCount val="19"/>
                <c:pt idx="0">
                  <c:v>295.702</c:v>
                </c:pt>
                <c:pt idx="1">
                  <c:v>322.842</c:v>
                </c:pt>
                <c:pt idx="2">
                  <c:v>308.256</c:v>
                </c:pt>
                <c:pt idx="3">
                  <c:v>285.899</c:v>
                </c:pt>
                <c:pt idx="4">
                  <c:v>267.534</c:v>
                </c:pt>
                <c:pt idx="5">
                  <c:v>256.653</c:v>
                </c:pt>
                <c:pt idx="6">
                  <c:v>245.048</c:v>
                </c:pt>
                <c:pt idx="7">
                  <c:v>228.529</c:v>
                </c:pt>
                <c:pt idx="8">
                  <c:v>189.643</c:v>
                </c:pt>
                <c:pt idx="9">
                  <c:v>155.193</c:v>
                </c:pt>
                <c:pt idx="10">
                  <c:v>123.289</c:v>
                </c:pt>
                <c:pt idx="11">
                  <c:v>97.642</c:v>
                </c:pt>
                <c:pt idx="12">
                  <c:v>80.11</c:v>
                </c:pt>
                <c:pt idx="13">
                  <c:v>66.37</c:v>
                </c:pt>
                <c:pt idx="14">
                  <c:v>55.149</c:v>
                </c:pt>
                <c:pt idx="15">
                  <c:v>44.4</c:v>
                </c:pt>
                <c:pt idx="16">
                  <c:v>35.106</c:v>
                </c:pt>
                <c:pt idx="17">
                  <c:v>27.58</c:v>
                </c:pt>
                <c:pt idx="18">
                  <c:v>21.47</c:v>
                </c:pt>
              </c:numCache>
            </c:numRef>
          </c:val>
          <c:smooth val="0"/>
        </c:ser>
        <c:ser>
          <c:idx val="1"/>
          <c:order val="1"/>
          <c:tx>
            <c:strRef>
              <c:f>Sheet1!$C$1</c:f>
              <c:strCache>
                <c:ptCount val="1"/>
                <c:pt idx="0">
                  <c:v>5 m, Lochung 50 %</c:v>
                </c:pt>
              </c:strCache>
            </c:strRef>
          </c:tx>
          <c:spPr>
            <a:solidFill>
              <a:srgbClr val="A35A00"/>
            </a:solidFill>
            <a:ln w="25400" cap="flat">
              <a:solidFill>
                <a:srgbClr val="A35A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35A00"/>
              </a:solidFill>
              <a:ln w="9525" cap="flat">
                <a:solidFill>
                  <a:srgbClr val="A35A00"/>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Sheet1!$C$2:$C$20</c:f>
              <c:numCache>
                <c:formatCode>General</c:formatCode>
                <c:ptCount val="19"/>
                <c:pt idx="0">
                  <c:v>298.881</c:v>
                </c:pt>
                <c:pt idx="1">
                  <c:v>329.051</c:v>
                </c:pt>
                <c:pt idx="2">
                  <c:v>316.058</c:v>
                </c:pt>
                <c:pt idx="3">
                  <c:v>297.352</c:v>
                </c:pt>
                <c:pt idx="4">
                  <c:v>283.367</c:v>
                </c:pt>
                <c:pt idx="5">
                  <c:v>276.924</c:v>
                </c:pt>
                <c:pt idx="6">
                  <c:v>269.735</c:v>
                </c:pt>
                <c:pt idx="7">
                  <c:v>256.931</c:v>
                </c:pt>
                <c:pt idx="8">
                  <c:v>214.571</c:v>
                </c:pt>
                <c:pt idx="9">
                  <c:v>177.131</c:v>
                </c:pt>
                <c:pt idx="10">
                  <c:v>144.529</c:v>
                </c:pt>
                <c:pt idx="11">
                  <c:v>117.989</c:v>
                </c:pt>
                <c:pt idx="12">
                  <c:v>100.005</c:v>
                </c:pt>
                <c:pt idx="13">
                  <c:v>85.714</c:v>
                </c:pt>
                <c:pt idx="14">
                  <c:v>73.804</c:v>
                </c:pt>
                <c:pt idx="15">
                  <c:v>61.82</c:v>
                </c:pt>
                <c:pt idx="16">
                  <c:v>51.198</c:v>
                </c:pt>
                <c:pt idx="17">
                  <c:v>42.47</c:v>
                </c:pt>
                <c:pt idx="18">
                  <c:v>35.271</c:v>
                </c:pt>
              </c:numCache>
            </c:numRef>
          </c:val>
          <c:smooth val="0"/>
        </c:ser>
        <c:ser>
          <c:idx val="2"/>
          <c:order val="2"/>
          <c:tx>
            <c:strRef>
              <c:f>Sheet1!$D$1</c:f>
              <c:strCache>
                <c:ptCount val="1"/>
                <c:pt idx="0">
                  <c:v>8 m, heute</c:v>
                </c:pt>
              </c:strCache>
            </c:strRef>
          </c:tx>
          <c:spPr>
            <a:solidFill>
              <a:srgbClr val="17202B"/>
            </a:solidFill>
            <a:ln w="25400" cap="flat">
              <a:solidFill>
                <a:srgbClr val="1720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02B"/>
              </a:solidFill>
              <a:ln w="9525" cap="flat">
                <a:solidFill>
                  <a:srgbClr val="17202B"/>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Sheet1!$D$2:$D$20</c:f>
              <c:numCache>
                <c:formatCode>General</c:formatCode>
                <c:ptCount val="19"/>
                <c:pt idx="0">
                  <c:v>66.416</c:v>
                </c:pt>
                <c:pt idx="1">
                  <c:v>85.904</c:v>
                </c:pt>
                <c:pt idx="2">
                  <c:v>96.072</c:v>
                </c:pt>
                <c:pt idx="3">
                  <c:v>100.33</c:v>
                </c:pt>
                <c:pt idx="4">
                  <c:v>100.068</c:v>
                </c:pt>
                <c:pt idx="5">
                  <c:v>96.937</c:v>
                </c:pt>
                <c:pt idx="6">
                  <c:v>92.239</c:v>
                </c:pt>
                <c:pt idx="7">
                  <c:v>89.079</c:v>
                </c:pt>
                <c:pt idx="8">
                  <c:v>85.736</c:v>
                </c:pt>
                <c:pt idx="9">
                  <c:v>82.666</c:v>
                </c:pt>
                <c:pt idx="10">
                  <c:v>80.762</c:v>
                </c:pt>
                <c:pt idx="11">
                  <c:v>79.444</c:v>
                </c:pt>
                <c:pt idx="12">
                  <c:v>77.361</c:v>
                </c:pt>
                <c:pt idx="13">
                  <c:v>74.622</c:v>
                </c:pt>
                <c:pt idx="14">
                  <c:v>71.683</c:v>
                </c:pt>
                <c:pt idx="15">
                  <c:v>65.261</c:v>
                </c:pt>
                <c:pt idx="16">
                  <c:v>58.547</c:v>
                </c:pt>
                <c:pt idx="17">
                  <c:v>52.483</c:v>
                </c:pt>
                <c:pt idx="18">
                  <c:v>46.547</c:v>
                </c:pt>
              </c:numCache>
            </c:numRef>
          </c:val>
          <c:smooth val="0"/>
        </c:ser>
        <c:ser>
          <c:idx val="3"/>
          <c:order val="3"/>
          <c:tx>
            <c:strRef>
              <c:f>Sheet1!$E$1</c:f>
              <c:strCache>
                <c:ptCount val="1"/>
                <c:pt idx="0">
                  <c:v>8 m, Lochung 50 %</c:v>
                </c:pt>
              </c:strCache>
            </c:strRef>
          </c:tx>
          <c:spPr>
            <a:solidFill>
              <a:srgbClr val="C58A3A"/>
            </a:solidFill>
            <a:ln w="25400" cap="flat">
              <a:solidFill>
                <a:srgbClr val="C58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8A3A"/>
              </a:solidFill>
              <a:ln w="9525" cap="flat">
                <a:solidFill>
                  <a:srgbClr val="C58A3A"/>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Sheet1!$E$2:$E$20</c:f>
              <c:numCache>
                <c:formatCode>General</c:formatCode>
                <c:ptCount val="19"/>
                <c:pt idx="0">
                  <c:v>66.45</c:v>
                </c:pt>
                <c:pt idx="1">
                  <c:v>86.381</c:v>
                </c:pt>
                <c:pt idx="2">
                  <c:v>97.319</c:v>
                </c:pt>
                <c:pt idx="3">
                  <c:v>102.13</c:v>
                </c:pt>
                <c:pt idx="4">
                  <c:v>102.233</c:v>
                </c:pt>
                <c:pt idx="5">
                  <c:v>99.346</c:v>
                </c:pt>
                <c:pt idx="6">
                  <c:v>94.925</c:v>
                </c:pt>
                <c:pt idx="7">
                  <c:v>92.702</c:v>
                </c:pt>
                <c:pt idx="8">
                  <c:v>90.175</c:v>
                </c:pt>
                <c:pt idx="9">
                  <c:v>87.775</c:v>
                </c:pt>
                <c:pt idx="10">
                  <c:v>86.656</c:v>
                </c:pt>
                <c:pt idx="11">
                  <c:v>86.127</c:v>
                </c:pt>
                <c:pt idx="12">
                  <c:v>84.804</c:v>
                </c:pt>
                <c:pt idx="13">
                  <c:v>82.842</c:v>
                </c:pt>
                <c:pt idx="14">
                  <c:v>80.499</c:v>
                </c:pt>
                <c:pt idx="15">
                  <c:v>73.631</c:v>
                </c:pt>
                <c:pt idx="16">
                  <c:v>66.265</c:v>
                </c:pt>
                <c:pt idx="17">
                  <c:v>59.599</c:v>
                </c:pt>
                <c:pt idx="18">
                  <c:v>53.366</c:v>
                </c:pt>
              </c:numCache>
            </c:numRef>
          </c:val>
          <c:smooth val="0"/>
        </c:ser>
        <c:ser>
          <c:idx val="4"/>
          <c:order val="4"/>
          <c:tx>
            <c:strRef>
              <c:f>Sheet1!$F$1</c:f>
              <c:strCache>
                <c:ptCount val="1"/>
                <c:pt idx="0">
                  <c:v>Richtwert E4 vor Sperrzeit (25 lx)</c:v>
                </c:pt>
              </c:strCache>
            </c:strRef>
          </c:tx>
          <c:spPr>
            <a:solidFill>
              <a:srgbClr val="D5DBE1"/>
            </a:solidFill>
            <a:ln w="25400" cap="flat">
              <a:solidFill>
                <a:srgbClr val="D5DBE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5DBE1"/>
              </a:solidFill>
              <a:ln w="9525" cap="flat">
                <a:solidFill>
                  <a:srgbClr val="D5DBE1"/>
                </a:solidFill>
                <a:prstDash val="solid"/>
                <a:round/>
              </a:ln>
              <a:effectLst/>
            </c:spPr>
          </c:marker>
          <c:cat>
            <c:multiLvlStrRef>
              <c:f>Sheet1!$A$2:$A$20</c:f>
              <c:multiLvlStrCache>
                <c:ptCount val="19"/>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lvl>
              </c:multiLvlStrCache>
            </c:multiLvlStrRef>
          </c:cat>
          <c:val>
            <c:numRef>
              <c:f>Sheet1!$F$2:$F$20</c:f>
              <c:numCache>
                <c:formatCode>General</c:formatCode>
                <c:ptCount val="19"/>
                <c:pt idx="0">
                  <c:v>25</c:v>
                </c:pt>
                <c:pt idx="1">
                  <c:v>25</c:v>
                </c:pt>
                <c:pt idx="2">
                  <c:v>25</c:v>
                </c:pt>
                <c:pt idx="3">
                  <c:v>25</c:v>
                </c:pt>
                <c:pt idx="4">
                  <c:v>25</c:v>
                </c:pt>
                <c:pt idx="5">
                  <c:v>25</c:v>
                </c:pt>
                <c:pt idx="6">
                  <c:v>25</c:v>
                </c:pt>
                <c:pt idx="7">
                  <c:v>25</c:v>
                </c:pt>
                <c:pt idx="8">
                  <c:v>25</c:v>
                </c:pt>
                <c:pt idx="9">
                  <c:v>25</c:v>
                </c:pt>
                <c:pt idx="10">
                  <c:v>25</c:v>
                </c:pt>
                <c:pt idx="11">
                  <c:v>25</c:v>
                </c:pt>
                <c:pt idx="12">
                  <c:v>25</c:v>
                </c:pt>
                <c:pt idx="13">
                  <c:v>25</c:v>
                </c:pt>
                <c:pt idx="14">
                  <c:v>25</c:v>
                </c:pt>
                <c:pt idx="15">
                  <c:v>25</c:v>
                </c:pt>
                <c:pt idx="16">
                  <c:v>25</c:v>
                </c:pt>
                <c:pt idx="17">
                  <c:v>25</c:v>
                </c:pt>
                <c:pt idx="18">
                  <c:v>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3"/>
                    </a:solidFill>
                    <a:latin typeface="+mn-lt"/>
                  </a:defRPr>
                </a:pPr>
                <a:r>
                  <a:rPr sz="1100" b="0" i="0" u="none" strike="noStrike">
                    <a:solidFill>
                      <a:srgbClr val="5B6673"/>
                    </a:solidFill>
                    <a:latin typeface="+mn-lt"/>
                  </a:rPr>
                  <a:t>Abstand hinter der Leuchte [m]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2"/>
        <c:crosses val="autoZero"/>
        <c:auto val="1"/>
        <c:lblAlgn val="ctr"/>
        <c:noMultiLvlLbl val="1"/>
        <c:tickLblSkip val="2"/>
      </c:catAx>
      <c:valAx>
        <c:axId val="2094734552"/>
        <c:scaling>
          <c:orientation val="minMax"/>
          <c:max val="350"/>
          <c:min val="0"/>
        </c:scaling>
        <c:delete val="0"/>
        <c:axPos val="l"/>
        <c:majorGridlines>
          <c:spPr>
            <a:ln w="6350" cap="flat">
              <a:solidFill>
                <a:srgbClr val="D5DBE1"/>
              </a:solidFill>
              <a:prstDash val="solid"/>
              <a:round/>
            </a:ln>
          </c:spPr>
        </c:majorGridlines>
        <c:title>
          <c:tx>
            <c:rich>
              <a:bodyPr/>
              <a:lstStyle/>
              <a:p>
                <a:pPr>
                  <a:defRPr sz="1100" b="0" i="0" u="none" strike="noStrike">
                    <a:solidFill>
                      <a:srgbClr val="5B6673"/>
                    </a:solidFill>
                    <a:latin typeface="+mn-lt"/>
                  </a:defRPr>
                </a:pPr>
                <a:r>
                  <a:rPr sz="1100" b="0" i="0" u="none" strike="noStrike">
                    <a:solidFill>
                      <a:srgbClr val="5B6673"/>
                    </a:solidFill>
                    <a:latin typeface="+mn-lt"/>
                  </a:rPr>
                  <a:t>E_v am Auge [lx]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100">
              <a:solidFill>
                <a:srgbClr val="5B66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V2 heute (3,4 %)</c:v>
                </c:pt>
              </c:strCache>
            </c:strRef>
          </c:tx>
          <c:spPr>
            <a:solidFill>
              <a:srgbClr val="17202B"/>
            </a:solidFill>
            <a:ln w="25400" cap="flat">
              <a:solidFill>
                <a:srgbClr val="1720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02B"/>
              </a:solidFill>
              <a:ln w="9525" cap="flat">
                <a:solidFill>
                  <a:srgbClr val="17202B"/>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Sheet1!$B$2:$B$26</c:f>
              <c:numCache>
                <c:formatCode>General</c:formatCode>
                <c:ptCount val="25"/>
                <c:pt idx="0">
                  <c:v>23649</c:v>
                </c:pt>
                <c:pt idx="1">
                  <c:v>23103</c:v>
                </c:pt>
                <c:pt idx="2">
                  <c:v>20817</c:v>
                </c:pt>
                <c:pt idx="3">
                  <c:v>17785</c:v>
                </c:pt>
                <c:pt idx="4">
                  <c:v>15342</c:v>
                </c:pt>
                <c:pt idx="5">
                  <c:v>13178</c:v>
                </c:pt>
                <c:pt idx="6">
                  <c:v>11414</c:v>
                </c:pt>
                <c:pt idx="7">
                  <c:v>10439</c:v>
                </c:pt>
                <c:pt idx="8">
                  <c:v>9955</c:v>
                </c:pt>
                <c:pt idx="9">
                  <c:v>10250</c:v>
                </c:pt>
                <c:pt idx="10">
                  <c:v>10381</c:v>
                </c:pt>
                <c:pt idx="11">
                  <c:v>8597</c:v>
                </c:pt>
                <c:pt idx="12">
                  <c:v>6267</c:v>
                </c:pt>
                <c:pt idx="13">
                  <c:v>4658</c:v>
                </c:pt>
                <c:pt idx="14">
                  <c:v>2238</c:v>
                </c:pt>
                <c:pt idx="15">
                  <c:v>287</c:v>
                </c:pt>
                <c:pt idx="16">
                  <c:v>48</c:v>
                </c:pt>
                <c:pt idx="17">
                  <c:v>9</c:v>
                </c:pt>
                <c:pt idx="18">
                  <c:v>1</c:v>
                </c:pt>
                <c:pt idx="19">
                  <c:v>1</c:v>
                </c:pt>
                <c:pt idx="20">
                  <c:v>4</c:v>
                </c:pt>
                <c:pt idx="21">
                  <c:v>6</c:v>
                </c:pt>
                <c:pt idx="22">
                  <c:v>10</c:v>
                </c:pt>
                <c:pt idx="23">
                  <c:v>1</c:v>
                </c:pt>
                <c:pt idx="24">
                  <c:v>5</c:v>
                </c:pt>
              </c:numCache>
            </c:numRef>
          </c:val>
          <c:smooth val="0"/>
        </c:ser>
        <c:ser>
          <c:idx val="1"/>
          <c:order val="1"/>
          <c:tx>
            <c:strRef>
              <c:f>Sheet1!$C$1</c:f>
              <c:strCache>
                <c:ptCount val="1"/>
                <c:pt idx="0">
                  <c:v>V2 Lochung 50 %</c:v>
                </c:pt>
              </c:strCache>
            </c:strRef>
          </c:tx>
          <c:spPr>
            <a:solidFill>
              <a:srgbClr val="A35A00"/>
            </a:solidFill>
            <a:ln w="25400" cap="flat">
              <a:solidFill>
                <a:srgbClr val="A35A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35A00"/>
              </a:solidFill>
              <a:ln w="9525" cap="flat">
                <a:solidFill>
                  <a:srgbClr val="A35A00"/>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Sheet1!$C$2:$C$26</c:f>
              <c:numCache>
                <c:formatCode>General</c:formatCode>
                <c:ptCount val="25"/>
                <c:pt idx="0">
                  <c:v>23649</c:v>
                </c:pt>
                <c:pt idx="1">
                  <c:v>23103</c:v>
                </c:pt>
                <c:pt idx="2">
                  <c:v>20834</c:v>
                </c:pt>
                <c:pt idx="3">
                  <c:v>17987</c:v>
                </c:pt>
                <c:pt idx="4">
                  <c:v>15615</c:v>
                </c:pt>
                <c:pt idx="5">
                  <c:v>13482</c:v>
                </c:pt>
                <c:pt idx="6">
                  <c:v>11727</c:v>
                </c:pt>
                <c:pt idx="7">
                  <c:v>10929</c:v>
                </c:pt>
                <c:pt idx="8">
                  <c:v>10610</c:v>
                </c:pt>
                <c:pt idx="9">
                  <c:v>11176</c:v>
                </c:pt>
                <c:pt idx="10">
                  <c:v>11684</c:v>
                </c:pt>
                <c:pt idx="11">
                  <c:v>9777</c:v>
                </c:pt>
                <c:pt idx="12">
                  <c:v>7613</c:v>
                </c:pt>
                <c:pt idx="13">
                  <c:v>6302</c:v>
                </c:pt>
                <c:pt idx="14">
                  <c:v>3936</c:v>
                </c:pt>
                <c:pt idx="15">
                  <c:v>1710</c:v>
                </c:pt>
                <c:pt idx="16">
                  <c:v>793</c:v>
                </c:pt>
                <c:pt idx="17">
                  <c:v>146</c:v>
                </c:pt>
                <c:pt idx="18">
                  <c:v>1</c:v>
                </c:pt>
                <c:pt idx="19">
                  <c:v>1</c:v>
                </c:pt>
                <c:pt idx="20">
                  <c:v>4</c:v>
                </c:pt>
                <c:pt idx="21">
                  <c:v>6</c:v>
                </c:pt>
                <c:pt idx="22">
                  <c:v>10</c:v>
                </c:pt>
                <c:pt idx="23">
                  <c:v>1</c:v>
                </c:pt>
                <c:pt idx="24">
                  <c:v>5</c:v>
                </c:pt>
              </c:numCache>
            </c:numRef>
          </c:val>
          <c:smooth val="0"/>
        </c:ser>
        <c:ser>
          <c:idx val="2"/>
          <c:order val="2"/>
          <c:tx>
            <c:strRef>
              <c:f>Sheet1!$D$1</c:f>
              <c:strCache>
                <c:ptCount val="1"/>
                <c:pt idx="0">
                  <c:v>ohne ext. Blende – Blende 2</c:v>
                </c:pt>
              </c:strCache>
            </c:strRef>
          </c:tx>
          <c:spPr>
            <a:solidFill>
              <a:srgbClr val="0B5CAD"/>
            </a:solidFill>
            <a:ln w="25400" cap="flat">
              <a:solidFill>
                <a:srgbClr val="0B5C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5CAD"/>
              </a:solidFill>
              <a:ln w="9525" cap="flat">
                <a:solidFill>
                  <a:srgbClr val="0B5CAD"/>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Sheet1!$D$2:$D$26</c:f>
              <c:numCache>
                <c:formatCode>General</c:formatCode>
                <c:ptCount val="25"/>
                <c:pt idx="0">
                  <c:v>25711</c:v>
                </c:pt>
                <c:pt idx="1">
                  <c:v>24982</c:v>
                </c:pt>
                <c:pt idx="2">
                  <c:v>21778</c:v>
                </c:pt>
                <c:pt idx="3">
                  <c:v>18564</c:v>
                </c:pt>
                <c:pt idx="4">
                  <c:v>16167</c:v>
                </c:pt>
                <c:pt idx="5">
                  <c:v>13854</c:v>
                </c:pt>
                <c:pt idx="6">
                  <c:v>11174</c:v>
                </c:pt>
                <c:pt idx="7">
                  <c:v>10258</c:v>
                </c:pt>
                <c:pt idx="8">
                  <c:v>8922</c:v>
                </c:pt>
                <c:pt idx="9">
                  <c:v>7653</c:v>
                </c:pt>
                <c:pt idx="10">
                  <c:v>4655</c:v>
                </c:pt>
                <c:pt idx="11">
                  <c:v>3058</c:v>
                </c:pt>
                <c:pt idx="12">
                  <c:v>2060</c:v>
                </c:pt>
                <c:pt idx="13">
                  <c:v>1222</c:v>
                </c:pt>
                <c:pt idx="14">
                  <c:v>789</c:v>
                </c:pt>
                <c:pt idx="15">
                  <c:v>448</c:v>
                </c:pt>
                <c:pt idx="16">
                  <c:v>253</c:v>
                </c:pt>
                <c:pt idx="17">
                  <c:v>124</c:v>
                </c:pt>
                <c:pt idx="18">
                  <c:v>1</c:v>
                </c:pt>
                <c:pt idx="19">
                  <c:v>1</c:v>
                </c:pt>
                <c:pt idx="20">
                  <c:v>1</c:v>
                </c:pt>
                <c:pt idx="21">
                  <c:v>1</c:v>
                </c:pt>
                <c:pt idx="22">
                  <c:v>1</c:v>
                </c:pt>
                <c:pt idx="23">
                  <c:v>1</c:v>
                </c:pt>
                <c:pt idx="24">
                  <c:v>1</c:v>
                </c:pt>
              </c:numCache>
            </c:numRef>
          </c:val>
          <c:smooth val="0"/>
        </c:ser>
        <c:ser>
          <c:idx val="3"/>
          <c:order val="3"/>
          <c:tx>
            <c:strRef>
              <c:f>Sheet1!$E$1</c:f>
              <c:strCache>
                <c:ptCount val="1"/>
                <c:pt idx="0">
                  <c:v>ohne ext. Blende – Blende 3</c:v>
                </c:pt>
              </c:strCache>
            </c:strRef>
          </c:tx>
          <c:spPr>
            <a:solidFill>
              <a:srgbClr val="2F9A46"/>
            </a:solidFill>
            <a:ln w="25400" cap="flat">
              <a:solidFill>
                <a:srgbClr val="2F9A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9A46"/>
              </a:solidFill>
              <a:ln w="9525" cap="flat">
                <a:solidFill>
                  <a:srgbClr val="2F9A46"/>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Sheet1!$E$2:$E$26</c:f>
              <c:numCache>
                <c:formatCode>General</c:formatCode>
                <c:ptCount val="25"/>
                <c:pt idx="0">
                  <c:v>24124</c:v>
                </c:pt>
                <c:pt idx="1">
                  <c:v>23557</c:v>
                </c:pt>
                <c:pt idx="2">
                  <c:v>20961</c:v>
                </c:pt>
                <c:pt idx="3">
                  <c:v>17901</c:v>
                </c:pt>
                <c:pt idx="4">
                  <c:v>15333</c:v>
                </c:pt>
                <c:pt idx="5">
                  <c:v>12222</c:v>
                </c:pt>
                <c:pt idx="6">
                  <c:v>10733</c:v>
                </c:pt>
                <c:pt idx="7">
                  <c:v>10067</c:v>
                </c:pt>
                <c:pt idx="8">
                  <c:v>8980</c:v>
                </c:pt>
                <c:pt idx="9">
                  <c:v>8009</c:v>
                </c:pt>
                <c:pt idx="10">
                  <c:v>5177</c:v>
                </c:pt>
                <c:pt idx="11">
                  <c:v>3260</c:v>
                </c:pt>
                <c:pt idx="12">
                  <c:v>2430</c:v>
                </c:pt>
                <c:pt idx="13">
                  <c:v>1858</c:v>
                </c:pt>
                <c:pt idx="14">
                  <c:v>1386</c:v>
                </c:pt>
                <c:pt idx="15">
                  <c:v>484</c:v>
                </c:pt>
                <c:pt idx="16">
                  <c:v>190</c:v>
                </c:pt>
                <c:pt idx="17">
                  <c:v>124</c:v>
                </c:pt>
                <c:pt idx="18">
                  <c:v>1</c:v>
                </c:pt>
                <c:pt idx="19">
                  <c:v>1</c:v>
                </c:pt>
                <c:pt idx="20">
                  <c:v>1</c:v>
                </c:pt>
                <c:pt idx="21">
                  <c:v>1</c:v>
                </c:pt>
                <c:pt idx="22">
                  <c:v>1</c:v>
                </c:pt>
                <c:pt idx="23">
                  <c:v>1</c:v>
                </c:pt>
                <c:pt idx="24">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3"/>
                    </a:solidFill>
                    <a:latin typeface="+mn-lt"/>
                  </a:defRPr>
                </a:pPr>
                <a:r>
                  <a:rPr sz="1100" b="0" i="0" u="none" strike="noStrike">
                    <a:solidFill>
                      <a:srgbClr val="5B6673"/>
                    </a:solidFill>
                    <a:latin typeface="+mn-lt"/>
                  </a:rPr>
                  <a:t>Ausstrahlungswinkel γ nach hinten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2"/>
        <c:crosses val="autoZero"/>
        <c:auto val="1"/>
        <c:lblAlgn val="ctr"/>
        <c:noMultiLvlLbl val="1"/>
        <c:tickLblSkip val="3"/>
      </c:catAx>
      <c:valAx>
        <c:axId val="2094734552"/>
        <c:scaling>
          <c:logBase val="10"/>
          <c:orientation val="minMax"/>
          <c:max val="100000"/>
          <c:min val="1"/>
        </c:scaling>
        <c:delete val="0"/>
        <c:axPos val="l"/>
        <c:majorGridlines>
          <c:spPr>
            <a:ln w="6350" cap="flat">
              <a:solidFill>
                <a:srgbClr val="D5DBE1"/>
              </a:solidFill>
              <a:prstDash val="solid"/>
              <a:round/>
            </a:ln>
          </c:spPr>
        </c:majorGridlines>
        <c:title>
          <c:tx>
            <c:rich>
              <a:bodyPr/>
              <a:lstStyle/>
              <a:p>
                <a:pPr>
                  <a:defRPr sz="1100" b="0" i="0" u="none" strike="noStrike">
                    <a:solidFill>
                      <a:srgbClr val="5B6673"/>
                    </a:solidFill>
                    <a:latin typeface="+mn-lt"/>
                  </a:defRPr>
                </a:pPr>
                <a:r>
                  <a:rPr sz="1100" b="0" i="0" u="none" strike="noStrike">
                    <a:solidFill>
                      <a:srgbClr val="5B6673"/>
                    </a:solidFill>
                    <a:latin typeface="+mn-lt"/>
                  </a:rPr>
                  <a:t>Lichtstärke [cd], C180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02B"/>
                </a:solidFill>
                <a:latin typeface="+mn-lt"/>
              </a:defRPr>
            </a:pPr>
            <a:r>
              <a:rPr sz="1300" b="0" i="0" u="none" strike="noStrike">
                <a:solidFill>
                  <a:srgbClr val="17202B"/>
                </a:solidFill>
                <a:latin typeface="+mn-lt"/>
              </a:rPr>
              <a:t>GR der Person (Boden ρ 20 %)</a:t>
            </a:r>
          </a:p>
        </c:rich>
      </c:tx>
      <c:layout/>
      <c:overlay val="0"/>
    </c:title>
    <c:autoTitleDeleted val="0"/>
    <c:plotArea>
      <c:layout/>
      <c:barChart>
        <c:barDir val="col"/>
        <c:grouping val="clustered"/>
        <c:varyColors val="0"/>
        <c:ser>
          <c:idx val="0"/>
          <c:order val="0"/>
          <c:tx>
            <c:strRef>
              <c:f>Sheet1!$B$1</c:f>
              <c:strCache>
                <c:ptCount val="1"/>
                <c:pt idx="0">
                  <c:v>5 m Montagehöhe</c:v>
                </c:pt>
              </c:strCache>
            </c:strRef>
          </c:tx>
          <c:spPr>
            <a:solidFill>
              <a:srgbClr val="0B5CAD"/>
            </a:solidFill>
            <a:effectLst/>
          </c:spPr>
          <c:invertIfNegative val="0"/>
          <c:dLbls>
            <c:numFmt formatCode="0.0" sourceLinked="0"/>
            <c:txPr>
              <a:bodyPr/>
              <a:lstStyle/>
              <a:p>
                <a:pPr>
                  <a:defRPr b="0" i="0" strike="noStrike" sz="1100" u="none">
                    <a:solidFill>
                      <a:srgbClr val="17202B"/>
                    </a:solidFill>
                    <a:latin typeface="+mn-lt"/>
                  </a:defRPr>
                </a:pPr>
              </a:p>
            </c:txPr>
            <c:showLegendKey val="0"/>
            <c:showVal val="1"/>
            <c:showCatName val="0"/>
            <c:showSerName val="0"/>
            <c:showPercent val="0"/>
            <c:showBubbleSize val="0"/>
            <c:showLeaderLines val="0"/>
          </c:dLbls>
          <c:cat>
            <c:multiLvlStrRef>
              <c:f>Sheet1!$A$2:$A$5</c:f>
              <c:multiLvlStrCache>
                <c:ptCount val="4"/>
                <c:lvl>
                  <c:pt idx="0">
                    <c:v>V2 heute</c:v>
                  </c:pt>
                  <c:pt idx="1">
                    <c:v>V2 50 %</c:v>
                  </c:pt>
                  <c:pt idx="2">
                    <c:v>Blende 2</c:v>
                  </c:pt>
                  <c:pt idx="3">
                    <c:v>Blende 3</c:v>
                  </c:pt>
                </c:lvl>
              </c:multiLvlStrCache>
            </c:multiLvlStrRef>
          </c:cat>
          <c:val>
            <c:numRef>
              <c:f>Sheet1!$B$2:$B$5</c:f>
              <c:numCache>
                <c:formatCode>General</c:formatCode>
                <c:ptCount val="4"/>
                <c:pt idx="0">
                  <c:v>24</c:v>
                </c:pt>
                <c:pt idx="1">
                  <c:v>26.8</c:v>
                </c:pt>
                <c:pt idx="2">
                  <c:v>9.8</c:v>
                </c:pt>
                <c:pt idx="3">
                  <c:v>14</c:v>
                </c:pt>
              </c:numCache>
            </c:numRef>
          </c:val>
        </c:ser>
        <c:ser>
          <c:idx val="1"/>
          <c:order val="1"/>
          <c:tx>
            <c:strRef>
              <c:f>Sheet1!$C$1</c:f>
              <c:strCache>
                <c:ptCount val="1"/>
                <c:pt idx="0">
                  <c:v>8 m Montagehöhe</c:v>
                </c:pt>
              </c:strCache>
            </c:strRef>
          </c:tx>
          <c:spPr>
            <a:solidFill>
              <a:srgbClr val="D5DBE1"/>
            </a:solidFill>
            <a:effectLst/>
          </c:spPr>
          <c:invertIfNegative val="0"/>
          <c:dLbls>
            <c:numFmt formatCode="0.0" sourceLinked="0"/>
            <c:txPr>
              <a:bodyPr/>
              <a:lstStyle/>
              <a:p>
                <a:pPr>
                  <a:defRPr b="0" i="0" strike="noStrike" sz="1100" u="none">
                    <a:solidFill>
                      <a:srgbClr val="17202B"/>
                    </a:solidFill>
                    <a:latin typeface="+mn-lt"/>
                  </a:defRPr>
                </a:pPr>
              </a:p>
            </c:txPr>
            <c:showLegendKey val="0"/>
            <c:showVal val="1"/>
            <c:showCatName val="0"/>
            <c:showSerName val="0"/>
            <c:showPercent val="0"/>
            <c:showBubbleSize val="0"/>
            <c:showLeaderLines val="0"/>
          </c:dLbls>
          <c:cat>
            <c:multiLvlStrRef>
              <c:f>Sheet1!$A$2:$A$5</c:f>
              <c:multiLvlStrCache>
                <c:ptCount val="4"/>
                <c:lvl>
                  <c:pt idx="0">
                    <c:v>V2 heute</c:v>
                  </c:pt>
                  <c:pt idx="1">
                    <c:v>V2 50 %</c:v>
                  </c:pt>
                  <c:pt idx="2">
                    <c:v>Blende 2</c:v>
                  </c:pt>
                  <c:pt idx="3">
                    <c:v>Blende 3</c:v>
                  </c:pt>
                </c:lvl>
              </c:multiLvlStrCache>
            </c:multiLvlStrRef>
          </c:cat>
          <c:val>
            <c:numRef>
              <c:f>Sheet1!$C$2:$C$5</c:f>
              <c:numCache>
                <c:formatCode>General</c:formatCode>
                <c:ptCount val="4"/>
                <c:pt idx="0">
                  <c:v>21</c:v>
                </c:pt>
                <c:pt idx="1">
                  <c:v>22.1</c:v>
                </c:pt>
                <c:pt idx="2">
                  <c:v>12.4</c:v>
                </c:pt>
                <c:pt idx="3">
                  <c:v>13.7</c:v>
                </c:pt>
              </c:numCache>
            </c:numRef>
          </c:val>
        </c:ser>
        <c:dLbls>
          <c:numFmt formatCode="0.0" sourceLinked="0"/>
          <c:txPr>
            <a:bodyPr/>
            <a:lstStyle/>
            <a:p>
              <a:pPr>
                <a:defRPr b="0" i="0" strike="noStrike" sz="1100" u="none">
                  <a:solidFill>
                    <a:srgbClr val="1720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D5DB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5B66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V2 heute</c:v>
                </c:pt>
              </c:strCache>
            </c:strRef>
          </c:tx>
          <c:spPr>
            <a:solidFill>
              <a:srgbClr val="17202B"/>
            </a:solidFill>
            <a:ln w="25400" cap="flat">
              <a:solidFill>
                <a:srgbClr val="1720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02B"/>
              </a:solidFill>
              <a:ln w="9525" cap="flat">
                <a:solidFill>
                  <a:srgbClr val="17202B"/>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Sheet1!$B$2:$B$26</c:f>
              <c:numCache>
                <c:formatCode>General</c:formatCode>
                <c:ptCount val="25"/>
                <c:pt idx="0">
                  <c:v>23649</c:v>
                </c:pt>
                <c:pt idx="1">
                  <c:v>23103</c:v>
                </c:pt>
                <c:pt idx="2">
                  <c:v>20817</c:v>
                </c:pt>
                <c:pt idx="3">
                  <c:v>17785</c:v>
                </c:pt>
                <c:pt idx="4">
                  <c:v>15342</c:v>
                </c:pt>
                <c:pt idx="5">
                  <c:v>13178</c:v>
                </c:pt>
                <c:pt idx="6">
                  <c:v>11414</c:v>
                </c:pt>
                <c:pt idx="7">
                  <c:v>10439</c:v>
                </c:pt>
                <c:pt idx="8">
                  <c:v>9955</c:v>
                </c:pt>
                <c:pt idx="9">
                  <c:v>10250</c:v>
                </c:pt>
                <c:pt idx="10">
                  <c:v>10381</c:v>
                </c:pt>
                <c:pt idx="11">
                  <c:v>8597</c:v>
                </c:pt>
                <c:pt idx="12">
                  <c:v>6267</c:v>
                </c:pt>
                <c:pt idx="13">
                  <c:v>4658</c:v>
                </c:pt>
                <c:pt idx="14">
                  <c:v>2238</c:v>
                </c:pt>
                <c:pt idx="15">
                  <c:v>287</c:v>
                </c:pt>
                <c:pt idx="16">
                  <c:v>48</c:v>
                </c:pt>
                <c:pt idx="17">
                  <c:v>9</c:v>
                </c:pt>
                <c:pt idx="18">
                  <c:v>1</c:v>
                </c:pt>
                <c:pt idx="19">
                  <c:v>1</c:v>
                </c:pt>
                <c:pt idx="20">
                  <c:v>4</c:v>
                </c:pt>
                <c:pt idx="21">
                  <c:v>6</c:v>
                </c:pt>
                <c:pt idx="22">
                  <c:v>10</c:v>
                </c:pt>
                <c:pt idx="23">
                  <c:v>1</c:v>
                </c:pt>
                <c:pt idx="24">
                  <c:v>5</c:v>
                </c:pt>
              </c:numCache>
            </c:numRef>
          </c:val>
          <c:smooth val="0"/>
        </c:ser>
        <c:ser>
          <c:idx val="1"/>
          <c:order val="1"/>
          <c:tx>
            <c:strRef>
              <c:f>Sheet1!$C$1</c:f>
              <c:strCache>
                <c:ptCount val="1"/>
                <c:pt idx="0">
                  <c:v>Blende 3 (ohne ext. Blende)</c:v>
                </c:pt>
              </c:strCache>
            </c:strRef>
          </c:tx>
          <c:spPr>
            <a:solidFill>
              <a:srgbClr val="2F9A46"/>
            </a:solidFill>
            <a:ln w="25400" cap="flat">
              <a:solidFill>
                <a:srgbClr val="2F9A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9A46"/>
              </a:solidFill>
              <a:ln w="9525" cap="flat">
                <a:solidFill>
                  <a:srgbClr val="2F9A46"/>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Sheet1!$C$2:$C$26</c:f>
              <c:numCache>
                <c:formatCode>General</c:formatCode>
                <c:ptCount val="25"/>
                <c:pt idx="0">
                  <c:v>24124</c:v>
                </c:pt>
                <c:pt idx="1">
                  <c:v>23557</c:v>
                </c:pt>
                <c:pt idx="2">
                  <c:v>20961</c:v>
                </c:pt>
                <c:pt idx="3">
                  <c:v>17901</c:v>
                </c:pt>
                <c:pt idx="4">
                  <c:v>15333</c:v>
                </c:pt>
                <c:pt idx="5">
                  <c:v>12222</c:v>
                </c:pt>
                <c:pt idx="6">
                  <c:v>10733</c:v>
                </c:pt>
                <c:pt idx="7">
                  <c:v>10067</c:v>
                </c:pt>
                <c:pt idx="8">
                  <c:v>8980</c:v>
                </c:pt>
                <c:pt idx="9">
                  <c:v>8009</c:v>
                </c:pt>
                <c:pt idx="10">
                  <c:v>5177</c:v>
                </c:pt>
                <c:pt idx="11">
                  <c:v>3260</c:v>
                </c:pt>
                <c:pt idx="12">
                  <c:v>2430</c:v>
                </c:pt>
                <c:pt idx="13">
                  <c:v>1858</c:v>
                </c:pt>
                <c:pt idx="14">
                  <c:v>1386</c:v>
                </c:pt>
                <c:pt idx="15">
                  <c:v>484</c:v>
                </c:pt>
                <c:pt idx="16">
                  <c:v>190</c:v>
                </c:pt>
                <c:pt idx="17">
                  <c:v>124</c:v>
                </c:pt>
                <c:pt idx="18">
                  <c:v>1</c:v>
                </c:pt>
                <c:pt idx="19">
                  <c:v>1</c:v>
                </c:pt>
                <c:pt idx="20">
                  <c:v>1</c:v>
                </c:pt>
                <c:pt idx="21">
                  <c:v>1</c:v>
                </c:pt>
                <c:pt idx="22">
                  <c:v>1</c:v>
                </c:pt>
                <c:pt idx="23">
                  <c:v>1</c:v>
                </c:pt>
                <c:pt idx="24">
                  <c:v>1</c:v>
                </c:pt>
              </c:numCache>
            </c:numRef>
          </c:val>
          <c:smooth val="0"/>
        </c:ser>
        <c:ser>
          <c:idx val="2"/>
          <c:order val="2"/>
          <c:tx>
            <c:strRef>
              <c:f>Sheet1!$D$1</c:f>
              <c:strCache>
                <c:ptCount val="1"/>
                <c:pt idx="0">
                  <c:v>B3a neue ext. Blende</c:v>
                </c:pt>
              </c:strCache>
            </c:strRef>
          </c:tx>
          <c:spPr>
            <a:solidFill>
              <a:srgbClr val="0B5CAD"/>
            </a:solidFill>
            <a:ln w="25400" cap="flat">
              <a:solidFill>
                <a:srgbClr val="0B5C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5CAD"/>
              </a:solidFill>
              <a:ln w="9525" cap="flat">
                <a:solidFill>
                  <a:srgbClr val="0B5CAD"/>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Sheet1!$D$2:$D$26</c:f>
              <c:numCache>
                <c:formatCode>General</c:formatCode>
                <c:ptCount val="25"/>
                <c:pt idx="0">
                  <c:v>23649</c:v>
                </c:pt>
                <c:pt idx="1">
                  <c:v>23103</c:v>
                </c:pt>
                <c:pt idx="2">
                  <c:v>19912</c:v>
                </c:pt>
                <c:pt idx="3">
                  <c:v>16168</c:v>
                </c:pt>
                <c:pt idx="4">
                  <c:v>13253</c:v>
                </c:pt>
                <c:pt idx="5">
                  <c:v>11340</c:v>
                </c:pt>
                <c:pt idx="6">
                  <c:v>9242</c:v>
                </c:pt>
                <c:pt idx="7">
                  <c:v>7861</c:v>
                </c:pt>
                <c:pt idx="8">
                  <c:v>7057</c:v>
                </c:pt>
                <c:pt idx="9">
                  <c:v>6066</c:v>
                </c:pt>
                <c:pt idx="10">
                  <c:v>5781</c:v>
                </c:pt>
                <c:pt idx="11">
                  <c:v>3520</c:v>
                </c:pt>
                <c:pt idx="12">
                  <c:v>746</c:v>
                </c:pt>
                <c:pt idx="13">
                  <c:v>798</c:v>
                </c:pt>
                <c:pt idx="14">
                  <c:v>628</c:v>
                </c:pt>
                <c:pt idx="15">
                  <c:v>575</c:v>
                </c:pt>
                <c:pt idx="16">
                  <c:v>182</c:v>
                </c:pt>
                <c:pt idx="17">
                  <c:v>34</c:v>
                </c:pt>
                <c:pt idx="18">
                  <c:v>1</c:v>
                </c:pt>
                <c:pt idx="19">
                  <c:v>1</c:v>
                </c:pt>
                <c:pt idx="20">
                  <c:v>4</c:v>
                </c:pt>
                <c:pt idx="21">
                  <c:v>6</c:v>
                </c:pt>
                <c:pt idx="22">
                  <c:v>10</c:v>
                </c:pt>
                <c:pt idx="23">
                  <c:v>1</c:v>
                </c:pt>
                <c:pt idx="24">
                  <c:v>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3"/>
                    </a:solidFill>
                    <a:latin typeface="+mn-lt"/>
                  </a:defRPr>
                </a:pPr>
                <a:r>
                  <a:rPr sz="1100" b="0" i="0" u="none" strike="noStrike">
                    <a:solidFill>
                      <a:srgbClr val="5B6673"/>
                    </a:solidFill>
                    <a:latin typeface="+mn-lt"/>
                  </a:rPr>
                  <a:t>Ausstrahlungswinkel γ nach hinten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2"/>
        <c:crosses val="autoZero"/>
        <c:auto val="1"/>
        <c:lblAlgn val="ctr"/>
        <c:noMultiLvlLbl val="1"/>
        <c:tickLblSkip val="3"/>
      </c:catAx>
      <c:valAx>
        <c:axId val="2094734552"/>
        <c:scaling>
          <c:logBase val="10"/>
          <c:orientation val="minMax"/>
          <c:max val="100000"/>
          <c:min val="1"/>
        </c:scaling>
        <c:delete val="0"/>
        <c:axPos val="l"/>
        <c:majorGridlines>
          <c:spPr>
            <a:ln w="6350" cap="flat">
              <a:solidFill>
                <a:srgbClr val="D5DBE1"/>
              </a:solidFill>
              <a:prstDash val="solid"/>
              <a:round/>
            </a:ln>
          </c:spPr>
        </c:majorGridlines>
        <c:title>
          <c:tx>
            <c:rich>
              <a:bodyPr/>
              <a:lstStyle/>
              <a:p>
                <a:pPr>
                  <a:defRPr sz="1100" b="0" i="0" u="none" strike="noStrike">
                    <a:solidFill>
                      <a:srgbClr val="5B6673"/>
                    </a:solidFill>
                    <a:latin typeface="+mn-lt"/>
                  </a:defRPr>
                </a:pPr>
                <a:r>
                  <a:rPr sz="1100" b="0" i="0" u="none" strike="noStrike">
                    <a:solidFill>
                      <a:srgbClr val="5B6673"/>
                    </a:solidFill>
                    <a:latin typeface="+mn-lt"/>
                  </a:rPr>
                  <a:t>Lichtstärke [cd], C180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02B"/>
                </a:solidFill>
                <a:latin typeface="+mn-lt"/>
              </a:defRPr>
            </a:pPr>
            <a:r>
              <a:rPr sz="1300" b="0" i="0" u="none" strike="noStrike">
                <a:solidFill>
                  <a:srgbClr val="17202B"/>
                </a:solidFill>
                <a:latin typeface="+mn-lt"/>
              </a:rPr>
              <a:t>GR der Person bei 5 m (bestes Ergebnis je Bautiefe)</a:t>
            </a:r>
          </a:p>
        </c:rich>
      </c:tx>
      <c:layout/>
      <c:overlay val="0"/>
    </c:title>
    <c:autoTitleDeleted val="0"/>
    <c:plotArea>
      <c:layout/>
      <c:lineChart>
        <c:varyColors val="0"/>
        <c:ser>
          <c:idx val="0"/>
          <c:order val="0"/>
          <c:tx>
            <c:strRef>
              <c:f>Sheet1!$B$1</c:f>
              <c:strCache>
                <c:ptCount val="1"/>
                <c:pt idx="0">
                  <c:v>nur Stirnblech</c:v>
                </c:pt>
              </c:strCache>
            </c:strRef>
          </c:tx>
          <c:spPr>
            <a:solidFill>
              <a:srgbClr val="17202B"/>
            </a:solidFill>
            <a:ln w="25400" cap="flat">
              <a:solidFill>
                <a:srgbClr val="1720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7202B"/>
              </a:solidFill>
              <a:ln w="9525" cap="flat">
                <a:solidFill>
                  <a:srgbClr val="17202B"/>
                </a:solidFill>
                <a:prstDash val="solid"/>
                <a:round/>
              </a:ln>
              <a:effectLst/>
            </c:spPr>
          </c:marker>
          <c:cat>
            <c:multiLvlStrRef>
              <c:f>Sheet1!$A$2:$A$6</c:f>
              <c:multiLvlStrCache>
                <c:ptCount val="5"/>
                <c:lvl>
                  <c:pt idx="0">
                    <c:v>100</c:v>
                  </c:pt>
                  <c:pt idx="1">
                    <c:v>125</c:v>
                  </c:pt>
                  <c:pt idx="2">
                    <c:v>150</c:v>
                  </c:pt>
                  <c:pt idx="3">
                    <c:v>175</c:v>
                  </c:pt>
                  <c:pt idx="4">
                    <c:v>200</c:v>
                  </c:pt>
                </c:lvl>
              </c:multiLvlStrCache>
            </c:multiLvlStrRef>
          </c:cat>
          <c:val>
            <c:numRef>
              <c:f>Sheet1!$B$2:$B$6</c:f>
              <c:numCache>
                <c:formatCode>General</c:formatCode>
                <c:ptCount val="5"/>
                <c:pt idx="0">
                  <c:v>28.7</c:v>
                </c:pt>
                <c:pt idx="1">
                  <c:v>28.1</c:v>
                </c:pt>
                <c:pt idx="2">
                  <c:v>27</c:v>
                </c:pt>
                <c:pt idx="3">
                  <c:v>26.4</c:v>
                </c:pt>
                <c:pt idx="4">
                  <c:v>24.9</c:v>
                </c:pt>
              </c:numCache>
            </c:numRef>
          </c:val>
          <c:smooth val="0"/>
        </c:ser>
        <c:ser>
          <c:idx val="1"/>
          <c:order val="1"/>
          <c:tx>
            <c:strRef>
              <c:f>Sheet1!$C$1</c:f>
              <c:strCache>
                <c:ptCount val="1"/>
                <c:pt idx="0">
                  <c:v>Stirnblech + 1 Lamelle</c:v>
                </c:pt>
              </c:strCache>
            </c:strRef>
          </c:tx>
          <c:spPr>
            <a:solidFill>
              <a:srgbClr val="0B5CAD"/>
            </a:solidFill>
            <a:ln w="25400" cap="flat">
              <a:solidFill>
                <a:srgbClr val="0B5C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B5CAD"/>
              </a:solidFill>
              <a:ln w="9525" cap="flat">
                <a:solidFill>
                  <a:srgbClr val="0B5CAD"/>
                </a:solidFill>
                <a:prstDash val="solid"/>
                <a:round/>
              </a:ln>
              <a:effectLst/>
            </c:spPr>
          </c:marker>
          <c:cat>
            <c:multiLvlStrRef>
              <c:f>Sheet1!$A$2:$A$6</c:f>
              <c:multiLvlStrCache>
                <c:ptCount val="5"/>
                <c:lvl>
                  <c:pt idx="0">
                    <c:v>100</c:v>
                  </c:pt>
                  <c:pt idx="1">
                    <c:v>125</c:v>
                  </c:pt>
                  <c:pt idx="2">
                    <c:v>150</c:v>
                  </c:pt>
                  <c:pt idx="3">
                    <c:v>175</c:v>
                  </c:pt>
                  <c:pt idx="4">
                    <c:v>200</c:v>
                  </c:pt>
                </c:lvl>
              </c:multiLvlStrCache>
            </c:multiLvlStrRef>
          </c:cat>
          <c:val>
            <c:numRef>
              <c:f>Sheet1!$C$2:$C$6</c:f>
              <c:numCache>
                <c:formatCode>General</c:formatCode>
                <c:ptCount val="5"/>
                <c:pt idx="0">
                  <c:v>23.1</c:v>
                </c:pt>
                <c:pt idx="1">
                  <c:v>17.9</c:v>
                </c:pt>
                <c:pt idx="2">
                  <c:v>13.7</c:v>
                </c:pt>
                <c:pt idx="3">
                  <c:v>10.8</c:v>
                </c:pt>
                <c:pt idx="4">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3"/>
                    </a:solidFill>
                    <a:latin typeface="+mn-lt"/>
                  </a:defRPr>
                </a:pPr>
                <a:r>
                  <a:rPr sz="1100" b="0" i="0" u="none" strike="noStrike">
                    <a:solidFill>
                      <a:srgbClr val="5B6673"/>
                    </a:solidFill>
                    <a:latin typeface="+mn-lt"/>
                  </a:rPr>
                  <a:t>Bautiefe unter dem Glas [mm]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D5DB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5B66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02B"/>
                </a:solidFill>
                <a:latin typeface="+mn-lt"/>
              </a:defRPr>
            </a:pPr>
            <a:r>
              <a:rPr sz="1300" b="0" i="0" u="none" strike="noStrike">
                <a:solidFill>
                  <a:srgbClr val="17202B"/>
                </a:solidFill>
                <a:latin typeface="+mn-lt"/>
              </a:rPr>
              <a:t>Lichtstärke zur Seite (C90) [cd]</a:t>
            </a:r>
          </a:p>
        </c:rich>
      </c:tx>
      <c:layout/>
      <c:overlay val="0"/>
    </c:title>
    <c:autoTitleDeleted val="0"/>
    <c:plotArea>
      <c:layout/>
      <c:lineChart>
        <c:varyColors val="0"/>
        <c:ser>
          <c:idx val="0"/>
          <c:order val="0"/>
          <c:tx>
            <c:strRef>
              <c:f>Sheet1!$B$1</c:f>
              <c:strCache>
                <c:ptCount val="1"/>
                <c:pt idx="0">
                  <c:v>V2 heute</c:v>
                </c:pt>
              </c:strCache>
            </c:strRef>
          </c:tx>
          <c:spPr>
            <a:solidFill>
              <a:srgbClr val="17202B"/>
            </a:solidFill>
            <a:ln w="25400" cap="flat">
              <a:solidFill>
                <a:srgbClr val="1720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02B"/>
              </a:solidFill>
              <a:ln w="9525" cap="flat">
                <a:solidFill>
                  <a:srgbClr val="17202B"/>
                </a:solidFill>
                <a:prstDash val="solid"/>
                <a:round/>
              </a:ln>
              <a:effectLst/>
            </c:spPr>
          </c:marker>
          <c:cat>
            <c:multiLvlStrRef>
              <c:f>Sheet1!$A$2:$A$22</c:f>
              <c:multiLvlStrCache>
                <c:ptCount val="21"/>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lvl>
              </c:multiLvlStrCache>
            </c:multiLvlStrRef>
          </c:cat>
          <c:val>
            <c:numRef>
              <c:f>Sheet1!$B$2:$B$22</c:f>
              <c:numCache>
                <c:formatCode>General</c:formatCode>
                <c:ptCount val="21"/>
                <c:pt idx="0">
                  <c:v>23649</c:v>
                </c:pt>
                <c:pt idx="1">
                  <c:v>24366</c:v>
                </c:pt>
                <c:pt idx="2">
                  <c:v>25578</c:v>
                </c:pt>
                <c:pt idx="3">
                  <c:v>26623</c:v>
                </c:pt>
                <c:pt idx="4">
                  <c:v>27637</c:v>
                </c:pt>
                <c:pt idx="5">
                  <c:v>29143</c:v>
                </c:pt>
                <c:pt idx="6">
                  <c:v>32087</c:v>
                </c:pt>
                <c:pt idx="7">
                  <c:v>32985</c:v>
                </c:pt>
                <c:pt idx="8">
                  <c:v>30232</c:v>
                </c:pt>
                <c:pt idx="9">
                  <c:v>23482</c:v>
                </c:pt>
                <c:pt idx="10">
                  <c:v>17903</c:v>
                </c:pt>
                <c:pt idx="11">
                  <c:v>13694</c:v>
                </c:pt>
                <c:pt idx="12">
                  <c:v>9955</c:v>
                </c:pt>
                <c:pt idx="13">
                  <c:v>6486</c:v>
                </c:pt>
                <c:pt idx="14">
                  <c:v>3908</c:v>
                </c:pt>
                <c:pt idx="15">
                  <c:v>1972</c:v>
                </c:pt>
                <c:pt idx="16">
                  <c:v>862</c:v>
                </c:pt>
                <c:pt idx="17">
                  <c:v>326</c:v>
                </c:pt>
                <c:pt idx="18">
                  <c:v>60</c:v>
                </c:pt>
                <c:pt idx="19">
                  <c:v>21</c:v>
                </c:pt>
                <c:pt idx="20">
                  <c:v>11</c:v>
                </c:pt>
              </c:numCache>
            </c:numRef>
          </c:val>
          <c:smooth val="0"/>
        </c:ser>
        <c:ser>
          <c:idx val="1"/>
          <c:order val="1"/>
          <c:tx>
            <c:strRef>
              <c:f>Sheet1!$C$1</c:f>
              <c:strCache>
                <c:ptCount val="1"/>
                <c:pt idx="0">
                  <c:v>V2s</c:v>
                </c:pt>
              </c:strCache>
            </c:strRef>
          </c:tx>
          <c:spPr>
            <a:solidFill>
              <a:srgbClr val="0B5CAD"/>
            </a:solidFill>
            <a:ln w="25400" cap="flat">
              <a:solidFill>
                <a:srgbClr val="0B5C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5CAD"/>
              </a:solidFill>
              <a:ln w="9525" cap="flat">
                <a:solidFill>
                  <a:srgbClr val="0B5CAD"/>
                </a:solidFill>
                <a:prstDash val="solid"/>
                <a:round/>
              </a:ln>
              <a:effectLst/>
            </c:spPr>
          </c:marker>
          <c:cat>
            <c:multiLvlStrRef>
              <c:f>Sheet1!$A$2:$A$22</c:f>
              <c:multiLvlStrCache>
                <c:ptCount val="21"/>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lvl>
              </c:multiLvlStrCache>
            </c:multiLvlStrRef>
          </c:cat>
          <c:val>
            <c:numRef>
              <c:f>Sheet1!$C$2:$C$22</c:f>
              <c:numCache>
                <c:formatCode>General</c:formatCode>
                <c:ptCount val="21"/>
                <c:pt idx="0">
                  <c:v>23649</c:v>
                </c:pt>
                <c:pt idx="1">
                  <c:v>24535</c:v>
                </c:pt>
                <c:pt idx="2">
                  <c:v>26215</c:v>
                </c:pt>
                <c:pt idx="3">
                  <c:v>27580</c:v>
                </c:pt>
                <c:pt idx="4">
                  <c:v>28948</c:v>
                </c:pt>
                <c:pt idx="5">
                  <c:v>30978</c:v>
                </c:pt>
                <c:pt idx="6">
                  <c:v>34500</c:v>
                </c:pt>
                <c:pt idx="7">
                  <c:v>36139</c:v>
                </c:pt>
                <c:pt idx="8">
                  <c:v>33770</c:v>
                </c:pt>
                <c:pt idx="9">
                  <c:v>26846</c:v>
                </c:pt>
                <c:pt idx="10">
                  <c:v>21043</c:v>
                </c:pt>
                <c:pt idx="11">
                  <c:v>16718</c:v>
                </c:pt>
                <c:pt idx="12">
                  <c:v>12694</c:v>
                </c:pt>
                <c:pt idx="13">
                  <c:v>8582</c:v>
                </c:pt>
                <c:pt idx="14">
                  <c:v>5275</c:v>
                </c:pt>
                <c:pt idx="15">
                  <c:v>2660</c:v>
                </c:pt>
                <c:pt idx="16">
                  <c:v>1144</c:v>
                </c:pt>
                <c:pt idx="17">
                  <c:v>422</c:v>
                </c:pt>
                <c:pt idx="18">
                  <c:v>60</c:v>
                </c:pt>
                <c:pt idx="19">
                  <c:v>21</c:v>
                </c:pt>
                <c:pt idx="20">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3"/>
                    </a:solidFill>
                    <a:latin typeface="+mn-lt"/>
                  </a:defRPr>
                </a:pPr>
                <a:r>
                  <a:rPr sz="1100" b="0" i="0" u="none" strike="noStrike">
                    <a:solidFill>
                      <a:srgbClr val="5B6673"/>
                    </a:solidFill>
                    <a:latin typeface="+mn-lt"/>
                  </a:rPr>
                  <a:t>γ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2"/>
        <c:crosses val="autoZero"/>
        <c:auto val="1"/>
        <c:lblAlgn val="ctr"/>
        <c:noMultiLvlLbl val="1"/>
        <c:tickLblSkip val="2"/>
      </c:catAx>
      <c:valAx>
        <c:axId val="2094734552"/>
        <c:scaling>
          <c:orientation val="minMax"/>
        </c:scaling>
        <c:delete val="0"/>
        <c:axPos val="l"/>
        <c:majorGridlines>
          <c:spPr>
            <a:ln w="6350" cap="flat">
              <a:solidFill>
                <a:srgbClr val="D5DBE1"/>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Ziel: Entscheidung, welche Blendenausführung aus Sicht der Blendung hinter der Leuchte besser ist. Grundlage: gemessene LDT der SIRIUS 2000 (auf ein Modul halbiert), CAD-Modell der Blende, Lichtberechnung in Blender/Cycles und analytisch aus der LVK.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Kernaussage: GR ist bei beiden Varianten weit unter den Grenzwerten. Die Unterschiede zeigen sich bei Lichtstärke, Beleuchtungsstärke am Auge und an der Rückwand. Dort ist die Blende wie geliefert klar besser.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Leuchte strahlt von der Person weg. Die Person sieht die Leuchte schräg von hinten unter γ 64,6° (5 m) bzw. 49,6° (8 m) in der C180-Ebene, also genau in dem Bereich, den die Blende abschirmt.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Flächenbilanz der aufgebohrten Bleche wurde im CAD-Modell nachgeprüft. Die LVK der 50-%-Variante ist mit einem Strahlenmodell aus der gemessenen LVK abgeschätzt.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Logarithmische Achse. Die C0-Seite (nach vorn) ist unverändert. Die Erhöhung betrifft nur die C180-Seite ab etwa 50°, also die Richtung zur Person und zur Rückwand.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UGR nach EN 12464-1 ist für eine einzelne Flutlichtleuchte ohne Innenraum-Hintergrund nicht anwendbar, deshalb GR nach CIE 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markiert: Werte, die sich mit der 50-%-Lochung verschlechtern. Die Leuchtdichte des sichtbaren Glases bleibt bei etwa 100 kcd/m²; man sieht durch die Lochung nur mehr Glasfläche.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GR-Skala: 10 unmerklich, 30 merklich, 50 störend, 70 unzumutbar, 90 unerträglich.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Lichtstärke hält bei 5 m die Richtwerte für E2 bis E4 ein (beide Varianten), bei 8 m nur E4. Die Beleuchtungsstärke am Auge überschreitet in jeder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Messfeld 2 cm vor der Rückwand, Reflexion im Raum 0 %, also reines Direktlicht aus der LVK. Oberhalb von etwa 4 m bleibt es bei beiden Varianten fast dunkel.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Gleichwertig bei der Leuchtdichte: Die Leuchtdichte des Glases ändert sich nicht, nur die sichtbare Fläche. Für die Bewertung zählt deshalb vor allem Lichtstärke und GR.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Reihenfolge nach Wirkung: Die Wahl der Blende hat den größten Einfluss auf die Blendung hinter der Leuchte; die Montagehöhe beeinflusst GR und Licht am Auge gegenläufig.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12193 Hallensport (Handball, Basketball, Volleyball): Klasse I 750 lx / U0 0,7, Klasse II 500 lx / U0 0,7, Klasse III 200 lx / U0 0,5. Die 50-%-Lochung ändert die Feldwerte nur um etwa 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 nach CIE 112 mit drei Leuchten, Augenhöhe 1,2 m, Blick in die Halle 2° nach unten, Hallenboden ρ 20 %, Umgebungsleuchtdichte aus dem mittleren E_h des Feldes. Auf einer ansteigenden Tribüne können hintere Reihen stärker geblendet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Empfehlung gilt für Zuschauer hinter der Leuchtenreihe, die in die Halle schauen. Für konkrete Spielfeldmaße und Sportart sollte die Anlage vollständig gerechnet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Namen Blende 2/3 und der harte Abfall in den Daten deuten auf eine interne Blende in der Optik hin. Der Hauptstrahl ist bei B2/B3 etwa 10 % kräftiger als bei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Gleiche Methode wie in den vorigen Abschnitten: eine Leuchte, Person sitzend 8 m dahinter, Blick nach vorn 2° nach unten, GR nach CIE 112. Ohne externe Blende ist die ganze Glasfläche sichtbar.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U0 0,69 bei Blende 3 liegt knapp unter der Grenze für Klasse I; mit leichter Neigung oder etwas kleinerem Abstand dürfte Klasse I erreichbar sein (zu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Vergleich gilt bei gleichem Lichtstrom. Weichen die echten Lichtströme ab, ändern sich alle Lux- und Candela-Werte im selben Verhältnis, die Rangfolge bei der Blendung aber kaum.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Ausgelegt mit visor_design.py: Gittersuche über Tiefe, Neigung und Lochung, Ziel ist die LVK der Blende 3 im hinteren Halbraum. Ein unter das Glas geneigtes Blech wäre kürzer, kostet rund 7 % Lichtstrom. Wangen so tief wie das Stirnblech schneiden das Licht zur Seite ab: dann verfehlt die Arena-Reihe Klasse I (U0 0,67–0,69, variant_study.txt). CAD: blende_b3_aussen.stp und sirius1000_blende_b3.stp.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LVK berechnet: Optik ohne Blende aus der gemessenen V2-LVK zurückgerechnet, neue Abschattung mit Strahlenmodell (Lochung mit Blechdicke), Innenseite matt schwarz. Dateien: SIRIUS1000_Blende_B3_aussen_berechnet.ldt und sirius1000_visor_b3.ies.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Gleiche Methode wie im Abschnitt ohne externe Blende; für B3a ist der sichtbare Glasanteil aus der neuen Blendengeometrie gerechnet. Vergleich der Optik bei gleichem Lichtstrom 111.246 lm vor Blende.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visor_mini.py: 550 Varianten (0–3 Lamellen, Tiefe 100–300 mm, Neigung 0–45°, Wangen kurz/lang/keine). Im Diagramm nur Varianten mit höchstens 5 % Lichtverlust und U0 ≥ 0,66. Zwei und mehr Lamellen kosten über 5 % Lichtstrom.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Lamelle beginnt 15 mm unter dem Glas, unter dem Gehäuserahmen. Ihre Befestigung an den Stirnseiten des Gehäuses ist noch nicht konstruiert. CAD: blende_b3k_kompakt.stp.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Werte aus vergleich_blenden.txt. Keine Lamellen-Variante mit höchstens 5 % Lichtverlust erreicht U0 0,70; schon V2 liegt bei 0,699.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visor_v2s.py: Stirnblech und Lochung bleiben wie V2, untersucht wurden Tiefe, Länge, Form und Lochung der Wangen (97 Varianten). Die unveränderte V2 gibt die gemessene LVK exakt wieder. CAD: Original-Blende aus der STEP-Datei, Wangen unter der Glasebene zurückgeschnitten (blende_v2s.stp).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Werte aus visor_v2s.txt und vergleich_blenden.txt; alle Varianten bei der gemessenen Optik der V2. U0 0,697 (V2s) und 0,699 (V2) runden beide auf 0,70.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Skripte und Szenen: lichtplanung/sirius1000 auf dem Branch, Pakete sirius1000_raum_paket.zip und sirius1000_perf50_paket.zip.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731520" y="1600200"/>
            <a:ext cx="10698480" cy="201168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731520" y="3749040"/>
            <a:ext cx="9601200" cy="100584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
        <p:nvSpPr>
          <p:cNvPr id="5" name="Text 0"/>
          <p:cNvSpPr/>
          <p:nvPr>
            <p:ph idx="103" type="body" hasCustomPrompt="1"/>
          </p:nvPr>
        </p:nvSpPr>
        <p:spPr>
          <a:xfrm>
            <a:off x="731520" y="5669280"/>
            <a:ext cx="10698480" cy="365760"/>
          </a:xfrm>
          <a:prstGeom prst="rect">
            <a:avLst/>
          </a:prstGeom>
          <a:noFill/>
          <a:ln/>
        </p:spPr>
        <p:txBody>
          <a:bodyPr wrap="square" rtlCol="0"/>
          <a:lstStyle>
            <a:lvl1pPr indent="0" marL="0">
              <a:buNone/>
              <a:defRPr lang="en-US" sz="1200" dirty="0">
                <a:solidFill>
                  <a:schemeClr val="tx2"/>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00800"/>
            <a:ext cx="9601200" cy="274320"/>
          </a:xfrm>
          <a:prstGeom prst="rect">
            <a:avLst/>
          </a:prstGeom>
          <a:noFill/>
          <a:ln/>
        </p:spPr>
        <p:txBody>
          <a:bodyPr wrap="square" lIns="0" tIns="0" rIns="0" bIns="0" rtlCol="0" anchor="ctr"/>
          <a:lstStyle/>
          <a:p>
            <a:pPr indent="0" marL="0">
              <a:buNone/>
            </a:pPr>
            <a:r>
              <a:rPr lang="en-US" sz="900" dirty="0">
                <a:solidFill>
                  <a:schemeClr val="tx2"/>
                </a:solidFill>
              </a:rPr>
              <a:t>Siteco SIRIUS 1000 · Blendungsbewertung außenliegende Blende · Rev. D · 26.10.2026 · Entwurf zur Prüfung</a:t>
            </a:r>
            <a:endParaRPr lang="en-US" sz="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chart" Target="/ppt/charts/chart8.xml"/><Relationship Id="rId1" Type="http://schemas.openxmlformats.org/officeDocument/2006/relationships/image" Target="../media/image-26-1.png"/><Relationship Id="rId2" Type="http://schemas.openxmlformats.org/officeDocument/2006/relationships/image" Target="../media/image-26-2.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300" b="1" spc="200" kern="0" dirty="0">
                <a:solidFill>
                  <a:schemeClr val="accent1"/>
                </a:solidFill>
              </a:rPr>
              <a:t>BLENDUNGSBEWERTUNG · LICHTTECHNIK</a:t>
            </a:r>
            <a:endParaRPr lang="en-US" sz="1300" dirty="0"/>
          </a:p>
        </p:txBody>
      </p:sp>
      <p:sp>
        <p:nvSpPr>
          <p:cNvPr id="3" name="Text 0"/>
          <p:cNvSpPr/>
          <p:nvPr>
            <p:ph idx="101" type="title" hasCustomPrompt="1"/>
          </p:nvPr>
        </p:nvSpPr>
        <p:spPr>
          <a:xfrm>
            <a:off x="731520" y="1600200"/>
            <a:ext cx="10698480" cy="2011680"/>
          </a:xfrm>
          <a:prstGeom prst="rect">
            <a:avLst/>
          </a:prstGeom>
          <a:noFill/>
          <a:ln/>
        </p:spPr>
        <p:txBody>
          <a:bodyPr wrap="square" lIns="0" tIns="0" rIns="0" bIns="0" rtlCol="0" anchor="t"/>
          <a:lstStyle/>
          <a:p>
            <a:pPr algn="l" indent="0" marL="0">
              <a:buNone/>
            </a:pPr>
            <a:r>
              <a:rPr lang="en-US" sz="4400" b="1" dirty="0">
                <a:solidFill>
                  <a:schemeClr val="tx1"/>
                </a:solidFill>
              </a:rPr>
              <a:t>SIRIUS 1000 mit außenliegender Blende: Lochung 3,4 % oder 50 %?</a:t>
            </a:r>
            <a:endParaRPr lang="en-US" sz="4400" dirty="0"/>
          </a:p>
        </p:txBody>
      </p:sp>
      <p:sp>
        <p:nvSpPr>
          <p:cNvPr id="4" name="Text 0"/>
          <p:cNvSpPr/>
          <p:nvPr>
            <p:ph idx="102" type="body" hasCustomPrompt="1"/>
          </p:nvPr>
        </p:nvSpPr>
        <p:spPr>
          <a:xfrm>
            <a:off x="731520" y="3749040"/>
            <a:ext cx="9601200" cy="1005840"/>
          </a:xfrm>
          <a:prstGeom prst="rect">
            <a:avLst/>
          </a:prstGeom>
          <a:noFill/>
          <a:ln/>
        </p:spPr>
        <p:txBody>
          <a:bodyPr wrap="square" lIns="0" tIns="0" rIns="0" bIns="0" rtlCol="0" anchor="t"/>
          <a:lstStyle/>
          <a:p>
            <a:pPr indent="0" marL="0">
              <a:buNone/>
            </a:pPr>
            <a:r>
              <a:rPr lang="en-US" sz="1800" dirty="0">
                <a:solidFill>
                  <a:schemeClr val="tx2"/>
                </a:solidFill>
              </a:rPr>
              <a:t>Bewertung beider Blendenvarianten für eine sitzende Person 8 m hinter der Leuchte und für Zuschauer in einer Arena, bei 5 m und 8 m Montagehöhe – inklusive Vergleich mit zwei Lichtverteilungen ohne externe Blende</a:t>
            </a:r>
            <a:endParaRPr lang="en-US" sz="1800" dirty="0"/>
          </a:p>
        </p:txBody>
      </p:sp>
      <p:sp>
        <p:nvSpPr>
          <p:cNvPr id="5" name="Text 0"/>
          <p:cNvSpPr/>
          <p:nvPr>
            <p:ph idx="103" type="body" hasCustomPrompt="1"/>
          </p:nvPr>
        </p:nvSpPr>
        <p:spPr>
          <a:xfrm>
            <a:off x="731520" y="5669280"/>
            <a:ext cx="10698480" cy="365760"/>
          </a:xfrm>
          <a:prstGeom prst="rect">
            <a:avLst/>
          </a:prstGeom>
          <a:noFill/>
          <a:ln/>
        </p:spPr>
        <p:txBody>
          <a:bodyPr wrap="square" lIns="0" tIns="0" rIns="0" bIns="0" rtlCol="0"/>
          <a:lstStyle/>
          <a:p>
            <a:pPr indent="0" marL="0">
              <a:buNone/>
            </a:pPr>
            <a:r>
              <a:rPr lang="en-US" sz="1200" dirty="0">
                <a:solidFill>
                  <a:schemeClr val="tx2"/>
                </a:solidFill>
              </a:rPr>
              <a:t>Rev. A  ·  23.10.2026  ·  Bearbeiter W. Rödel  ·  Status: Entwurf zur Prüfung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ERGEBNIS AUF EINEN BLICK</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Die gelieferte Blende blendet weniger als die 50-%-Lochung</a:t>
            </a:r>
            <a:endParaRPr lang="en-US" sz="2800" dirty="0"/>
          </a:p>
        </p:txBody>
      </p:sp>
      <p:sp>
        <p:nvSpPr>
          <p:cNvPr id="4" name="KPI GR Kachel"/>
          <p:cNvSpPr/>
          <p:nvPr/>
        </p:nvSpPr>
        <p:spPr>
          <a:xfrm>
            <a:off x="548640" y="1691640"/>
            <a:ext cx="2606040" cy="1874520"/>
          </a:xfrm>
          <a:prstGeom prst="rect">
            <a:avLst/>
          </a:prstGeom>
          <a:solidFill>
            <a:schemeClr val="bg2"/>
          </a:solidFill>
          <a:ln w="9525">
            <a:solidFill>
              <a:schemeClr val="accent4"/>
            </a:solidFill>
            <a:prstDash val="solid"/>
          </a:ln>
        </p:spPr>
      </p:sp>
      <p:sp>
        <p:nvSpPr>
          <p:cNvPr id="5" name="KPI GR Wert"/>
          <p:cNvSpPr txBox="1"/>
          <p:nvPr/>
        </p:nvSpPr>
        <p:spPr>
          <a:xfrm>
            <a:off x="777240" y="1874520"/>
            <a:ext cx="2148840" cy="685800"/>
          </a:xfrm>
          <a:prstGeom prst="rect">
            <a:avLst/>
          </a:prstGeom>
          <a:noFill/>
          <a:ln/>
        </p:spPr>
        <p:txBody>
          <a:bodyPr wrap="square" lIns="0" tIns="0" rIns="0" bIns="0" rtlCol="0" anchor="ctr"/>
          <a:lstStyle/>
          <a:p>
            <a:pPr indent="0" marL="0">
              <a:buNone/>
            </a:pPr>
            <a:r>
              <a:rPr lang="en-US" sz="3000" b="1" dirty="0">
                <a:solidFill>
                  <a:schemeClr val="tx1"/>
                </a:solidFill>
              </a:rPr>
              <a:t>24,0 → 26,8</a:t>
            </a:r>
            <a:endParaRPr lang="en-US" sz="3000" dirty="0"/>
          </a:p>
        </p:txBody>
      </p:sp>
      <p:sp>
        <p:nvSpPr>
          <p:cNvPr id="6" name="KPI GR Text"/>
          <p:cNvSpPr txBox="1"/>
          <p:nvPr/>
        </p:nvSpPr>
        <p:spPr>
          <a:xfrm>
            <a:off x="777240" y="2606040"/>
            <a:ext cx="2148840" cy="822960"/>
          </a:xfrm>
          <a:prstGeom prst="rect">
            <a:avLst/>
          </a:prstGeom>
          <a:noFill/>
          <a:ln/>
        </p:spPr>
        <p:txBody>
          <a:bodyPr wrap="square" lIns="0" tIns="0" rIns="0" bIns="0" rtlCol="0" anchor="t"/>
          <a:lstStyle/>
          <a:p>
            <a:pPr indent="0" marL="0">
              <a:buNone/>
            </a:pPr>
            <a:r>
              <a:rPr lang="en-US" sz="1200" dirty="0">
                <a:solidFill>
                  <a:schemeClr val="tx2"/>
                </a:solidFill>
              </a:rPr>
              <a:t>Glare Rating GR bei 5 m (Boden ρ 20 %). Grenzwerte 45–55: beide unkritisch</a:t>
            </a:r>
            <a:endParaRPr lang="en-US" sz="1200" dirty="0"/>
          </a:p>
        </p:txBody>
      </p:sp>
      <p:sp>
        <p:nvSpPr>
          <p:cNvPr id="7" name="KPI Lichtstärke Kachel"/>
          <p:cNvSpPr/>
          <p:nvPr/>
        </p:nvSpPr>
        <p:spPr>
          <a:xfrm>
            <a:off x="3367735" y="1691640"/>
            <a:ext cx="2606040" cy="1874520"/>
          </a:xfrm>
          <a:prstGeom prst="rect">
            <a:avLst/>
          </a:prstGeom>
          <a:solidFill>
            <a:schemeClr val="bg2"/>
          </a:solidFill>
          <a:ln w="9525">
            <a:solidFill>
              <a:schemeClr val="accent4"/>
            </a:solidFill>
            <a:prstDash val="solid"/>
          </a:ln>
        </p:spPr>
      </p:sp>
      <p:sp>
        <p:nvSpPr>
          <p:cNvPr id="8" name="KPI Lichtstärke Wert"/>
          <p:cNvSpPr txBox="1"/>
          <p:nvPr/>
        </p:nvSpPr>
        <p:spPr>
          <a:xfrm>
            <a:off x="3596335" y="1874520"/>
            <a:ext cx="2148840" cy="685800"/>
          </a:xfrm>
          <a:prstGeom prst="rect">
            <a:avLst/>
          </a:prstGeom>
          <a:noFill/>
          <a:ln/>
        </p:spPr>
        <p:txBody>
          <a:bodyPr wrap="square" lIns="0" tIns="0" rIns="0" bIns="0" rtlCol="0" anchor="ctr"/>
          <a:lstStyle/>
          <a:p>
            <a:pPr indent="0" marL="0">
              <a:buNone/>
            </a:pPr>
            <a:r>
              <a:rPr lang="en-US" sz="3000" b="1" dirty="0">
                <a:solidFill>
                  <a:schemeClr val="accent2"/>
                </a:solidFill>
              </a:rPr>
              <a:t>+34 %</a:t>
            </a:r>
            <a:endParaRPr lang="en-US" sz="3000" dirty="0"/>
          </a:p>
        </p:txBody>
      </p:sp>
      <p:sp>
        <p:nvSpPr>
          <p:cNvPr id="9" name="KPI Lichtstärke Text"/>
          <p:cNvSpPr txBox="1"/>
          <p:nvPr/>
        </p:nvSpPr>
        <p:spPr>
          <a:xfrm>
            <a:off x="3596335" y="2606040"/>
            <a:ext cx="2148840" cy="822960"/>
          </a:xfrm>
          <a:prstGeom prst="rect">
            <a:avLst/>
          </a:prstGeom>
          <a:noFill/>
          <a:ln/>
        </p:spPr>
        <p:txBody>
          <a:bodyPr wrap="square" lIns="0" tIns="0" rIns="0" bIns="0" rtlCol="0" anchor="t"/>
          <a:lstStyle/>
          <a:p>
            <a:pPr indent="0" marL="0">
              <a:buNone/>
            </a:pPr>
            <a:r>
              <a:rPr lang="en-US" sz="1200" dirty="0">
                <a:solidFill>
                  <a:schemeClr val="tx2"/>
                </a:solidFill>
              </a:rPr>
              <a:t>Lichtstärke zur Person bei 5 m: 4.789 → 6.409 cd</a:t>
            </a:r>
            <a:endParaRPr lang="en-US" sz="1200" dirty="0"/>
          </a:p>
        </p:txBody>
      </p:sp>
      <p:sp>
        <p:nvSpPr>
          <p:cNvPr id="10" name="KPI Auge Kachel"/>
          <p:cNvSpPr/>
          <p:nvPr/>
        </p:nvSpPr>
        <p:spPr>
          <a:xfrm>
            <a:off x="6186830" y="1691640"/>
            <a:ext cx="2606040" cy="1874520"/>
          </a:xfrm>
          <a:prstGeom prst="rect">
            <a:avLst/>
          </a:prstGeom>
          <a:solidFill>
            <a:schemeClr val="bg2"/>
          </a:solidFill>
          <a:ln w="9525">
            <a:solidFill>
              <a:schemeClr val="accent4"/>
            </a:solidFill>
            <a:prstDash val="solid"/>
          </a:ln>
        </p:spPr>
      </p:sp>
      <p:sp>
        <p:nvSpPr>
          <p:cNvPr id="11" name="KPI Auge Wert"/>
          <p:cNvSpPr txBox="1"/>
          <p:nvPr/>
        </p:nvSpPr>
        <p:spPr>
          <a:xfrm>
            <a:off x="6415430" y="1874520"/>
            <a:ext cx="2148840" cy="685800"/>
          </a:xfrm>
          <a:prstGeom prst="rect">
            <a:avLst/>
          </a:prstGeom>
          <a:noFill/>
          <a:ln/>
        </p:spPr>
        <p:txBody>
          <a:bodyPr wrap="square" lIns="0" tIns="0" rIns="0" bIns="0" rtlCol="0" anchor="ctr"/>
          <a:lstStyle/>
          <a:p>
            <a:pPr indent="0" marL="0">
              <a:buNone/>
            </a:pPr>
            <a:r>
              <a:rPr lang="en-US" sz="3000" b="1" dirty="0">
                <a:solidFill>
                  <a:schemeClr val="accent2"/>
                </a:solidFill>
              </a:rPr>
              <a:t>55 → 74 lx</a:t>
            </a:r>
            <a:endParaRPr lang="en-US" sz="3000" dirty="0"/>
          </a:p>
        </p:txBody>
      </p:sp>
      <p:sp>
        <p:nvSpPr>
          <p:cNvPr id="12" name="KPI Auge Text"/>
          <p:cNvSpPr txBox="1"/>
          <p:nvPr/>
        </p:nvSpPr>
        <p:spPr>
          <a:xfrm>
            <a:off x="6415430" y="2606040"/>
            <a:ext cx="2148840" cy="822960"/>
          </a:xfrm>
          <a:prstGeom prst="rect">
            <a:avLst/>
          </a:prstGeom>
          <a:noFill/>
          <a:ln/>
        </p:spPr>
        <p:txBody>
          <a:bodyPr wrap="square" lIns="0" tIns="0" rIns="0" bIns="0" rtlCol="0" anchor="t"/>
          <a:lstStyle/>
          <a:p>
            <a:pPr indent="0" marL="0">
              <a:buNone/>
            </a:pPr>
            <a:r>
              <a:rPr lang="en-US" sz="1200" dirty="0">
                <a:solidFill>
                  <a:schemeClr val="tx2"/>
                </a:solidFill>
              </a:rPr>
              <a:t>Beleuchtungsstärke am Auge bei 5 m. Störlicht-Richtwert E4: 25 lx</a:t>
            </a:r>
            <a:endParaRPr lang="en-US" sz="1200" dirty="0"/>
          </a:p>
        </p:txBody>
      </p:sp>
      <p:sp>
        <p:nvSpPr>
          <p:cNvPr id="13" name="KPI Rückwand Kachel"/>
          <p:cNvSpPr/>
          <p:nvPr/>
        </p:nvSpPr>
        <p:spPr>
          <a:xfrm>
            <a:off x="9005926" y="1691640"/>
            <a:ext cx="2606040" cy="1874520"/>
          </a:xfrm>
          <a:prstGeom prst="rect">
            <a:avLst/>
          </a:prstGeom>
          <a:solidFill>
            <a:schemeClr val="bg2"/>
          </a:solidFill>
          <a:ln w="9525">
            <a:solidFill>
              <a:schemeClr val="accent4"/>
            </a:solidFill>
            <a:prstDash val="solid"/>
          </a:ln>
        </p:spPr>
      </p:sp>
      <p:sp>
        <p:nvSpPr>
          <p:cNvPr id="14" name="KPI Rückwand Wert"/>
          <p:cNvSpPr txBox="1"/>
          <p:nvPr/>
        </p:nvSpPr>
        <p:spPr>
          <a:xfrm>
            <a:off x="9234526" y="1874520"/>
            <a:ext cx="2148840" cy="685800"/>
          </a:xfrm>
          <a:prstGeom prst="rect">
            <a:avLst/>
          </a:prstGeom>
          <a:noFill/>
          <a:ln/>
        </p:spPr>
        <p:txBody>
          <a:bodyPr wrap="square" lIns="0" tIns="0" rIns="0" bIns="0" rtlCol="0" anchor="ctr"/>
          <a:lstStyle/>
          <a:p>
            <a:pPr indent="0" marL="0">
              <a:buNone/>
            </a:pPr>
            <a:r>
              <a:rPr lang="en-US" sz="3000" b="1" dirty="0">
                <a:solidFill>
                  <a:schemeClr val="accent2"/>
                </a:solidFill>
              </a:rPr>
              <a:t>+48 %</a:t>
            </a:r>
            <a:endParaRPr lang="en-US" sz="3000" dirty="0"/>
          </a:p>
        </p:txBody>
      </p:sp>
      <p:sp>
        <p:nvSpPr>
          <p:cNvPr id="15" name="KPI Rückwand Text"/>
          <p:cNvSpPr txBox="1"/>
          <p:nvPr/>
        </p:nvSpPr>
        <p:spPr>
          <a:xfrm>
            <a:off x="9234526" y="2606040"/>
            <a:ext cx="2148840" cy="822960"/>
          </a:xfrm>
          <a:prstGeom prst="rect">
            <a:avLst/>
          </a:prstGeom>
          <a:noFill/>
          <a:ln/>
        </p:spPr>
        <p:txBody>
          <a:bodyPr wrap="square" lIns="0" tIns="0" rIns="0" bIns="0" rtlCol="0" anchor="t"/>
          <a:lstStyle/>
          <a:p>
            <a:pPr indent="0" marL="0">
              <a:buNone/>
            </a:pPr>
            <a:r>
              <a:rPr lang="en-US" sz="1200" dirty="0">
                <a:solidFill>
                  <a:schemeClr val="tx2"/>
                </a:solidFill>
              </a:rPr>
              <a:t>Mittlere Beleuchtungsstärke an der Rückwand bei 5 m: 7,1 → 10,5 lx</a:t>
            </a:r>
            <a:endParaRPr lang="en-US" sz="1200" dirty="0"/>
          </a:p>
        </p:txBody>
      </p:sp>
      <p:sp>
        <p:nvSpPr>
          <p:cNvPr id="16" name="Bewertung Hintergrund"/>
          <p:cNvSpPr/>
          <p:nvPr/>
        </p:nvSpPr>
        <p:spPr>
          <a:xfrm>
            <a:off x="548640" y="3886200"/>
            <a:ext cx="11064240" cy="1828800"/>
          </a:xfrm>
          <a:prstGeom prst="rect">
            <a:avLst/>
          </a:prstGeom>
          <a:solidFill>
            <a:schemeClr val="accent3"/>
          </a:solidFill>
          <a:ln/>
        </p:spPr>
      </p:sp>
      <p:sp>
        <p:nvSpPr>
          <p:cNvPr id="17" name="Bewertung Text"/>
          <p:cNvSpPr txBox="1"/>
          <p:nvPr/>
        </p:nvSpPr>
        <p:spPr>
          <a:xfrm>
            <a:off x="822960" y="4069080"/>
            <a:ext cx="10515600" cy="1554480"/>
          </a:xfrm>
          <a:prstGeom prst="rect">
            <a:avLst/>
          </a:prstGeom>
          <a:noFill/>
          <a:ln/>
        </p:spPr>
        <p:txBody>
          <a:bodyPr wrap="square" lIns="0" tIns="0" rIns="0" bIns="0" rtlCol="0" anchor="t"/>
          <a:lstStyle/>
          <a:p>
            <a:pPr indent="0" marL="0">
              <a:buNone/>
            </a:pPr>
            <a:r>
              <a:rPr lang="en-US" sz="1600" b="1" dirty="0">
                <a:solidFill>
                  <a:schemeClr val="accent1"/>
                </a:solidFill>
              </a:rPr>
              <a:t>Bewertung</a:t>
            </a:r>
            <a:endParaRPr lang="en-US" sz="1600" dirty="0"/>
          </a:p>
          <a:p>
            <a:pPr indent="0" marL="0">
              <a:spcAft>
                <a:spcPts val="600"/>
              </a:spcAft>
              <a:buNone/>
            </a:pPr>
            <a:r>
              <a:rPr lang="en-US" sz="1500" dirty="0">
                <a:solidFill>
                  <a:schemeClr val="tx1"/>
                </a:solidFill>
              </a:rPr>
              <a:t>Für die Blendung hinter der Leuchte ist die Blende wie geliefert (Lochung 3,4 %) besser als die 50-%-Lochung. Die 50-%-Lochung bleibt nach Glare Rating unkritisch, lässt aber deutlich mehr Licht zur Person und auf die Rückwand.</a:t>
            </a:r>
            <a:endParaRPr lang="en-US" sz="1600" dirty="0"/>
          </a:p>
          <a:p>
            <a:pPr indent="0" marL="0">
              <a:buNone/>
            </a:pPr>
            <a:r>
              <a:rPr lang="en-US" sz="1500" dirty="0">
                <a:solidFill>
                  <a:schemeClr val="tx1"/>
                </a:solidFill>
              </a:rPr>
              <a:t>Noch besser schneiden die Lichtverteilungen ohne externe Blende ab: Mit „Blende 2“ sinkt die Blendung der Person auf GR 9,8 (5 m) – siehe Abschnitt „Ohne externe Blende“.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SITUATION</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Leuchte frei im Raum, Person sitzt 8 m dahinter</a:t>
            </a:r>
            <a:endParaRPr lang="en-US" sz="2800" dirty="0"/>
          </a:p>
        </p:txBody>
      </p:sp>
      <p:pic>
        <p:nvPicPr>
          <p:cNvPr id="4" name="Szene Übersicht" descr="Blender-Szene: Leuchte in 5 m Höhe, Maßstäbe, Person vor der Rückwand mit Falschfarben-Messfeld">    </p:cNvPr>
          <p:cNvPicPr>
            <a:picLocks noChangeAspect="1"/>
          </p:cNvPicPr>
          <p:nvPr/>
        </p:nvPicPr>
        <p:blipFill>
          <a:blip r:embed="rId1"/>
          <a:stretch>
            <a:fillRect/>
          </a:stretch>
        </p:blipFill>
        <p:spPr>
          <a:xfrm>
            <a:off x="548640" y="1645920"/>
            <a:ext cx="6675120" cy="4405579"/>
          </a:xfrm>
          <a:prstGeom prst="rect">
            <a:avLst/>
          </a:prstGeom>
        </p:spPr>
      </p:pic>
      <p:sp>
        <p:nvSpPr>
          <p:cNvPr id="5" name="Bildunterschrift Szene"/>
          <p:cNvSpPr txBox="1"/>
          <p:nvPr/>
        </p:nvSpPr>
        <p:spPr>
          <a:xfrm>
            <a:off x="548640" y="6080760"/>
            <a:ext cx="6675120" cy="274320"/>
          </a:xfrm>
          <a:prstGeom prst="rect">
            <a:avLst/>
          </a:prstGeom>
          <a:noFill/>
          <a:ln/>
        </p:spPr>
        <p:txBody>
          <a:bodyPr wrap="square" lIns="0" tIns="0" rIns="0" bIns="0" rtlCol="0" anchor="ctr"/>
          <a:lstStyle/>
          <a:p>
            <a:pPr indent="0" marL="0">
              <a:buNone/>
            </a:pPr>
            <a:r>
              <a:rPr lang="en-US" sz="1000" dirty="0">
                <a:solidFill>
                  <a:schemeClr val="tx2"/>
                </a:solidFill>
              </a:rPr>
              <a:t>Blender-Szene mit Maßstäben und Messfeld an der Rückwand (5 m Montagehöhe)</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589520" y="1645920"/>
          <a:ext cx="4023360" cy="914400"/>
        </p:xfrm>
        <a:graphic>
          <a:graphicData uri="http://schemas.openxmlformats.org/drawingml/2006/table">
            <a:tbl>
              <a:tblPr/>
              <a:tblGrid>
                <a:gridCol w="1325880"/>
                <a:gridCol w="2697480"/>
              </a:tblGrid>
              <a:tr h="0">
                <a:tc>
                  <a:txBody>
                    <a:bodyPr/>
                    <a:lstStyle/>
                    <a:p>
                      <a:pPr indent="0" marL="0">
                        <a:buNone/>
                      </a:pPr>
                      <a:r>
                        <a:rPr lang="en-US" sz="1100" b="1" dirty="0">
                          <a:solidFill>
                            <a:schemeClr val="tx2"/>
                          </a:solidFill>
                        </a:rPr>
                        <a:t>PARAMETER</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WERT</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Leuchte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SIRIUS 1000, 1 Modul, 5000 K</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Lichtstrom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111.246 lm, 985,5 W</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Montage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Glas nach unten,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Hauptstrahl</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nach vorn, C0, γ 35°</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hinten, zur Person, 200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Person</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 m hinter der Leuchte, sitzend, Augenhöhe 1,2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Blickrichtung</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nach vorn, 2° nach unten</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Raum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12 × 18 m, Reflexion 0 %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DIE ZWEI LÖSUNGEN</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Gleiches Raster, Lochdurchmesser fast vervierfacht</a:t>
            </a:r>
            <a:endParaRPr lang="en-US" sz="2800" dirty="0"/>
          </a:p>
        </p:txBody>
      </p:sp>
      <p:pic>
        <p:nvPicPr>
          <p:cNvPr id="4" name="Blende Vergleich" descr="Renderings der Blende: links mit 50 % Lochung (Ø 9,6 mm), rechts wie geliefert (Ø 2,5 mm)">    </p:cNvPr>
          <p:cNvPicPr>
            <a:picLocks noChangeAspect="1"/>
          </p:cNvPicPr>
          <p:nvPr/>
        </p:nvPicPr>
        <p:blipFill>
          <a:blip r:embed="rId1"/>
          <a:stretch>
            <a:fillRect/>
          </a:stretch>
        </p:blipFill>
        <p:spPr>
          <a:xfrm>
            <a:off x="548640" y="1691640"/>
            <a:ext cx="6675120" cy="3337560"/>
          </a:xfrm>
          <a:prstGeom prst="rect">
            <a:avLst/>
          </a:prstGeom>
        </p:spPr>
      </p:pic>
      <p:sp>
        <p:nvSpPr>
          <p:cNvPr id="5" name="Bildunterschrift Blende"/>
          <p:cNvSpPr txBox="1"/>
          <p:nvPr/>
        </p:nvSpPr>
        <p:spPr>
          <a:xfrm>
            <a:off x="548640" y="5120640"/>
            <a:ext cx="6675120" cy="274320"/>
          </a:xfrm>
          <a:prstGeom prst="rect">
            <a:avLst/>
          </a:prstGeom>
          <a:noFill/>
          <a:ln/>
        </p:spPr>
        <p:txBody>
          <a:bodyPr wrap="square" lIns="0" tIns="0" rIns="0" bIns="0" rtlCol="0" anchor="ctr"/>
          <a:lstStyle/>
          <a:p>
            <a:pPr indent="0" marL="0">
              <a:buNone/>
            </a:pPr>
            <a:r>
              <a:rPr lang="en-US" sz="1000" dirty="0">
                <a:solidFill>
                  <a:schemeClr val="tx2"/>
                </a:solidFill>
              </a:rPr>
              <a:t>Links: Lochung 50 % (Ø 9,57 mm) · rechts: wie geliefert (Ø 2,5 mm)</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589520" y="1691640"/>
          <a:ext cx="4023360" cy="914400"/>
        </p:xfrm>
        <a:graphic>
          <a:graphicData uri="http://schemas.openxmlformats.org/drawingml/2006/table">
            <a:tbl>
              <a:tblPr/>
              <a:tblGrid>
                <a:gridCol w="1600200"/>
                <a:gridCol w="1097280"/>
                <a:gridCol w="1325880"/>
              </a:tblGrid>
              <a:tr h="0">
                <a:tc>
                  <a:txBody>
                    <a:bodyPr/>
                    <a:lstStyle/>
                    <a:p>
                      <a:pPr indent="0" marL="0">
                        <a:buNone/>
                      </a:pP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LOCHUNG 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Lochdurchmesser</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2,5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tx1"/>
                          </a:solidFill>
                        </a:rPr>
                        <a:t>9,57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Raster</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12 mm quadr.</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12 mm quadr.</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Blechdicke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1,5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1,5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Offene Fläche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3,4 %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tx1"/>
                          </a:solidFill>
                        </a:rPr>
                        <a:t>50 %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Steg</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9,5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2,4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Löcher</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607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607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LVK</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gemessen</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abgeschätzt</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7" name="Hinweis Blende"/>
          <p:cNvSpPr txBox="1"/>
          <p:nvPr/>
        </p:nvSpPr>
        <p:spPr>
          <a:xfrm>
            <a:off x="7589520" y="4846320"/>
            <a:ext cx="4023360" cy="1097280"/>
          </a:xfrm>
          <a:prstGeom prst="rect">
            <a:avLst/>
          </a:prstGeom>
          <a:noFill/>
          <a:ln/>
        </p:spPr>
        <p:txBody>
          <a:bodyPr wrap="square" lIns="0" tIns="0" rIns="0" bIns="0" rtlCol="0" anchor="t"/>
          <a:lstStyle/>
          <a:p>
            <a:pPr indent="0" marL="0">
              <a:buNone/>
            </a:pPr>
            <a:r>
              <a:rPr lang="en-US" sz="1200" dirty="0">
                <a:solidFill>
                  <a:schemeClr val="tx2"/>
                </a:solidFill>
              </a:rPr>
              <a:t>Gelocht sind Stirnblech (325 Löcher) und beide Seitenwangen (je 141). Die Löcher wurden im CAD-Modell an denselben Mittelpunkten aufgebohrt.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LICHTVERTEILUNG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Mehr Licht nach hinten nur dort, wo die Blende abdeckt</a:t>
            </a:r>
            <a:endParaRPr lang="en-US" sz="2800" dirty="0"/>
          </a:p>
        </p:txBody>
      </p:sp>
      <p:graphicFrame>
        <p:nvGraphicFramePr>
          <p:cNvPr id="4" name="LVK Diagramm" descr=""/>
          <p:cNvGraphicFramePr/>
          <p:nvPr/>
        </p:nvGraphicFramePr>
        <p:xfrm>
          <a:off x="548640" y="1645920"/>
          <a:ext cx="731520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046720" y="1691640"/>
          <a:ext cx="3566160" cy="914400"/>
        </p:xfrm>
        <a:graphic>
          <a:graphicData uri="http://schemas.openxmlformats.org/drawingml/2006/table">
            <a:tbl>
              <a:tblPr/>
              <a:tblGrid>
                <a:gridCol w="1737360"/>
                <a:gridCol w="914400"/>
                <a:gridCol w="914400"/>
              </a:tblGrid>
              <a:tr h="0">
                <a:tc>
                  <a:txBody>
                    <a:bodyPr/>
                    <a:lstStyle/>
                    <a:p>
                      <a:pPr indent="0" marL="0">
                        <a:buNone/>
                      </a:pPr>
                      <a:r>
                        <a:rPr lang="en-US" sz="1100" b="1" dirty="0">
                          <a:solidFill>
                            <a:schemeClr val="tx2"/>
                          </a:solidFill>
                        </a:rPr>
                        <a:t>C180, γ</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49,6° (Person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10.371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11.647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64,6° (Person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4.789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6.409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75°</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287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1.710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80°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48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793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6" name="LVK Kommentar"/>
          <p:cNvSpPr txBox="1"/>
          <p:nvPr/>
        </p:nvSpPr>
        <p:spPr>
          <a:xfrm>
            <a:off x="8046720" y="3886200"/>
            <a:ext cx="3566160" cy="1828800"/>
          </a:xfrm>
          <a:prstGeom prst="rect">
            <a:avLst/>
          </a:prstGeom>
          <a:noFill/>
          <a:ln/>
        </p:spPr>
        <p:txBody>
          <a:bodyPr wrap="square" lIns="0" tIns="0" rIns="0" bIns="0" rtlCol="0" anchor="t"/>
          <a:lstStyle/>
          <a:p>
            <a:pPr indent="0" marL="0">
              <a:buNone/>
            </a:pPr>
            <a:r>
              <a:rPr lang="en-US" sz="1300" dirty="0">
                <a:solidFill>
                  <a:schemeClr val="tx1"/>
                </a:solidFill>
              </a:rPr>
              <a:t>Ab etwa 72° liegt die ganze Lichtaustrittsfläche hinter der Blende. Dort lässt heute nur die Lochung Licht durch, künftig ein Vielfaches. Gesamtlichtstrom +2,3 %.</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BEWERTUNGSVERFAHREN</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Glare Rating als Maßstab, ergänzt um Licht am Auge</a:t>
            </a:r>
            <a:endParaRPr lang="en-US" sz="2800" dirty="0"/>
          </a:p>
        </p:txBody>
      </p:sp>
      <p:sp>
        <p:nvSpPr>
          <p:cNvPr id="4" name="Methode GR Nummer"/>
          <p:cNvSpPr txBox="1"/>
          <p:nvPr/>
        </p:nvSpPr>
        <p:spPr>
          <a:xfrm>
            <a:off x="548640" y="173736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1</a:t>
            </a:r>
            <a:endParaRPr lang="en-US" sz="2000" dirty="0"/>
          </a:p>
        </p:txBody>
      </p:sp>
      <p:sp>
        <p:nvSpPr>
          <p:cNvPr id="5" name="Methode GR Titel"/>
          <p:cNvSpPr txBox="1"/>
          <p:nvPr/>
        </p:nvSpPr>
        <p:spPr>
          <a:xfrm>
            <a:off x="1051560" y="1737360"/>
            <a:ext cx="3017520" cy="411480"/>
          </a:xfrm>
          <a:prstGeom prst="rect">
            <a:avLst/>
          </a:prstGeom>
          <a:noFill/>
          <a:ln/>
        </p:spPr>
        <p:txBody>
          <a:bodyPr wrap="square" lIns="0" tIns="0" rIns="0" bIns="0" rtlCol="0" anchor="ctr"/>
          <a:lstStyle/>
          <a:p>
            <a:pPr indent="0" marL="0">
              <a:buNone/>
            </a:pPr>
            <a:r>
              <a:rPr lang="en-US" sz="1700" b="1" dirty="0">
                <a:solidFill>
                  <a:schemeClr val="tx1"/>
                </a:solidFill>
              </a:rPr>
              <a:t>Glare Rating GR</a:t>
            </a:r>
            <a:endParaRPr lang="en-US" sz="1700" dirty="0"/>
          </a:p>
        </p:txBody>
      </p:sp>
      <p:sp>
        <p:nvSpPr>
          <p:cNvPr id="6" name="Methode GR Text"/>
          <p:cNvSpPr txBox="1"/>
          <p:nvPr/>
        </p:nvSpPr>
        <p:spPr>
          <a:xfrm>
            <a:off x="1051560" y="2194560"/>
            <a:ext cx="3017520" cy="1463040"/>
          </a:xfrm>
          <a:prstGeom prst="rect">
            <a:avLst/>
          </a:prstGeom>
          <a:noFill/>
          <a:ln/>
        </p:spPr>
        <p:txBody>
          <a:bodyPr wrap="square" lIns="0" tIns="0" rIns="0" bIns="0" rtlCol="0" anchor="t"/>
          <a:lstStyle/>
          <a:p>
            <a:pPr indent="0" marL="0">
              <a:buNone/>
            </a:pPr>
            <a:r>
              <a:rPr lang="en-US" sz="1400" dirty="0">
                <a:solidFill>
                  <a:schemeClr val="tx1"/>
                </a:solidFill>
              </a:rPr>
              <a:t>CIE 112 / EN 12464-2:</a:t>
            </a:r>
            <a:endParaRPr lang="en-US" sz="1400" dirty="0"/>
          </a:p>
          <a:p>
            <a:pPr indent="0" marL="0">
              <a:buNone/>
            </a:pPr>
            <a:r>
              <a:rPr lang="en-US" sz="1400" dirty="0">
                <a:solidFill>
                  <a:schemeClr val="tx1"/>
                </a:solidFill>
              </a:rPr>
              <a:t>GR = 27 + 24 · log(L_vl / L_ve^0,9)</a:t>
            </a:r>
            <a:endParaRPr lang="en-US" sz="1400" dirty="0"/>
          </a:p>
          <a:p>
            <a:pPr indent="0" marL="0">
              <a:buNone/>
            </a:pPr>
            <a:r>
              <a:rPr lang="en-US" sz="1400" dirty="0">
                <a:solidFill>
                  <a:schemeClr val="tx1"/>
                </a:solidFill>
              </a:rPr>
              <a:t>Skala 10 (unmerklich) bis 90 (unerträglich). Grenzwerte 45–55.</a:t>
            </a:r>
            <a:endParaRPr lang="en-US" sz="1400" dirty="0"/>
          </a:p>
        </p:txBody>
      </p:sp>
      <p:sp>
        <p:nvSpPr>
          <p:cNvPr id="7" name="Methode Schleier Nummer"/>
          <p:cNvSpPr txBox="1"/>
          <p:nvPr/>
        </p:nvSpPr>
        <p:spPr>
          <a:xfrm>
            <a:off x="4325112" y="173736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2</a:t>
            </a:r>
            <a:endParaRPr lang="en-US" sz="2000" dirty="0"/>
          </a:p>
        </p:txBody>
      </p:sp>
      <p:sp>
        <p:nvSpPr>
          <p:cNvPr id="8" name="Methode Schleier Titel"/>
          <p:cNvSpPr txBox="1"/>
          <p:nvPr/>
        </p:nvSpPr>
        <p:spPr>
          <a:xfrm>
            <a:off x="4828032" y="1737360"/>
            <a:ext cx="3017520" cy="411480"/>
          </a:xfrm>
          <a:prstGeom prst="rect">
            <a:avLst/>
          </a:prstGeom>
          <a:noFill/>
          <a:ln/>
        </p:spPr>
        <p:txBody>
          <a:bodyPr wrap="square" lIns="0" tIns="0" rIns="0" bIns="0" rtlCol="0" anchor="ctr"/>
          <a:lstStyle/>
          <a:p>
            <a:pPr indent="0" marL="0">
              <a:buNone/>
            </a:pPr>
            <a:r>
              <a:rPr lang="en-US" sz="1700" b="1" dirty="0">
                <a:solidFill>
                  <a:schemeClr val="tx1"/>
                </a:solidFill>
              </a:rPr>
              <a:t>Schleierleuchtdichte</a:t>
            </a:r>
            <a:endParaRPr lang="en-US" sz="1700" dirty="0"/>
          </a:p>
        </p:txBody>
      </p:sp>
      <p:sp>
        <p:nvSpPr>
          <p:cNvPr id="9" name="Methode Schleier Text"/>
          <p:cNvSpPr txBox="1"/>
          <p:nvPr/>
        </p:nvSpPr>
        <p:spPr>
          <a:xfrm>
            <a:off x="4828032" y="2194560"/>
            <a:ext cx="3017520" cy="1463040"/>
          </a:xfrm>
          <a:prstGeom prst="rect">
            <a:avLst/>
          </a:prstGeom>
          <a:noFill/>
          <a:ln/>
        </p:spPr>
        <p:txBody>
          <a:bodyPr wrap="square" lIns="0" tIns="0" rIns="0" bIns="0" rtlCol="0" anchor="t"/>
          <a:lstStyle/>
          <a:p>
            <a:pPr indent="0" marL="0">
              <a:buNone/>
            </a:pPr>
            <a:r>
              <a:rPr lang="en-US" sz="1400" dirty="0">
                <a:solidFill>
                  <a:schemeClr val="tx1"/>
                </a:solidFill>
              </a:rPr>
              <a:t>Leuchte: L_vl = 10 · E_Auge / θ²</a:t>
            </a:r>
            <a:endParaRPr lang="en-US" sz="1400" dirty="0"/>
          </a:p>
          <a:p>
            <a:pPr indent="0" marL="0">
              <a:buNone/>
            </a:pPr>
            <a:r>
              <a:rPr lang="en-US" sz="1400" dirty="0">
                <a:solidFill>
                  <a:schemeClr val="tx1"/>
                </a:solidFill>
              </a:rPr>
              <a:t>Umgebung: L_ve = 0,035 · ρ · E_h / π</a:t>
            </a:r>
            <a:endParaRPr lang="en-US" sz="1400" dirty="0"/>
          </a:p>
          <a:p>
            <a:pPr indent="0" marL="0">
              <a:buNone/>
            </a:pPr>
            <a:r>
              <a:rPr lang="en-US" sz="1400" dirty="0">
                <a:solidFill>
                  <a:schemeClr val="tx1"/>
                </a:solidFill>
              </a:rPr>
              <a:t>θ = Winkel zwischen Blickrichtung und Leuchte.</a:t>
            </a:r>
            <a:endParaRPr lang="en-US" sz="1400" dirty="0"/>
          </a:p>
        </p:txBody>
      </p:sp>
      <p:sp>
        <p:nvSpPr>
          <p:cNvPr id="10" name="Methode Störlicht Nummer"/>
          <p:cNvSpPr txBox="1"/>
          <p:nvPr/>
        </p:nvSpPr>
        <p:spPr>
          <a:xfrm>
            <a:off x="8101584" y="173736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3</a:t>
            </a:r>
            <a:endParaRPr lang="en-US" sz="2000" dirty="0"/>
          </a:p>
        </p:txBody>
      </p:sp>
      <p:sp>
        <p:nvSpPr>
          <p:cNvPr id="11" name="Methode Störlicht Titel"/>
          <p:cNvSpPr txBox="1"/>
          <p:nvPr/>
        </p:nvSpPr>
        <p:spPr>
          <a:xfrm>
            <a:off x="8604504" y="1737360"/>
            <a:ext cx="3017520" cy="411480"/>
          </a:xfrm>
          <a:prstGeom prst="rect">
            <a:avLst/>
          </a:prstGeom>
          <a:noFill/>
          <a:ln/>
        </p:spPr>
        <p:txBody>
          <a:bodyPr wrap="square" lIns="0" tIns="0" rIns="0" bIns="0" rtlCol="0" anchor="ctr"/>
          <a:lstStyle/>
          <a:p>
            <a:pPr indent="0" marL="0">
              <a:buNone/>
            </a:pPr>
            <a:r>
              <a:rPr lang="en-US" sz="1700" b="1" dirty="0">
                <a:solidFill>
                  <a:schemeClr val="tx1"/>
                </a:solidFill>
              </a:rPr>
              <a:t>Licht am Auge</a:t>
            </a:r>
            <a:endParaRPr lang="en-US" sz="1700" dirty="0"/>
          </a:p>
        </p:txBody>
      </p:sp>
      <p:sp>
        <p:nvSpPr>
          <p:cNvPr id="12" name="Methode Störlicht Text"/>
          <p:cNvSpPr txBox="1"/>
          <p:nvPr/>
        </p:nvSpPr>
        <p:spPr>
          <a:xfrm>
            <a:off x="8604504" y="2194560"/>
            <a:ext cx="3017520" cy="1463040"/>
          </a:xfrm>
          <a:prstGeom prst="rect">
            <a:avLst/>
          </a:prstGeom>
          <a:noFill/>
          <a:ln/>
        </p:spPr>
        <p:txBody>
          <a:bodyPr wrap="square" lIns="0" tIns="0" rIns="0" bIns="0" rtlCol="0" anchor="t"/>
          <a:lstStyle/>
          <a:p>
            <a:pPr indent="0" marL="0">
              <a:buNone/>
            </a:pPr>
            <a:r>
              <a:rPr lang="en-US" sz="1400" dirty="0">
                <a:solidFill>
                  <a:schemeClr val="tx1"/>
                </a:solidFill>
              </a:rPr>
              <a:t>Lichtstärke zur Person und vertikale Beleuchtungsstärke E_v, eingeordnet an den Störlicht-Richtwerten (EN 12464-2 / CIE 150).</a:t>
            </a:r>
            <a:endParaRPr lang="en-US" sz="1400" dirty="0"/>
          </a:p>
        </p:txBody>
      </p:sp>
      <p:sp>
        <p:nvSpPr>
          <p:cNvPr id="13" name="Annahmen Kasten"/>
          <p:cNvSpPr/>
          <p:nvPr/>
        </p:nvSpPr>
        <p:spPr>
          <a:xfrm>
            <a:off x="548640" y="3657600"/>
            <a:ext cx="11064240" cy="1874520"/>
          </a:xfrm>
          <a:prstGeom prst="rect">
            <a:avLst/>
          </a:prstGeom>
          <a:solidFill>
            <a:schemeClr val="bg2"/>
          </a:solidFill>
          <a:ln w="9525">
            <a:solidFill>
              <a:schemeClr val="accent4"/>
            </a:solidFill>
            <a:prstDash val="solid"/>
          </a:ln>
        </p:spPr>
      </p:sp>
      <p:sp>
        <p:nvSpPr>
          <p:cNvPr id="14" name="Annahmen Text"/>
          <p:cNvSpPr txBox="1"/>
          <p:nvPr/>
        </p:nvSpPr>
        <p:spPr>
          <a:xfrm>
            <a:off x="822960" y="3794760"/>
            <a:ext cx="10515600" cy="16459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Annahmen</a:t>
            </a:r>
            <a:endParaRPr lang="en-US" sz="1400" dirty="0"/>
          </a:p>
          <a:p>
            <a:pPr marL="342900" indent="-342900">
              <a:spcAft>
                <a:spcPts val="400"/>
              </a:spcAft>
              <a:buSzPct val="100000"/>
              <a:buChar char="•"/>
            </a:pPr>
            <a:r>
              <a:rPr lang="en-US" sz="1400" dirty="0">
                <a:solidFill>
                  <a:schemeClr val="tx1"/>
                </a:solidFill>
              </a:rPr>
              <a:t>Blick horizontal nach vorn, 2° nach unten (CIE 112)</a:t>
            </a:r>
            <a:endParaRPr lang="en-US" sz="1400" dirty="0"/>
          </a:p>
          <a:p>
            <a:pPr marL="342900" indent="-342900">
              <a:spcAft>
                <a:spcPts val="400"/>
              </a:spcAft>
              <a:buSzPct val="100000"/>
              <a:buChar char="•"/>
            </a:pPr>
            <a:r>
              <a:rPr lang="en-US" sz="1400" dirty="0">
                <a:solidFill>
                  <a:schemeClr val="tx1"/>
                </a:solidFill>
              </a:rPr>
              <a:t>GR braucht Umgebungsleuchtdichte: gerechnet mit Boden-Reflexionsgrad ρ = 20 % (10 % und 30 % zum Vergleich). Bei 0 % wäre GR nicht definiert.</a:t>
            </a:r>
            <a:endParaRPr lang="en-US" sz="1400" dirty="0"/>
          </a:p>
          <a:p>
            <a:pPr marL="342900" indent="-342900">
              <a:spcAft>
                <a:spcPts val="400"/>
              </a:spcAft>
              <a:buSzPct val="100000"/>
              <a:buChar char="•"/>
            </a:pPr>
            <a:r>
              <a:rPr lang="en-US" sz="1400" dirty="0">
                <a:solidFill>
                  <a:schemeClr val="tx1"/>
                </a:solidFill>
              </a:rPr>
              <a:t>Wirkung der Blende steckt in der LVK; Person nicht als Hindernis berücksichtigt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ERGEBNISSE AM AUGE DER PERSON</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Die 50-%-Lochung erhöht alle Werte, GR bleibt weit unter 45</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017520"/>
                <a:gridCol w="2011680"/>
                <a:gridCol w="2011680"/>
                <a:gridCol w="2011680"/>
                <a:gridCol w="2011680"/>
              </a:tblGrid>
              <a:tr h="0">
                <a:tc>
                  <a:txBody>
                    <a:bodyPr/>
                    <a:lstStyle/>
                    <a:p>
                      <a:pPr indent="0" marL="0">
                        <a:buNone/>
                      </a:pP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5 m · 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5 m · LOCHUNG 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8 m · 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8 m · LOCHUNG 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Abstand Auge – Leuchte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8,86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8,86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10,50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10,50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Winkel zur Blickrichtung θ</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27,4°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27,4°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42,4°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42,4°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Ausstrahlungswinkel (C180)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γ 64,6°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γ 64,6°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γ 49,6°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γ 49,6°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Lichtstärke zur Person</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4.789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6.409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10.371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11.647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Sichtbarer Glasanteil</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46 %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70 %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69 %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82 %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Leuchtdichte sichtbares Glas</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107 kcd/m²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94 kcd/m²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101 kcd/m²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96 kcd/m²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E_v am Auge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74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81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Schleierleuchtdichte L_vl</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0,72 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0,97 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0,39 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0,44 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b="1" dirty="0">
                          <a:solidFill>
                            <a:schemeClr val="tx1"/>
                          </a:solidFill>
                        </a:rPr>
                        <a:t>GR (ρ 20 %)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3EEF9"/>
                    </a:solidFill>
                  </a:tcPr>
                </a:tc>
                <a:tc>
                  <a:txBody>
                    <a:bodyPr/>
                    <a:lstStyle/>
                    <a:p>
                      <a:pPr indent="0" marL="0">
                        <a:buNone/>
                      </a:pPr>
                      <a:r>
                        <a:rPr lang="en-US" sz="1300" b="1" dirty="0">
                          <a:solidFill>
                            <a:schemeClr val="tx1"/>
                          </a:solidFill>
                        </a:rPr>
                        <a:t>24,0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3EEF9"/>
                    </a:solidFill>
                  </a:tcPr>
                </a:tc>
                <a:tc>
                  <a:txBody>
                    <a:bodyPr/>
                    <a:lstStyle/>
                    <a:p>
                      <a:pPr indent="0" marL="0">
                        <a:buNone/>
                      </a:pPr>
                      <a:r>
                        <a:rPr lang="en-US" sz="1300" b="1" dirty="0">
                          <a:solidFill>
                            <a:schemeClr val="tx1"/>
                          </a:solidFill>
                        </a:rPr>
                        <a:t>26,8</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3EEF9"/>
                    </a:solidFill>
                  </a:tcPr>
                </a:tc>
                <a:tc>
                  <a:txBody>
                    <a:bodyPr/>
                    <a:lstStyle/>
                    <a:p>
                      <a:pPr indent="0" marL="0">
                        <a:buNone/>
                      </a:pPr>
                      <a:r>
                        <a:rPr lang="en-US" sz="1300" b="1" dirty="0">
                          <a:solidFill>
                            <a:schemeClr val="tx1"/>
                          </a:solidFill>
                        </a:rPr>
                        <a:t>21,0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3EEF9"/>
                    </a:solidFill>
                  </a:tcPr>
                </a:tc>
                <a:tc>
                  <a:txBody>
                    <a:bodyPr/>
                    <a:lstStyle/>
                    <a:p>
                      <a:pPr indent="0" marL="0">
                        <a:buNone/>
                      </a:pPr>
                      <a:r>
                        <a:rPr lang="en-US" sz="1300" b="1" dirty="0">
                          <a:solidFill>
                            <a:schemeClr val="tx1"/>
                          </a:solidFill>
                        </a:rPr>
                        <a:t>22,1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3EEF9"/>
                    </a:solidFill>
                  </a:tcPr>
                </a:tc>
              </a:tr>
              <a:tr h="0">
                <a:tc>
                  <a:txBody>
                    <a:bodyPr/>
                    <a:lstStyle/>
                    <a:p>
                      <a:pPr indent="0" marL="0">
                        <a:buNone/>
                      </a:pPr>
                      <a:r>
                        <a:rPr lang="en-US" sz="1300" dirty="0">
                          <a:solidFill>
                            <a:schemeClr val="tx1"/>
                          </a:solidFill>
                        </a:rPr>
                        <a:t>GR (ρ 10 % / 30 %)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30,5 / 20,1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33,3 / 23,0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27,5 / 17,2</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28,6 / 18,3</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GLARE RATING ÜBER DEN ABSTAND</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GR bleibt an jeder Position hinter der Leuchte unter 32</a:t>
            </a:r>
            <a:endParaRPr lang="en-US" sz="2800" dirty="0"/>
          </a:p>
        </p:txBody>
      </p:sp>
      <p:graphicFrame>
        <p:nvGraphicFramePr>
          <p:cNvPr id="4" name="GR Diagramm" descr=""/>
          <p:cNvGraphicFramePr/>
          <p:nvPr/>
        </p:nvGraphicFramePr>
        <p:xfrm>
          <a:off x="548640" y="1645920"/>
          <a:ext cx="7589520" cy="4480560"/>
        </p:xfrm>
        <a:graphic xmlns:a="http://schemas.openxmlformats.org/drawingml/2006/main">
          <a:graphicData uri="http://schemas.openxmlformats.org/drawingml/2006/chart">
            <c:chart xmlns:c="http://schemas.openxmlformats.org/drawingml/2006/chart" r:id="rId1"/>
          </a:graphicData>
        </a:graphic>
      </p:graphicFrame>
      <p:sp>
        <p:nvSpPr>
          <p:cNvPr id="5" name="GR Kommentar"/>
          <p:cNvSpPr txBox="1"/>
          <p:nvPr/>
        </p:nvSpPr>
        <p:spPr>
          <a:xfrm>
            <a:off x="8412480" y="1737360"/>
            <a:ext cx="3200400" cy="4297680"/>
          </a:xfrm>
          <a:prstGeom prst="rect">
            <a:avLst/>
          </a:prstGeom>
          <a:noFill/>
          <a:ln/>
        </p:spPr>
        <p:txBody>
          <a:bodyPr wrap="square" lIns="0" tIns="0" rIns="0" bIns="0" rtlCol="0" anchor="t"/>
          <a:lstStyle/>
          <a:p>
            <a:pPr indent="0" marL="0">
              <a:buNone/>
            </a:pPr>
            <a:r>
              <a:rPr lang="en-US" sz="1400" b="1" dirty="0">
                <a:solidFill>
                  <a:schemeClr val="tx1"/>
                </a:solidFill>
              </a:rPr>
              <a:t>5 m: </a:t>
            </a:r>
            <a:pPr indent="0" marL="0">
              <a:spcAft>
                <a:spcPts val="1000"/>
              </a:spcAft>
              <a:buNone/>
            </a:pPr>
            <a:r>
              <a:rPr lang="en-US" sz="1400" dirty="0">
                <a:solidFill>
                  <a:schemeClr val="tx1"/>
                </a:solidFill>
              </a:rPr>
              <a:t>Maximum bei etwa 4,5 m hinter der Leuchte, GR 30 (heute) bzw. 31 (50 %). An der Person (8 m) 24,0 gegen 26,8.</a:t>
            </a:r>
            <a:endParaRPr lang="en-US" sz="1400" dirty="0"/>
          </a:p>
          <a:p>
            <a:pPr indent="0" marL="0">
              <a:buNone/>
            </a:pPr>
            <a:r>
              <a:rPr lang="en-US" sz="1400" b="1" dirty="0">
                <a:solidFill>
                  <a:schemeClr val="tx1"/>
                </a:solidFill>
              </a:rPr>
              <a:t>8 m: </a:t>
            </a:r>
            <a:pPr indent="0" marL="0">
              <a:spcAft>
                <a:spcPts val="1000"/>
              </a:spcAft>
              <a:buNone/>
            </a:pPr>
            <a:r>
              <a:rPr lang="en-US" sz="1400" dirty="0">
                <a:solidFill>
                  <a:schemeClr val="tx1"/>
                </a:solidFill>
              </a:rPr>
              <a:t>GR steigt bis zur Person stetig an, die Kurven liegen nah beieinander (21,0 gegen 22,1).</a:t>
            </a:r>
            <a:endParaRPr lang="en-US" sz="1400" dirty="0"/>
          </a:p>
          <a:p>
            <a:pPr indent="0" marL="0">
              <a:buNone/>
            </a:pPr>
            <a:r>
              <a:rPr lang="en-US" sz="1400" dirty="0">
                <a:solidFill>
                  <a:schemeClr val="tx1"/>
                </a:solidFill>
              </a:rPr>
              <a:t>Die höhere Montage senkt GR, weil die Leuchte weiter aus dem Blickfeld rückt.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LICHT AM AUGE</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Am Auge liegen beide Lösungen über jedem Störlicht-Richtwert</a:t>
            </a:r>
            <a:endParaRPr lang="en-US" sz="2800" dirty="0"/>
          </a:p>
        </p:txBody>
      </p:sp>
      <p:graphicFrame>
        <p:nvGraphicFramePr>
          <p:cNvPr id="4" name="Ev Diagramm" descr=""/>
          <p:cNvGraphicFramePr/>
          <p:nvPr/>
        </p:nvGraphicFramePr>
        <p:xfrm>
          <a:off x="548640" y="1645920"/>
          <a:ext cx="758952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412480" y="1691640"/>
          <a:ext cx="3200400" cy="914400"/>
        </p:xfrm>
        <a:graphic>
          <a:graphicData uri="http://schemas.openxmlformats.org/drawingml/2006/table">
            <a:tbl>
              <a:tblPr/>
              <a:tblGrid>
                <a:gridCol w="1188720"/>
                <a:gridCol w="1005840"/>
                <a:gridCol w="1005840"/>
              </a:tblGrid>
              <a:tr h="0">
                <a:tc>
                  <a:txBody>
                    <a:bodyPr/>
                    <a:lstStyle/>
                    <a:p>
                      <a:pPr indent="0" marL="0">
                        <a:buNone/>
                      </a:pPr>
                      <a:r>
                        <a:rPr lang="en-US" sz="1100" b="1" dirty="0">
                          <a:solidFill>
                            <a:schemeClr val="tx2"/>
                          </a:solidFill>
                        </a:rPr>
                        <a:t>AN DER PERSON</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E_v,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E_v,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I,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4.789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6.409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I,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10.371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11.647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6" name="Störlicht Hinweis"/>
          <p:cNvSpPr txBox="1"/>
          <p:nvPr/>
        </p:nvSpPr>
        <p:spPr>
          <a:xfrm>
            <a:off x="8412480" y="3886200"/>
            <a:ext cx="3200400" cy="2103120"/>
          </a:xfrm>
          <a:prstGeom prst="rect">
            <a:avLst/>
          </a:prstGeom>
          <a:noFill/>
          <a:ln/>
        </p:spPr>
        <p:txBody>
          <a:bodyPr wrap="square" lIns="0" tIns="0" rIns="0" bIns="0" rtlCol="0" anchor="t"/>
          <a:lstStyle/>
          <a:p>
            <a:pPr indent="0" marL="0">
              <a:buNone/>
            </a:pPr>
            <a:r>
              <a:rPr lang="en-US" sz="1200" dirty="0">
                <a:solidFill>
                  <a:schemeClr val="tx2"/>
                </a:solidFill>
              </a:rPr>
              <a:t>Richtwerte vor Sperrzeit: E_v 5 / 10 / 25 lx (E2 / E3 / E4), Lichtstärke 7.500 / 10.000 / 25.000 cd. Sie gelten für Fenster von Anwohnern und dienen hier zur Einordnung.</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AUFHELLUNG HINTER DER PERSON</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An der Rückwand wird es mit 50 % Lochung deutlich heller</a:t>
            </a:r>
            <a:endParaRPr lang="en-US" sz="2800" dirty="0"/>
          </a:p>
        </p:txBody>
      </p:sp>
      <p:sp>
        <p:nvSpPr>
          <p:cNvPr id="4" name="Rückwand heute Titel"/>
          <p:cNvSpPr txBox="1"/>
          <p:nvPr/>
        </p:nvSpPr>
        <p:spPr>
          <a:xfrm>
            <a:off x="548640" y="1600200"/>
            <a:ext cx="5394960" cy="320040"/>
          </a:xfrm>
          <a:prstGeom prst="rect">
            <a:avLst/>
          </a:prstGeom>
          <a:noFill/>
          <a:ln/>
        </p:spPr>
        <p:txBody>
          <a:bodyPr wrap="square" lIns="0" tIns="0" rIns="0" bIns="0" rtlCol="0" anchor="ctr"/>
          <a:lstStyle/>
          <a:p>
            <a:pPr indent="0" marL="0">
              <a:buNone/>
            </a:pPr>
            <a:r>
              <a:rPr lang="en-US" sz="1400" b="1" dirty="0">
                <a:solidFill>
                  <a:schemeClr val="tx1"/>
                </a:solidFill>
              </a:rPr>
              <a:t>Heute (Lochung 3,4 %) · 5 m</a:t>
            </a:r>
            <a:endParaRPr lang="en-US" sz="1400" dirty="0"/>
          </a:p>
        </p:txBody>
      </p:sp>
      <p:pic>
        <p:nvPicPr>
          <p:cNvPr id="5" name="Rückwand heute" descr="Falschfarben der vertikalen Beleuchtungsstärke an der Rückwand, Blende heute, 5 m">    </p:cNvPr>
          <p:cNvPicPr>
            <a:picLocks noChangeAspect="1"/>
          </p:cNvPicPr>
          <p:nvPr/>
        </p:nvPicPr>
        <p:blipFill>
          <a:blip r:embed="rId1"/>
          <a:stretch>
            <a:fillRect/>
          </a:stretch>
        </p:blipFill>
        <p:spPr>
          <a:xfrm>
            <a:off x="548640" y="1965960"/>
            <a:ext cx="5394960" cy="2917594"/>
          </a:xfrm>
          <a:prstGeom prst="rect">
            <a:avLst/>
          </a:prstGeom>
        </p:spPr>
      </p:pic>
      <p:sp>
        <p:nvSpPr>
          <p:cNvPr id="6" name="Rückwand 50 Titel"/>
          <p:cNvSpPr txBox="1"/>
          <p:nvPr/>
        </p:nvSpPr>
        <p:spPr>
          <a:xfrm>
            <a:off x="6217920" y="1600200"/>
            <a:ext cx="5394960" cy="320040"/>
          </a:xfrm>
          <a:prstGeom prst="rect">
            <a:avLst/>
          </a:prstGeom>
          <a:noFill/>
          <a:ln/>
        </p:spPr>
        <p:txBody>
          <a:bodyPr wrap="square" lIns="0" tIns="0" rIns="0" bIns="0" rtlCol="0" anchor="ctr"/>
          <a:lstStyle/>
          <a:p>
            <a:pPr indent="0" marL="0">
              <a:buNone/>
            </a:pPr>
            <a:r>
              <a:rPr lang="en-US" sz="1400" b="1" dirty="0">
                <a:solidFill>
                  <a:schemeClr val="accent2"/>
                </a:solidFill>
              </a:rPr>
              <a:t>Lochung 50 % · 5 m</a:t>
            </a:r>
            <a:endParaRPr lang="en-US" sz="1400" dirty="0"/>
          </a:p>
        </p:txBody>
      </p:sp>
      <p:pic>
        <p:nvPicPr>
          <p:cNvPr id="7" name="Rückwand 50" descr="Falschfarben der vertikalen Beleuchtungsstärke an der Rückwand, Lochung 50 %, 5 m">    </p:cNvPr>
          <p:cNvPicPr>
            <a:picLocks noChangeAspect="1"/>
          </p:cNvPicPr>
          <p:nvPr/>
        </p:nvPicPr>
        <p:blipFill>
          <a:blip r:embed="rId2"/>
          <a:stretch>
            <a:fillRect/>
          </a:stretch>
        </p:blipFill>
        <p:spPr>
          <a:xfrm>
            <a:off x="6217920" y="1965960"/>
            <a:ext cx="5394960" cy="2917594"/>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931920"/>
                <a:gridCol w="2377440"/>
                <a:gridCol w="2377440"/>
                <a:gridCol w="2377440"/>
              </a:tblGrid>
              <a:tr h="0">
                <a:tc>
                  <a:txBody>
                    <a:bodyPr/>
                    <a:lstStyle/>
                    <a:p>
                      <a:pPr indent="0" marL="0">
                        <a:buNone/>
                      </a:pPr>
                      <a:r>
                        <a:rPr lang="en-US" sz="1100" b="1" dirty="0">
                          <a:solidFill>
                            <a:schemeClr val="tx2"/>
                          </a:solidFill>
                        </a:rPr>
                        <a:t>RÜCKWAND, 10 m HINTER DER LEUCHTE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LOCHUNG 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ÄNDERUNG</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5 m: Emittel / Emax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7,1 / 37,3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10,5 / 49,1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+48 % / +32 %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8 m: Emittel / Emax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16,1 / 48,0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20,5 / 54,6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+27 % / +14 %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BEWERTUNGSMATRIX</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In allen Blendungskriterien liegt die Blende wie geliefert vorn</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657600"/>
                <a:gridCol w="2286000"/>
                <a:gridCol w="2286000"/>
                <a:gridCol w="2834640"/>
              </a:tblGrid>
              <a:tr h="0">
                <a:tc>
                  <a:txBody>
                    <a:bodyPr/>
                    <a:lstStyle/>
                    <a:p>
                      <a:pPr indent="0" marL="0">
                        <a:buNone/>
                      </a:pPr>
                      <a:r>
                        <a:rPr lang="en-US" sz="1100" b="1" dirty="0">
                          <a:solidFill>
                            <a:schemeClr val="tx2"/>
                          </a:solidFill>
                        </a:rPr>
                        <a:t>KRITERIUM</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HEUTE (3,4 %)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LOCHUNG 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VORTEIL</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Glare Rating,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24,0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26,8</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heute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Glare Rating,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21,0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22,1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heute (knapp)</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Lichtstärke zur Person,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4.789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6.409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heute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Beleuchtungsstärke am Auge,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heute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Leuchtdichte sichtbares Glas</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 107 kcd/m²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 94 kcd/m²</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2"/>
                          </a:solidFill>
                        </a:rPr>
                        <a:t>gleichwertig, beide sehr hoch</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Aufhellung Rückwand,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heute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Nutzlichtstrom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111.246 lm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 113.650 lm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50 % (+2 %)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Datengrundlage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gemessene LDT</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abgeschätzte LVK</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heute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5" name="Matrix Fazit"/>
          <p:cNvSpPr txBox="1"/>
          <p:nvPr/>
        </p:nvSpPr>
        <p:spPr>
          <a:xfrm>
            <a:off x="548640" y="4983480"/>
            <a:ext cx="11064240" cy="685800"/>
          </a:xfrm>
          <a:prstGeom prst="rect">
            <a:avLst/>
          </a:prstGeom>
          <a:noFill/>
          <a:ln/>
        </p:spPr>
        <p:txBody>
          <a:bodyPr wrap="square" lIns="0" tIns="0" rIns="0" bIns="0" rtlCol="0" anchor="t"/>
          <a:lstStyle/>
          <a:p>
            <a:pPr indent="0" marL="0">
              <a:buNone/>
            </a:pPr>
            <a:r>
              <a:rPr lang="en-US" sz="1500" dirty="0">
                <a:solidFill>
                  <a:schemeClr val="tx1"/>
                </a:solidFill>
              </a:rPr>
              <a:t>Die 50-%-Lochung bringt nur beim Lichtstrom einen kleinen Gewinn. Dieser Mehrlichtstrom geht nach hinten, also genau dorthin, wo er blendet und aufhellt.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EMPFEHLUNG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Blende wie geliefert beibehalten, 50 % nur nach Messung</a:t>
            </a:r>
            <a:endParaRPr lang="en-US" sz="2800" dirty="0"/>
          </a:p>
        </p:txBody>
      </p:sp>
      <p:sp>
        <p:nvSpPr>
          <p:cNvPr id="4" name="Empfehlung 1 Nummer"/>
          <p:cNvSpPr txBox="1"/>
          <p:nvPr/>
        </p:nvSpPr>
        <p:spPr>
          <a:xfrm>
            <a:off x="548640" y="173736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1</a:t>
            </a:r>
            <a:endParaRPr lang="en-US" sz="2000" dirty="0"/>
          </a:p>
        </p:txBody>
      </p:sp>
      <p:sp>
        <p:nvSpPr>
          <p:cNvPr id="5" name="Empfehlung 1 Titel"/>
          <p:cNvSpPr txBox="1"/>
          <p:nvPr/>
        </p:nvSpPr>
        <p:spPr>
          <a:xfrm>
            <a:off x="1051560" y="173736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Blende wie geliefert beibehalten</a:t>
            </a:r>
            <a:endParaRPr lang="en-US" sz="1700" dirty="0"/>
          </a:p>
        </p:txBody>
      </p:sp>
      <p:sp>
        <p:nvSpPr>
          <p:cNvPr id="6" name="Empfehlung 1 Text"/>
          <p:cNvSpPr txBox="1"/>
          <p:nvPr/>
        </p:nvSpPr>
        <p:spPr>
          <a:xfrm>
            <a:off x="1051560" y="2194560"/>
            <a:ext cx="4892040" cy="1463040"/>
          </a:xfrm>
          <a:prstGeom prst="rect">
            <a:avLst/>
          </a:prstGeom>
          <a:noFill/>
          <a:ln/>
        </p:spPr>
        <p:txBody>
          <a:bodyPr wrap="square" lIns="0" tIns="0" rIns="0" bIns="0" rtlCol="0" anchor="t"/>
          <a:lstStyle/>
          <a:p>
            <a:pPr indent="0" marL="0">
              <a:buNone/>
            </a:pPr>
            <a:r>
              <a:rPr lang="en-US" sz="1400" dirty="0">
                <a:solidFill>
                  <a:schemeClr val="tx1"/>
                </a:solidFill>
              </a:rPr>
              <a:t>Wenn die Blendung hinter der Leuchte das Kriterium ist, ist die Lochung 3,4 % in allen Punkten besser.</a:t>
            </a:r>
            <a:endParaRPr lang="en-US" sz="1400" dirty="0"/>
          </a:p>
        </p:txBody>
      </p:sp>
      <p:sp>
        <p:nvSpPr>
          <p:cNvPr id="7" name="Empfehlung 2 Nummer"/>
          <p:cNvSpPr txBox="1"/>
          <p:nvPr/>
        </p:nvSpPr>
        <p:spPr>
          <a:xfrm>
            <a:off x="6217920" y="173736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2</a:t>
            </a:r>
            <a:endParaRPr lang="en-US" sz="2000" dirty="0"/>
          </a:p>
        </p:txBody>
      </p:sp>
      <p:sp>
        <p:nvSpPr>
          <p:cNvPr id="8" name="Empfehlung 2 Titel"/>
          <p:cNvSpPr txBox="1"/>
          <p:nvPr/>
        </p:nvSpPr>
        <p:spPr>
          <a:xfrm>
            <a:off x="6720840" y="173736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Falls 50 % gewünscht: 8 m bevorzugen</a:t>
            </a:r>
            <a:endParaRPr lang="en-US" sz="1700" dirty="0"/>
          </a:p>
        </p:txBody>
      </p:sp>
      <p:sp>
        <p:nvSpPr>
          <p:cNvPr id="9" name="Empfehlung 2 Text"/>
          <p:cNvSpPr txBox="1"/>
          <p:nvPr/>
        </p:nvSpPr>
        <p:spPr>
          <a:xfrm>
            <a:off x="6720840" y="2194560"/>
            <a:ext cx="4892040" cy="1463040"/>
          </a:xfrm>
          <a:prstGeom prst="rect">
            <a:avLst/>
          </a:prstGeom>
          <a:noFill/>
          <a:ln/>
        </p:spPr>
        <p:txBody>
          <a:bodyPr wrap="square" lIns="0" tIns="0" rIns="0" bIns="0" rtlCol="0" anchor="t"/>
          <a:lstStyle/>
          <a:p>
            <a:pPr indent="0" marL="0">
              <a:buNone/>
            </a:pPr>
            <a:r>
              <a:rPr lang="en-US" sz="1400" dirty="0">
                <a:solidFill>
                  <a:schemeClr val="tx1"/>
                </a:solidFill>
              </a:rPr>
              <a:t>Bei 8 m steigt die Lichtstärke zur Person nur um 12 %, GR um 1,1. Bei 5 m sind es 34 % und 2,8.</a:t>
            </a:r>
            <a:endParaRPr lang="en-US" sz="1400" dirty="0"/>
          </a:p>
        </p:txBody>
      </p:sp>
      <p:sp>
        <p:nvSpPr>
          <p:cNvPr id="10" name="Empfehlung 3 Nummer"/>
          <p:cNvSpPr txBox="1"/>
          <p:nvPr/>
        </p:nvSpPr>
        <p:spPr>
          <a:xfrm>
            <a:off x="548640" y="388620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3</a:t>
            </a:r>
            <a:endParaRPr lang="en-US" sz="2000" dirty="0"/>
          </a:p>
        </p:txBody>
      </p:sp>
      <p:sp>
        <p:nvSpPr>
          <p:cNvPr id="11" name="Empfehlung 3 Titel"/>
          <p:cNvSpPr txBox="1"/>
          <p:nvPr/>
        </p:nvSpPr>
        <p:spPr>
          <a:xfrm>
            <a:off x="1051560" y="388620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LVK der 50-%-Variante messen</a:t>
            </a:r>
            <a:endParaRPr lang="en-US" sz="1700" dirty="0"/>
          </a:p>
        </p:txBody>
      </p:sp>
      <p:sp>
        <p:nvSpPr>
          <p:cNvPr id="12" name="Empfehlung 3 Text"/>
          <p:cNvSpPr txBox="1"/>
          <p:nvPr/>
        </p:nvSpPr>
        <p:spPr>
          <a:xfrm>
            <a:off x="1051560" y="4343400"/>
            <a:ext cx="4892040" cy="1463040"/>
          </a:xfrm>
          <a:prstGeom prst="rect">
            <a:avLst/>
          </a:prstGeom>
          <a:noFill/>
          <a:ln/>
        </p:spPr>
        <p:txBody>
          <a:bodyPr wrap="square" lIns="0" tIns="0" rIns="0" bIns="0" rtlCol="0" anchor="t"/>
          <a:lstStyle/>
          <a:p>
            <a:pPr indent="0" marL="0">
              <a:buNone/>
            </a:pPr>
            <a:r>
              <a:rPr lang="en-US" sz="1400" dirty="0">
                <a:solidFill>
                  <a:schemeClr val="tx1"/>
                </a:solidFill>
              </a:rPr>
              <a:t>Die neue LVK ist abgeschätzt. Vor einer Entscheidung am Goniophotometer messen.</a:t>
            </a:r>
            <a:endParaRPr lang="en-US" sz="1400" dirty="0"/>
          </a:p>
        </p:txBody>
      </p:sp>
      <p:sp>
        <p:nvSpPr>
          <p:cNvPr id="13" name="Empfehlung 4 Nummer"/>
          <p:cNvSpPr txBox="1"/>
          <p:nvPr/>
        </p:nvSpPr>
        <p:spPr>
          <a:xfrm>
            <a:off x="6217920" y="388620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4</a:t>
            </a:r>
            <a:endParaRPr lang="en-US" sz="2000" dirty="0"/>
          </a:p>
        </p:txBody>
      </p:sp>
      <p:sp>
        <p:nvSpPr>
          <p:cNvPr id="14" name="Empfehlung 4 Titel"/>
          <p:cNvSpPr txBox="1"/>
          <p:nvPr/>
        </p:nvSpPr>
        <p:spPr>
          <a:xfrm>
            <a:off x="6720840" y="388620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Störlicht prüfen</a:t>
            </a:r>
            <a:endParaRPr lang="en-US" sz="1700" dirty="0"/>
          </a:p>
        </p:txBody>
      </p:sp>
      <p:sp>
        <p:nvSpPr>
          <p:cNvPr id="15" name="Empfehlung 4 Text"/>
          <p:cNvSpPr txBox="1"/>
          <p:nvPr/>
        </p:nvSpPr>
        <p:spPr>
          <a:xfrm>
            <a:off x="6720840" y="4343400"/>
            <a:ext cx="4892040" cy="1463040"/>
          </a:xfrm>
          <a:prstGeom prst="rect">
            <a:avLst/>
          </a:prstGeom>
          <a:noFill/>
          <a:ln/>
        </p:spPr>
        <p:txBody>
          <a:bodyPr wrap="square" lIns="0" tIns="0" rIns="0" bIns="0" rtlCol="0" anchor="t"/>
          <a:lstStyle/>
          <a:p>
            <a:pPr indent="0" marL="0">
              <a:buNone/>
            </a:pPr>
            <a:r>
              <a:rPr lang="en-US" sz="1400" dirty="0">
                <a:solidFill>
                  <a:schemeClr val="tx1"/>
                </a:solidFill>
              </a:rPr>
              <a:t>E_v am Auge liegt bei beiden Varianten über E4. Bei Anwohnern oder Arbeitsplätzen hinter der Leuchte: Neigung, Abstand oder geschlossene Blende prüfen.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ARENA · BELEUCHTUNGSSTÄRKE</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Arena: 8 m erreicht Klasse I, 5 m ist zu ungleichmäßig</a:t>
            </a:r>
            <a:endParaRPr lang="en-US" sz="2800" dirty="0"/>
          </a:p>
        </p:txBody>
      </p:sp>
      <p:pic>
        <p:nvPicPr>
          <p:cNvPr id="4" name="Arena Beleuchtung" descr="Falschfarben der horizontalen Beleuchtungsstärke in der Halle bei 5 m und 8 m Montagehöhe, drei Leuchten im Abstand von 6 m">    </p:cNvPr>
          <p:cNvPicPr>
            <a:picLocks noChangeAspect="1"/>
          </p:cNvPicPr>
          <p:nvPr/>
        </p:nvPicPr>
        <p:blipFill>
          <a:blip r:embed="rId1"/>
          <a:stretch>
            <a:fillRect/>
          </a:stretch>
        </p:blipFill>
        <p:spPr>
          <a:xfrm>
            <a:off x="548640" y="1600200"/>
            <a:ext cx="7315200" cy="3751783"/>
          </a:xfrm>
          <a:prstGeom prst="rect">
            <a:avLst/>
          </a:prstGeom>
        </p:spPr>
      </p:pic>
      <p:sp>
        <p:nvSpPr>
          <p:cNvPr id="5" name="Arena Bildunterschrift"/>
          <p:cNvSpPr txBox="1"/>
          <p:nvPr/>
        </p:nvSpPr>
        <p:spPr>
          <a:xfrm>
            <a:off x="548640" y="5440680"/>
            <a:ext cx="7315200" cy="457200"/>
          </a:xfrm>
          <a:prstGeom prst="rect">
            <a:avLst/>
          </a:prstGeom>
          <a:noFill/>
          <a:ln/>
        </p:spPr>
        <p:txBody>
          <a:bodyPr wrap="square" lIns="0" tIns="0" rIns="0" bIns="0" rtlCol="0" anchor="t"/>
          <a:lstStyle/>
          <a:p>
            <a:pPr indent="0" marL="0">
              <a:buNone/>
            </a:pPr>
            <a:r>
              <a:rPr lang="en-US" sz="1000" dirty="0">
                <a:solidFill>
                  <a:schemeClr val="tx2"/>
                </a:solidFill>
              </a:rPr>
              <a:t>Drei Leuchten im Abstand von 6 m, Blende heute, Direktlicht, Wartungsfaktor 0,8. Gestrichelt: Bewertungsfeld 18 × 8 m. Reihe = durchgehende Reihe mit Leuchten alle 6 m.</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092440" y="1645920"/>
          <a:ext cx="3520440" cy="914400"/>
        </p:xfrm>
        <a:graphic>
          <a:graphicData uri="http://schemas.openxmlformats.org/drawingml/2006/table">
            <a:tbl>
              <a:tblPr/>
              <a:tblGrid>
                <a:gridCol w="1417320"/>
                <a:gridCol w="777240"/>
                <a:gridCol w="502920"/>
                <a:gridCol w="822960"/>
              </a:tblGrid>
              <a:tr h="0">
                <a:tc>
                  <a:txBody>
                    <a:bodyPr/>
                    <a:lstStyle/>
                    <a:p>
                      <a:pPr indent="0" marL="0">
                        <a:buNone/>
                      </a:pPr>
                      <a:r>
                        <a:rPr lang="en-US" sz="1100" b="1" dirty="0">
                          <a:solidFill>
                            <a:schemeClr val="tx2"/>
                          </a:solidFill>
                        </a:rPr>
                        <a:t>FELD 18 × 8 m</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Ē</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U0</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EN 12193</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3 Leuchten,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1.166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0,16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keine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3 Leuchten,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832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0,46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keine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Reihe,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1.349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0,24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keine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Reihe,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1.080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Klasse 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7" name="Arena Kommentar"/>
          <p:cNvSpPr txBox="1"/>
          <p:nvPr/>
        </p:nvSpPr>
        <p:spPr>
          <a:xfrm>
            <a:off x="8092440" y="3794760"/>
            <a:ext cx="3520440" cy="2194560"/>
          </a:xfrm>
          <a:prstGeom prst="rect">
            <a:avLst/>
          </a:prstGeom>
          <a:noFill/>
          <a:ln/>
        </p:spPr>
        <p:txBody>
          <a:bodyPr wrap="square" lIns="0" tIns="0" rIns="0" bIns="0" rtlCol="0" anchor="t"/>
          <a:lstStyle/>
          <a:p>
            <a:pPr indent="0" marL="0">
              <a:buNone/>
            </a:pPr>
            <a:r>
              <a:rPr lang="en-US" sz="1300" dirty="0">
                <a:solidFill>
                  <a:schemeClr val="tx1"/>
                </a:solidFill>
              </a:rPr>
              <a:t>Der Mittelwert reicht überall für Klasse I (750 lx). Bei 5 m entsteht ein heller Fleck 3 m vor der Reihe. Eine einseitige Reihe leuchtet etwa 8 m tief; ein ganzes Spielfeld braucht weitere Reihen.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ARENA · BLENDUNG DER ZUSCHAUER</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Zuschauer kaum geblendet, gelieferte Blende bleibt besser</a:t>
            </a:r>
            <a:endParaRPr lang="en-US" sz="2800" dirty="0"/>
          </a:p>
        </p:txBody>
      </p:sp>
      <p:pic>
        <p:nvPicPr>
          <p:cNvPr id="4" name="Arena Blendungskarten" descr="Karten des Glare Rating für Zuschauerplätze hinter der Leuchtenreihe, beide Blenden, 5 m und 8 m Montagehöhe">    </p:cNvPr>
          <p:cNvPicPr>
            <a:picLocks noChangeAspect="1"/>
          </p:cNvPicPr>
          <p:nvPr/>
        </p:nvPicPr>
        <p:blipFill>
          <a:blip r:embed="rId1"/>
          <a:stretch>
            <a:fillRect/>
          </a:stretch>
        </p:blipFill>
        <p:spPr>
          <a:xfrm>
            <a:off x="548640" y="1554480"/>
            <a:ext cx="6035040" cy="4411066"/>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0" y="1645920"/>
          <a:ext cx="4754880" cy="914400"/>
        </p:xfrm>
        <a:graphic>
          <a:graphicData uri="http://schemas.openxmlformats.org/drawingml/2006/table">
            <a:tbl>
              <a:tblPr/>
              <a:tblGrid>
                <a:gridCol w="2377440"/>
                <a:gridCol w="1188720"/>
                <a:gridCol w="1188720"/>
              </a:tblGrid>
              <a:tr h="0">
                <a:tc>
                  <a:txBody>
                    <a:bodyPr/>
                    <a:lstStyle/>
                    <a:p>
                      <a:pPr indent="0" marL="0">
                        <a:buNone/>
                      </a:pPr>
                      <a:r>
                        <a:rPr lang="en-US" sz="1100" b="1" dirty="0">
                          <a:solidFill>
                            <a:schemeClr val="tx2"/>
                          </a:solidFill>
                        </a:rPr>
                        <a:t>GR ZUSCHAUER</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5 m, Platz 8 m dahinter</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14,6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17,3</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5 m, ungünstigster Platz</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8 m, Platz 8 m dahinter</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13,2</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14,4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8 m, ungünstigster Platz</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13</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15</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E_v am Auge,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76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99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6" name="Arena Blendung Kommentar"/>
          <p:cNvSpPr txBox="1"/>
          <p:nvPr/>
        </p:nvSpPr>
        <p:spPr>
          <a:xfrm>
            <a:off x="6858000" y="4160520"/>
            <a:ext cx="4754880" cy="1828800"/>
          </a:xfrm>
          <a:prstGeom prst="rect">
            <a:avLst/>
          </a:prstGeom>
          <a:noFill/>
          <a:ln/>
        </p:spPr>
        <p:txBody>
          <a:bodyPr wrap="square" lIns="0" tIns="0" rIns="0" bIns="0" rtlCol="0" anchor="t"/>
          <a:lstStyle/>
          <a:p>
            <a:pPr indent="0" marL="0">
              <a:buNone/>
            </a:pPr>
            <a:r>
              <a:rPr lang="en-US" sz="1300" dirty="0">
                <a:solidFill>
                  <a:schemeClr val="tx1"/>
                </a:solidFill>
              </a:rPr>
              <a:t>Alle Werte liegen weit unter „störend“ (GR 50). Die Zuschauer schauen in die helle Arena, das dämpft die Blendung. Am stärksten blendet es bei 5 m auf den Plätzen 4–6 m hinter der Reihe, direkt unter der Blendenkante.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ARENA · EMPFEHLUNG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Für die Arena: gelieferte Blende und 8 m Montagehöhe</a:t>
            </a:r>
            <a:endParaRPr lang="en-US" sz="2800" dirty="0"/>
          </a:p>
        </p:txBody>
      </p:sp>
      <p:sp>
        <p:nvSpPr>
          <p:cNvPr id="4" name="Arena Empfehlung 1 Nummer"/>
          <p:cNvSpPr txBox="1"/>
          <p:nvPr/>
        </p:nvSpPr>
        <p:spPr>
          <a:xfrm>
            <a:off x="548640" y="173736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1</a:t>
            </a:r>
            <a:endParaRPr lang="en-US" sz="2000" dirty="0"/>
          </a:p>
        </p:txBody>
      </p:sp>
      <p:sp>
        <p:nvSpPr>
          <p:cNvPr id="5" name="Arena Empfehlung 1 Titel"/>
          <p:cNvSpPr txBox="1"/>
          <p:nvPr/>
        </p:nvSpPr>
        <p:spPr>
          <a:xfrm>
            <a:off x="1051560" y="173736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Blende wie geliefert</a:t>
            </a:r>
            <a:endParaRPr lang="en-US" sz="1700" dirty="0"/>
          </a:p>
        </p:txBody>
      </p:sp>
      <p:sp>
        <p:nvSpPr>
          <p:cNvPr id="6" name="Arena Empfehlung 1 Text"/>
          <p:cNvSpPr txBox="1"/>
          <p:nvPr/>
        </p:nvSpPr>
        <p:spPr>
          <a:xfrm>
            <a:off x="1051560" y="2194560"/>
            <a:ext cx="4892040" cy="1463040"/>
          </a:xfrm>
          <a:prstGeom prst="rect">
            <a:avLst/>
          </a:prstGeom>
          <a:noFill/>
          <a:ln/>
        </p:spPr>
        <p:txBody>
          <a:bodyPr wrap="square" lIns="0" tIns="0" rIns="0" bIns="0" rtlCol="0" anchor="t"/>
          <a:lstStyle/>
          <a:p>
            <a:pPr indent="0" marL="0">
              <a:buNone/>
            </a:pPr>
            <a:r>
              <a:rPr lang="en-US" sz="1400" dirty="0">
                <a:solidFill>
                  <a:schemeClr val="tx1"/>
                </a:solidFill>
              </a:rPr>
              <a:t>Die 50-%-Lochung bringt dem Spielfeld nur etwa 1 % mehr Licht, erhöht aber die Blendung der Zuschauer (GR +1 bis +3) und das Licht am Auge.</a:t>
            </a:r>
            <a:endParaRPr lang="en-US" sz="1400" dirty="0"/>
          </a:p>
        </p:txBody>
      </p:sp>
      <p:sp>
        <p:nvSpPr>
          <p:cNvPr id="7" name="Arena Empfehlung 2 Nummer"/>
          <p:cNvSpPr txBox="1"/>
          <p:nvPr/>
        </p:nvSpPr>
        <p:spPr>
          <a:xfrm>
            <a:off x="6217920" y="173736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2</a:t>
            </a:r>
            <a:endParaRPr lang="en-US" sz="2000" dirty="0"/>
          </a:p>
        </p:txBody>
      </p:sp>
      <p:sp>
        <p:nvSpPr>
          <p:cNvPr id="8" name="Arena Empfehlung 2 Titel"/>
          <p:cNvSpPr txBox="1"/>
          <p:nvPr/>
        </p:nvSpPr>
        <p:spPr>
          <a:xfrm>
            <a:off x="6720840" y="173736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Montagehöhe 8 m</a:t>
            </a:r>
            <a:endParaRPr lang="en-US" sz="1700" dirty="0"/>
          </a:p>
        </p:txBody>
      </p:sp>
      <p:sp>
        <p:nvSpPr>
          <p:cNvPr id="9" name="Arena Empfehlung 2 Text"/>
          <p:cNvSpPr txBox="1"/>
          <p:nvPr/>
        </p:nvSpPr>
        <p:spPr>
          <a:xfrm>
            <a:off x="6720840" y="2194560"/>
            <a:ext cx="4892040" cy="1463040"/>
          </a:xfrm>
          <a:prstGeom prst="rect">
            <a:avLst/>
          </a:prstGeom>
          <a:noFill/>
          <a:ln/>
        </p:spPr>
        <p:txBody>
          <a:bodyPr wrap="square" lIns="0" tIns="0" rIns="0" bIns="0" rtlCol="0" anchor="t"/>
          <a:lstStyle/>
          <a:p>
            <a:pPr indent="0" marL="0">
              <a:buNone/>
            </a:pPr>
            <a:r>
              <a:rPr lang="en-US" sz="1400" dirty="0">
                <a:solidFill>
                  <a:schemeClr val="tx1"/>
                </a:solidFill>
              </a:rPr>
              <a:t>Gleichmäßiges Feld (U0 0,70 mit durchgehender Reihe, Klasse I) und geringere Blendung der Zuschauer als bei 5 m.</a:t>
            </a:r>
            <a:endParaRPr lang="en-US" sz="1400" dirty="0"/>
          </a:p>
        </p:txBody>
      </p:sp>
      <p:sp>
        <p:nvSpPr>
          <p:cNvPr id="10" name="Arena Empfehlung 3 Nummer"/>
          <p:cNvSpPr txBox="1"/>
          <p:nvPr/>
        </p:nvSpPr>
        <p:spPr>
          <a:xfrm>
            <a:off x="548640" y="388620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3</a:t>
            </a:r>
            <a:endParaRPr lang="en-US" sz="2000" dirty="0"/>
          </a:p>
        </p:txBody>
      </p:sp>
      <p:sp>
        <p:nvSpPr>
          <p:cNvPr id="11" name="Arena Empfehlung 3 Titel"/>
          <p:cNvSpPr txBox="1"/>
          <p:nvPr/>
        </p:nvSpPr>
        <p:spPr>
          <a:xfrm>
            <a:off x="1051560" y="388620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Reihe durchgehend planen</a:t>
            </a:r>
            <a:endParaRPr lang="en-US" sz="1700" dirty="0"/>
          </a:p>
        </p:txBody>
      </p:sp>
      <p:sp>
        <p:nvSpPr>
          <p:cNvPr id="12" name="Arena Empfehlung 3 Text"/>
          <p:cNvSpPr txBox="1"/>
          <p:nvPr/>
        </p:nvSpPr>
        <p:spPr>
          <a:xfrm>
            <a:off x="1051560" y="4343400"/>
            <a:ext cx="4892040" cy="1463040"/>
          </a:xfrm>
          <a:prstGeom prst="rect">
            <a:avLst/>
          </a:prstGeom>
          <a:noFill/>
          <a:ln/>
        </p:spPr>
        <p:txBody>
          <a:bodyPr wrap="square" lIns="0" tIns="0" rIns="0" bIns="0" rtlCol="0" anchor="t"/>
          <a:lstStyle/>
          <a:p>
            <a:pPr indent="0" marL="0">
              <a:buNone/>
            </a:pPr>
            <a:r>
              <a:rPr lang="en-US" sz="1400" dirty="0">
                <a:solidFill>
                  <a:schemeClr val="tx1"/>
                </a:solidFill>
              </a:rPr>
              <a:t>Mit nur drei Leuchten fällt das Licht an den Rändern ab. Für ein ganzes Spielfeld weitere Reihen oder die Gegenseite einplanen.</a:t>
            </a:r>
            <a:endParaRPr lang="en-US" sz="1400" dirty="0"/>
          </a:p>
        </p:txBody>
      </p:sp>
      <p:sp>
        <p:nvSpPr>
          <p:cNvPr id="13" name="Arena Empfehlung 4 Nummer"/>
          <p:cNvSpPr txBox="1"/>
          <p:nvPr/>
        </p:nvSpPr>
        <p:spPr>
          <a:xfrm>
            <a:off x="6217920" y="388620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4</a:t>
            </a:r>
            <a:endParaRPr lang="en-US" sz="2000" dirty="0"/>
          </a:p>
        </p:txBody>
      </p:sp>
      <p:sp>
        <p:nvSpPr>
          <p:cNvPr id="14" name="Arena Empfehlung 4 Titel"/>
          <p:cNvSpPr txBox="1"/>
          <p:nvPr/>
        </p:nvSpPr>
        <p:spPr>
          <a:xfrm>
            <a:off x="6720840" y="388620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50 % nur für TV-Tribünenlicht</a:t>
            </a:r>
            <a:endParaRPr lang="en-US" sz="1700" dirty="0"/>
          </a:p>
        </p:txBody>
      </p:sp>
      <p:sp>
        <p:nvSpPr>
          <p:cNvPr id="15" name="Arena Empfehlung 4 Text"/>
          <p:cNvSpPr txBox="1"/>
          <p:nvPr/>
        </p:nvSpPr>
        <p:spPr>
          <a:xfrm>
            <a:off x="6720840" y="4343400"/>
            <a:ext cx="4892040" cy="1463040"/>
          </a:xfrm>
          <a:prstGeom prst="rect">
            <a:avLst/>
          </a:prstGeom>
          <a:noFill/>
          <a:ln/>
        </p:spPr>
        <p:txBody>
          <a:bodyPr wrap="square" lIns="0" tIns="0" rIns="0" bIns="0" rtlCol="0" anchor="t"/>
          <a:lstStyle/>
          <a:p>
            <a:pPr indent="0" marL="0">
              <a:buNone/>
            </a:pPr>
            <a:r>
              <a:rPr lang="en-US" sz="1400" dirty="0">
                <a:solidFill>
                  <a:schemeClr val="tx1"/>
                </a:solidFill>
              </a:rPr>
              <a:t>Soll die Tribüne für Übertragungen bewusst aufgehellt werden, kann die 50-%-Lochung sinnvoll sein; dann die LVK vorher messen.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VIER LICHTVERTEILUNGEN IM VERGLEICH</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Ohne externe Blende geht deutlich weniger Licht nach hinten</a:t>
            </a:r>
            <a:endParaRPr lang="en-US" sz="2800" dirty="0"/>
          </a:p>
        </p:txBody>
      </p:sp>
      <p:graphicFrame>
        <p:nvGraphicFramePr>
          <p:cNvPr id="4" name="Vergleich LVK C180" descr=""/>
          <p:cNvGraphicFramePr/>
          <p:nvPr/>
        </p:nvGraphicFramePr>
        <p:xfrm>
          <a:off x="548640" y="1645920"/>
          <a:ext cx="722376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046720" y="1691640"/>
          <a:ext cx="3566160" cy="914400"/>
        </p:xfrm>
        <a:graphic>
          <a:graphicData uri="http://schemas.openxmlformats.org/drawingml/2006/table">
            <a:tbl>
              <a:tblPr/>
              <a:tblGrid>
                <a:gridCol w="1325880"/>
                <a:gridCol w="868680"/>
                <a:gridCol w="685800"/>
                <a:gridCol w="685800"/>
              </a:tblGrid>
              <a:tr h="0">
                <a:tc>
                  <a:txBody>
                    <a:bodyPr/>
                    <a:lstStyle/>
                    <a:p>
                      <a:pPr indent="0" marL="0">
                        <a:buNone/>
                      </a:pPr>
                      <a:r>
                        <a:rPr lang="en-US" sz="1100" b="1" dirty="0">
                          <a:solidFill>
                            <a:schemeClr val="tx2"/>
                          </a:solidFill>
                        </a:rPr>
                        <a:t>C180, γ</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B2</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B3</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49,6°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10.371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4.874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5.383</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64,6°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4.789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1.290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1.905</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über 90°, vorn</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 1.000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6" name="Vergleich LVK Hinweis"/>
          <p:cNvSpPr txBox="1"/>
          <p:nvPr/>
        </p:nvSpPr>
        <p:spPr>
          <a:xfrm>
            <a:off x="8046720" y="3566160"/>
            <a:ext cx="3566160" cy="2468880"/>
          </a:xfrm>
          <a:prstGeom prst="rect">
            <a:avLst/>
          </a:prstGeom>
          <a:noFill/>
          <a:ln/>
        </p:spPr>
        <p:txBody>
          <a:bodyPr wrap="square" lIns="0" tIns="0" rIns="0" bIns="0" rtlCol="0" anchor="t"/>
          <a:lstStyle/>
          <a:p>
            <a:pPr indent="0" marL="0">
              <a:buNone/>
            </a:pPr>
            <a:r>
              <a:rPr lang="en-US" sz="1200" dirty="0">
                <a:solidFill>
                  <a:schemeClr val="tx2"/>
                </a:solidFill>
              </a:rPr>
              <a:t>Werte in cd bei je 111.246 lm. B2 und B3 sind relative LDT (4000 K, CRI 70), auf den gleichen Lichtstrom gesetzt und um 90° gedreht (Hauptstrahl C90 → C0). Ohne externe Blende kein Licht über die Horizontale.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PERSON 8 m HINTER DER LEUCHTE</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Blende 2 halbiert die Blendung der Person gegenüber V2</a:t>
            </a:r>
            <a:endParaRPr lang="en-US" sz="2800" dirty="0"/>
          </a:p>
        </p:txBody>
      </p:sp>
      <p:graphicFrame>
        <p:nvGraphicFramePr>
          <p:cNvPr id="4" name="Vergleich GR Person" descr=""/>
          <p:cNvGraphicFramePr/>
          <p:nvPr/>
        </p:nvGraphicFramePr>
        <p:xfrm>
          <a:off x="548640" y="1645920"/>
          <a:ext cx="539496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72200" y="1691640"/>
          <a:ext cx="5440680" cy="914400"/>
        </p:xfrm>
        <a:graphic>
          <a:graphicData uri="http://schemas.openxmlformats.org/drawingml/2006/table">
            <a:tbl>
              <a:tblPr/>
              <a:tblGrid>
                <a:gridCol w="1600200"/>
                <a:gridCol w="960120"/>
                <a:gridCol w="960120"/>
                <a:gridCol w="960120"/>
                <a:gridCol w="960120"/>
              </a:tblGrid>
              <a:tr h="0">
                <a:tc>
                  <a:txBody>
                    <a:bodyPr/>
                    <a:lstStyle/>
                    <a:p>
                      <a:pPr indent="0" marL="0">
                        <a:buNone/>
                      </a:pP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 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B2</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B3</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I zur Person,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4.789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6.409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1.290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1.905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I zur Person,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10.371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11.647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4.874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5.383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E_v Auge,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E_v Auge,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34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37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Rückwand Ē,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2,5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3,4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Rückwand Ē,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16,0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20,3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5,3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6,6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6" name="Vergleich Person Kommentar"/>
          <p:cNvSpPr txBox="1"/>
          <p:nvPr/>
        </p:nvSpPr>
        <p:spPr>
          <a:xfrm>
            <a:off x="6172200" y="4846320"/>
            <a:ext cx="5440680" cy="822960"/>
          </a:xfrm>
          <a:prstGeom prst="rect">
            <a:avLst/>
          </a:prstGeom>
          <a:noFill/>
          <a:ln/>
        </p:spPr>
        <p:txBody>
          <a:bodyPr wrap="square" lIns="0" tIns="0" rIns="0" bIns="0" rtlCol="0" anchor="t"/>
          <a:lstStyle/>
          <a:p>
            <a:pPr indent="0" marL="0">
              <a:buNone/>
            </a:pPr>
            <a:r>
              <a:rPr lang="en-US" sz="1300" dirty="0">
                <a:solidFill>
                  <a:schemeClr val="tx1"/>
                </a:solidFill>
              </a:rPr>
              <a:t>Mit Blende 2 bleibt die Beleuchtungsstärke am Auge bei 5 m unter dem Störlicht-Richtwert E4 (25 lx).</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ARENA · BLENDUNG UND FELD</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Arena: B2 und B3 blenden kaum, V2 hält Klasse I besser</a:t>
            </a:r>
            <a:endParaRPr lang="en-US" sz="2800" dirty="0"/>
          </a:p>
        </p:txBody>
      </p:sp>
      <p:pic>
        <p:nvPicPr>
          <p:cNvPr id="4" name="Vergleich Arena Karten" descr="GR-Karten der Zuschauer für V2, V2 50 %, Blende 2 und Blende 3 bei 5 m und 8 m">    </p:cNvPr>
          <p:cNvPicPr>
            <a:picLocks noChangeAspect="1"/>
          </p:cNvPicPr>
          <p:nvPr/>
        </p:nvPicPr>
        <p:blipFill>
          <a:blip r:embed="rId1"/>
          <a:stretch>
            <a:fillRect/>
          </a:stretch>
        </p:blipFill>
        <p:spPr>
          <a:xfrm>
            <a:off x="548640" y="1554480"/>
            <a:ext cx="7863840" cy="3599993"/>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641080" y="1645920"/>
          <a:ext cx="2971800" cy="914400"/>
        </p:xfrm>
        <a:graphic>
          <a:graphicData uri="http://schemas.openxmlformats.org/drawingml/2006/table">
            <a:tbl>
              <a:tblPr/>
              <a:tblGrid>
                <a:gridCol w="868680"/>
                <a:gridCol w="777240"/>
                <a:gridCol w="502920"/>
                <a:gridCol w="822960"/>
              </a:tblGrid>
              <a:tr h="0">
                <a:tc>
                  <a:txBody>
                    <a:bodyPr/>
                    <a:lstStyle/>
                    <a:p>
                      <a:pPr indent="0" marL="0">
                        <a:buNone/>
                      </a:pPr>
                      <a:r>
                        <a:rPr lang="en-US" sz="1100" b="1" dirty="0">
                          <a:solidFill>
                            <a:schemeClr val="tx2"/>
                          </a:solidFill>
                        </a:rPr>
                        <a:t>8 m, REIHE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Ē</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U0</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KLASSE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V2</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1.080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V2 50 %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1.094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Blende 2</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1.235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0,64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III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Blende 3</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1.179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0,69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2"/>
                          </a:solidFill>
                        </a:rPr>
                        <a:t>III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6" name="Vergleich Arena Kommentar"/>
          <p:cNvSpPr txBox="1"/>
          <p:nvPr/>
        </p:nvSpPr>
        <p:spPr>
          <a:xfrm>
            <a:off x="8641080" y="3840480"/>
            <a:ext cx="2971800" cy="2103120"/>
          </a:xfrm>
          <a:prstGeom prst="rect">
            <a:avLst/>
          </a:prstGeom>
          <a:noFill/>
          <a:ln/>
        </p:spPr>
        <p:txBody>
          <a:bodyPr wrap="square" lIns="0" tIns="0" rIns="0" bIns="0" rtlCol="0" anchor="t"/>
          <a:lstStyle/>
          <a:p>
            <a:pPr indent="0" marL="0">
              <a:buNone/>
            </a:pPr>
            <a:r>
              <a:rPr lang="en-US" sz="1200" dirty="0">
                <a:solidFill>
                  <a:schemeClr val="tx1"/>
                </a:solidFill>
              </a:rPr>
              <a:t>GR der Zuschauer bei 8 m: max 13 (V2), 15 (V2 50 %), 7 (B2), 9 (B3). B2/B3 bündeln stärker: helleres Feld, etwas geringere Gleichmäßigkeit.</a:t>
            </a:r>
            <a:endParaRPr lang="en-US" sz="1200" dirty="0"/>
          </a:p>
        </p:txBody>
      </p:sp>
      <p:sp>
        <p:nvSpPr>
          <p:cNvPr id="7" name="Vergleich Arena Bildunterschrift"/>
          <p:cNvSpPr txBox="1"/>
          <p:nvPr/>
        </p:nvSpPr>
        <p:spPr>
          <a:xfrm>
            <a:off x="548640" y="5257800"/>
            <a:ext cx="7863840" cy="320040"/>
          </a:xfrm>
          <a:prstGeom prst="rect">
            <a:avLst/>
          </a:prstGeom>
          <a:noFill/>
          <a:ln/>
        </p:spPr>
        <p:txBody>
          <a:bodyPr wrap="square" lIns="0" tIns="0" rIns="0" bIns="0" rtlCol="0" anchor="ctr"/>
          <a:lstStyle/>
          <a:p>
            <a:pPr indent="0" marL="0">
              <a:buNone/>
            </a:pPr>
            <a:r>
              <a:rPr lang="en-US" sz="1000" dirty="0">
                <a:solidFill>
                  <a:schemeClr val="tx2"/>
                </a:solidFill>
              </a:rPr>
              <a:t>Drei Leuchten im Abstand von 6 m bzw. durchgehende Reihe, Wartungsfaktor 0,8, je 111.246 lm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GESAMTBEWERTUNG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Für Blendung und Störlicht ist Blende 2 die beste Lösung</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108960"/>
                <a:gridCol w="1965960"/>
                <a:gridCol w="1965960"/>
                <a:gridCol w="2011680"/>
                <a:gridCol w="2011680"/>
              </a:tblGrid>
              <a:tr h="0">
                <a:tc>
                  <a:txBody>
                    <a:bodyPr/>
                    <a:lstStyle/>
                    <a:p>
                      <a:pPr indent="0" marL="0">
                        <a:buNone/>
                      </a:pPr>
                      <a:r>
                        <a:rPr lang="en-US" sz="1100" b="1" dirty="0">
                          <a:solidFill>
                            <a:schemeClr val="tx2"/>
                          </a:solidFill>
                        </a:rPr>
                        <a:t>KRITERIUM</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 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 50 %</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BLENDE 2</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BLENDE 3</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Person (GR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24,0 / 21,0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26,8 / 22,1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9,8 / 12,4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14,0 / 13,7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 am Auge (E_v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Zuschauer (GR max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13</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15</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Aufhellung Rückwand (Ē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2,5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3,4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 über die Horizontale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bis 1.000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bis 1.000 cd</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keins</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keins</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Feld 8 m, durchgehende Reihe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Klasse 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Klasse 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Klasse III (U0 0,64)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Klasse III (U0 0,69)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Datengrundlage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gemessen, absolut</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abgeschätzt</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relativ, 4000 K</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relativ, 4000 K</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5" name="Gesamtbewertung Empfehlung"/>
          <p:cNvSpPr txBox="1"/>
          <p:nvPr/>
        </p:nvSpPr>
        <p:spPr>
          <a:xfrm>
            <a:off x="548640" y="4572000"/>
            <a:ext cx="11064240" cy="914400"/>
          </a:xfrm>
          <a:prstGeom prst="rect">
            <a:avLst/>
          </a:prstGeom>
          <a:noFill/>
          <a:ln/>
        </p:spPr>
        <p:txBody>
          <a:bodyPr wrap="square" lIns="0" tIns="0" rIns="0" bIns="0" rtlCol="0" anchor="t"/>
          <a:lstStyle/>
          <a:p>
            <a:pPr indent="0" marL="0">
              <a:buNone/>
            </a:pPr>
            <a:r>
              <a:rPr lang="en-US" sz="1400" b="1" dirty="0">
                <a:solidFill>
                  <a:schemeClr val="accent1"/>
                </a:solidFill>
              </a:rPr>
              <a:t>Empfehlung: </a:t>
            </a:r>
            <a:pPr indent="0" marL="0">
              <a:buNone/>
            </a:pPr>
            <a:r>
              <a:rPr lang="en-US" sz="1400" dirty="0">
                <a:solidFill>
                  <a:schemeClr val="tx1"/>
                </a:solidFill>
              </a:rPr>
              <a:t>Blende 2 oder Blende 3 bei 8 m Montagehöhe statt der außenliegenden Blende V2. Vorher die absoluten Lichtströme der Ausführungen ohne Blende beim Hersteller abfragen und für Klasse I die Gleichmäßigkeit mit Neigung oder Abstand nachweisen.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AUSLEGUNG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Ein 450 mm tiefes Stirnblech bildet Blende 3 außen nach</a:t>
            </a:r>
            <a:endParaRPr lang="en-US" sz="2800" dirty="0"/>
          </a:p>
        </p:txBody>
      </p:sp>
      <p:pic>
        <p:nvPicPr>
          <p:cNvPr id="4" name="Neue Blende Ansicht hinten" descr="SIRIUS 1000 mit neuer außenliegender Blende, Ansicht von hinten unten">    </p:cNvPr>
          <p:cNvPicPr>
            <a:picLocks noChangeAspect="1"/>
          </p:cNvPicPr>
          <p:nvPr/>
        </p:nvPicPr>
        <p:blipFill>
          <a:blip r:embed="rId1"/>
          <a:stretch>
            <a:fillRect/>
          </a:stretch>
        </p:blipFill>
        <p:spPr>
          <a:xfrm>
            <a:off x="731520" y="1691640"/>
            <a:ext cx="3657600" cy="3074213"/>
          </a:xfrm>
          <a:prstGeom prst="rect">
            <a:avLst/>
          </a:prstGeom>
        </p:spPr>
      </p:pic>
      <p:sp>
        <p:nvSpPr>
          <p:cNvPr id="5" name="Neue Blende Bildunterschrift"/>
          <p:cNvSpPr txBox="1"/>
          <p:nvPr/>
        </p:nvSpPr>
        <p:spPr>
          <a:xfrm>
            <a:off x="731520" y="4892040"/>
            <a:ext cx="3657600" cy="320040"/>
          </a:xfrm>
          <a:prstGeom prst="rect">
            <a:avLst/>
          </a:prstGeom>
          <a:noFill/>
          <a:ln/>
        </p:spPr>
        <p:txBody>
          <a:bodyPr wrap="square" lIns="0" tIns="0" rIns="0" bIns="0" rtlCol="0" anchor="ctr"/>
          <a:lstStyle/>
          <a:p>
            <a:pPr indent="0" marL="0">
              <a:buNone/>
            </a:pPr>
            <a:r>
              <a:rPr lang="en-US" sz="1000" dirty="0">
                <a:solidFill>
                  <a:schemeClr val="tx2"/>
                </a:solidFill>
              </a:rPr>
              <a:t>Neue Blende B3a von hinten unten; Unter- und Seitenkanten 20 mm gekantet</a:t>
            </a:r>
            <a:endParaRPr lang="en-US" sz="1000" dirty="0"/>
          </a:p>
        </p:txBody>
      </p:sp>
      <p:sp>
        <p:nvSpPr>
          <p:cNvPr id="6" name="Seitenansicht V2 Titel"/>
          <p:cNvSpPr txBox="1"/>
          <p:nvPr/>
        </p:nvSpPr>
        <p:spPr>
          <a:xfrm>
            <a:off x="4983480" y="1645920"/>
            <a:ext cx="2743200" cy="274320"/>
          </a:xfrm>
          <a:prstGeom prst="rect">
            <a:avLst/>
          </a:prstGeom>
          <a:noFill/>
          <a:ln/>
        </p:spPr>
        <p:txBody>
          <a:bodyPr wrap="square" lIns="0" tIns="0" rIns="0" bIns="0" rtlCol="0" anchor="ctr"/>
          <a:lstStyle/>
          <a:p>
            <a:pPr indent="0" marL="0">
              <a:buNone/>
            </a:pPr>
            <a:r>
              <a:rPr lang="en-US" sz="1100" b="1" dirty="0">
                <a:solidFill>
                  <a:schemeClr val="tx2"/>
                </a:solidFill>
              </a:rPr>
              <a:t>V2 heute (211 mm)</a:t>
            </a:r>
            <a:endParaRPr lang="en-US" sz="1100" dirty="0"/>
          </a:p>
        </p:txBody>
      </p:sp>
      <p:pic>
        <p:nvPicPr>
          <p:cNvPr id="7" name="Seitenansicht V2" descr="Seitenansicht mit Blende V2">    </p:cNvPr>
          <p:cNvPicPr>
            <a:picLocks noChangeAspect="1"/>
          </p:cNvPicPr>
          <p:nvPr/>
        </p:nvPicPr>
        <p:blipFill>
          <a:blip r:embed="rId2"/>
          <a:stretch>
            <a:fillRect/>
          </a:stretch>
        </p:blipFill>
        <p:spPr>
          <a:xfrm>
            <a:off x="4983480" y="1965960"/>
            <a:ext cx="2743200" cy="1277417"/>
          </a:xfrm>
          <a:prstGeom prst="rect">
            <a:avLst/>
          </a:prstGeom>
        </p:spPr>
      </p:pic>
      <p:sp>
        <p:nvSpPr>
          <p:cNvPr id="8" name="Seitenansicht B3a Titel"/>
          <p:cNvSpPr txBox="1"/>
          <p:nvPr/>
        </p:nvSpPr>
        <p:spPr>
          <a:xfrm>
            <a:off x="4983480" y="3474720"/>
            <a:ext cx="2743200" cy="274320"/>
          </a:xfrm>
          <a:prstGeom prst="rect">
            <a:avLst/>
          </a:prstGeom>
          <a:noFill/>
          <a:ln/>
        </p:spPr>
        <p:txBody>
          <a:bodyPr wrap="square" lIns="0" tIns="0" rIns="0" bIns="0" rtlCol="0" anchor="ctr"/>
          <a:lstStyle/>
          <a:p>
            <a:pPr indent="0" marL="0">
              <a:buNone/>
            </a:pPr>
            <a:r>
              <a:rPr lang="en-US" sz="1100" b="1" dirty="0">
                <a:solidFill>
                  <a:schemeClr val="accent1"/>
                </a:solidFill>
              </a:rPr>
              <a:t>B3a neu (450 mm)</a:t>
            </a:r>
            <a:endParaRPr lang="en-US" sz="1100" dirty="0"/>
          </a:p>
        </p:txBody>
      </p:sp>
      <p:pic>
        <p:nvPicPr>
          <p:cNvPr id="9" name="Seitenansicht B3a" descr="Seitenansicht mit neuer Blende B3a">    </p:cNvPr>
          <p:cNvPicPr>
            <a:picLocks noChangeAspect="1"/>
          </p:cNvPicPr>
          <p:nvPr/>
        </p:nvPicPr>
        <p:blipFill>
          <a:blip r:embed="rId3"/>
          <a:stretch>
            <a:fillRect/>
          </a:stretch>
        </p:blipFill>
        <p:spPr>
          <a:xfrm>
            <a:off x="4983480" y="3749040"/>
            <a:ext cx="2743200" cy="1965960"/>
          </a:xfrm>
          <a:prstGeom prst="rect">
            <a:avLst/>
          </a:prstGeom>
        </p:spPr>
      </p:pic>
      <p:sp>
        <p:nvSpPr>
          <p:cNvPr id="10" name="Tiefe Kachel"/>
          <p:cNvSpPr/>
          <p:nvPr/>
        </p:nvSpPr>
        <p:spPr>
          <a:xfrm>
            <a:off x="8001000" y="1691640"/>
            <a:ext cx="3611880" cy="1325880"/>
          </a:xfrm>
          <a:prstGeom prst="rect">
            <a:avLst/>
          </a:prstGeom>
          <a:solidFill>
            <a:schemeClr val="bg2"/>
          </a:solidFill>
          <a:ln w="9525">
            <a:solidFill>
              <a:schemeClr val="accent4"/>
            </a:solidFill>
            <a:prstDash val="solid"/>
          </a:ln>
        </p:spPr>
      </p:sp>
      <p:sp>
        <p:nvSpPr>
          <p:cNvPr id="11" name="Tiefe Wert"/>
          <p:cNvSpPr txBox="1"/>
          <p:nvPr/>
        </p:nvSpPr>
        <p:spPr>
          <a:xfrm>
            <a:off x="8229600" y="1874520"/>
            <a:ext cx="3154680" cy="685800"/>
          </a:xfrm>
          <a:prstGeom prst="rect">
            <a:avLst/>
          </a:prstGeom>
          <a:noFill/>
          <a:ln/>
        </p:spPr>
        <p:txBody>
          <a:bodyPr wrap="square" lIns="0" tIns="0" rIns="0" bIns="0" rtlCol="0" anchor="ctr"/>
          <a:lstStyle/>
          <a:p>
            <a:pPr indent="0" marL="0">
              <a:buNone/>
            </a:pPr>
            <a:r>
              <a:rPr lang="en-US" sz="3000" b="1" dirty="0">
                <a:solidFill>
                  <a:schemeClr val="accent1"/>
                </a:solidFill>
              </a:rPr>
              <a:t>450 mm</a:t>
            </a:r>
            <a:endParaRPr lang="en-US" sz="3000" dirty="0"/>
          </a:p>
        </p:txBody>
      </p:sp>
      <p:sp>
        <p:nvSpPr>
          <p:cNvPr id="12" name="Tiefe Text"/>
          <p:cNvSpPr txBox="1"/>
          <p:nvPr/>
        </p:nvSpPr>
        <p:spPr>
          <a:xfrm>
            <a:off x="8229600" y="2606040"/>
            <a:ext cx="3154680" cy="274320"/>
          </a:xfrm>
          <a:prstGeom prst="rect">
            <a:avLst/>
          </a:prstGeom>
          <a:noFill/>
          <a:ln/>
        </p:spPr>
        <p:txBody>
          <a:bodyPr wrap="square" lIns="0" tIns="0" rIns="0" bIns="0" rtlCol="0" anchor="t"/>
          <a:lstStyle/>
          <a:p>
            <a:pPr indent="0" marL="0">
              <a:buNone/>
            </a:pPr>
            <a:r>
              <a:rPr lang="en-US" sz="1200" dirty="0">
                <a:solidFill>
                  <a:schemeClr val="tx2"/>
                </a:solidFill>
              </a:rPr>
              <a:t>Stirnblech senkrecht; Seitenwangen wie V2, 211 → 89 mm tief</a:t>
            </a:r>
            <a:endParaRPr lang="en-US" sz="1200" dirty="0"/>
          </a:p>
        </p:txBody>
      </p:sp>
      <p:sp>
        <p:nvSpPr>
          <p:cNvPr id="13" name="Lochung Kachel"/>
          <p:cNvSpPr/>
          <p:nvPr/>
        </p:nvSpPr>
        <p:spPr>
          <a:xfrm>
            <a:off x="8001000" y="3154680"/>
            <a:ext cx="3611880" cy="1325880"/>
          </a:xfrm>
          <a:prstGeom prst="rect">
            <a:avLst/>
          </a:prstGeom>
          <a:solidFill>
            <a:schemeClr val="bg2"/>
          </a:solidFill>
          <a:ln w="9525">
            <a:solidFill>
              <a:schemeClr val="accent4"/>
            </a:solidFill>
            <a:prstDash val="solid"/>
          </a:ln>
        </p:spPr>
      </p:sp>
      <p:sp>
        <p:nvSpPr>
          <p:cNvPr id="14" name="Lochung Wert"/>
          <p:cNvSpPr txBox="1"/>
          <p:nvPr/>
        </p:nvSpPr>
        <p:spPr>
          <a:xfrm>
            <a:off x="8229600" y="3337560"/>
            <a:ext cx="3154680" cy="685800"/>
          </a:xfrm>
          <a:prstGeom prst="rect">
            <a:avLst/>
          </a:prstGeom>
          <a:noFill/>
          <a:ln/>
        </p:spPr>
        <p:txBody>
          <a:bodyPr wrap="square" lIns="0" tIns="0" rIns="0" bIns="0" rtlCol="0" anchor="ctr"/>
          <a:lstStyle/>
          <a:p>
            <a:pPr indent="0" marL="0">
              <a:buNone/>
            </a:pPr>
            <a:r>
              <a:rPr lang="en-US" sz="3000" b="1" dirty="0">
                <a:solidFill>
                  <a:schemeClr val="tx1"/>
                </a:solidFill>
              </a:rPr>
              <a:t>10 %</a:t>
            </a:r>
            <a:endParaRPr lang="en-US" sz="3000" dirty="0"/>
          </a:p>
        </p:txBody>
      </p:sp>
      <p:sp>
        <p:nvSpPr>
          <p:cNvPr id="15" name="Lochung Text"/>
          <p:cNvSpPr txBox="1"/>
          <p:nvPr/>
        </p:nvSpPr>
        <p:spPr>
          <a:xfrm>
            <a:off x="8229600" y="4069080"/>
            <a:ext cx="3154680" cy="274320"/>
          </a:xfrm>
          <a:prstGeom prst="rect">
            <a:avLst/>
          </a:prstGeom>
          <a:noFill/>
          <a:ln/>
        </p:spPr>
        <p:txBody>
          <a:bodyPr wrap="square" lIns="0" tIns="0" rIns="0" bIns="0" rtlCol="0" anchor="t"/>
          <a:lstStyle/>
          <a:p>
            <a:pPr indent="0" marL="0">
              <a:buNone/>
            </a:pPr>
            <a:r>
              <a:rPr lang="en-US" sz="1200" dirty="0">
                <a:solidFill>
                  <a:schemeClr val="tx2"/>
                </a:solidFill>
              </a:rPr>
              <a:t>Lochung Ø 4,3 mm im Raster 12 mm, Blech 1,5 mm, 1.204 Löcher</a:t>
            </a:r>
            <a:endParaRPr lang="en-US" sz="1200" dirty="0"/>
          </a:p>
        </p:txBody>
      </p:sp>
      <p:sp>
        <p:nvSpPr>
          <p:cNvPr id="16" name="Lichtstrom Kachel"/>
          <p:cNvSpPr/>
          <p:nvPr/>
        </p:nvSpPr>
        <p:spPr>
          <a:xfrm>
            <a:off x="8001000" y="4617720"/>
            <a:ext cx="3611880" cy="1325880"/>
          </a:xfrm>
          <a:prstGeom prst="rect">
            <a:avLst/>
          </a:prstGeom>
          <a:solidFill>
            <a:schemeClr val="bg2"/>
          </a:solidFill>
          <a:ln w="9525">
            <a:solidFill>
              <a:schemeClr val="accent4"/>
            </a:solidFill>
            <a:prstDash val="solid"/>
          </a:ln>
        </p:spPr>
      </p:sp>
      <p:sp>
        <p:nvSpPr>
          <p:cNvPr id="17" name="Lichtstrom Wert"/>
          <p:cNvSpPr txBox="1"/>
          <p:nvPr/>
        </p:nvSpPr>
        <p:spPr>
          <a:xfrm>
            <a:off x="8229600" y="4800600"/>
            <a:ext cx="3154680" cy="685800"/>
          </a:xfrm>
          <a:prstGeom prst="rect">
            <a:avLst/>
          </a:prstGeom>
          <a:noFill/>
          <a:ln/>
        </p:spPr>
        <p:txBody>
          <a:bodyPr wrap="square" lIns="0" tIns="0" rIns="0" bIns="0" rtlCol="0" anchor="ctr"/>
          <a:lstStyle/>
          <a:p>
            <a:pPr indent="0" marL="0">
              <a:buNone/>
            </a:pPr>
            <a:r>
              <a:rPr lang="en-US" sz="3000" b="1" dirty="0">
                <a:solidFill>
                  <a:schemeClr val="tx1"/>
                </a:solidFill>
              </a:rPr>
              <a:t>–2 %</a:t>
            </a:r>
            <a:endParaRPr lang="en-US" sz="3000" dirty="0"/>
          </a:p>
        </p:txBody>
      </p:sp>
      <p:sp>
        <p:nvSpPr>
          <p:cNvPr id="18" name="Lichtstrom Text"/>
          <p:cNvSpPr txBox="1"/>
          <p:nvPr/>
        </p:nvSpPr>
        <p:spPr>
          <a:xfrm>
            <a:off x="8229600" y="5532120"/>
            <a:ext cx="3154680" cy="274320"/>
          </a:xfrm>
          <a:prstGeom prst="rect">
            <a:avLst/>
          </a:prstGeom>
          <a:noFill/>
          <a:ln/>
        </p:spPr>
        <p:txBody>
          <a:bodyPr wrap="square" lIns="0" tIns="0" rIns="0" bIns="0" rtlCol="0" anchor="t"/>
          <a:lstStyle/>
          <a:p>
            <a:pPr indent="0" marL="0">
              <a:buNone/>
            </a:pPr>
            <a:r>
              <a:rPr lang="en-US" sz="1200" dirty="0">
                <a:solidFill>
                  <a:schemeClr val="tx2"/>
                </a:solidFill>
              </a:rPr>
              <a:t>Lichtstrom 109.236 lm statt 111.246 lm (gleiche Optik wie V2)</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LICHTVERTEILUNG NACH HINTEN</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Bis 55° wie Blende 3, darüber schärfer abgeschnitten</a:t>
            </a:r>
            <a:endParaRPr lang="en-US" sz="2800" dirty="0"/>
          </a:p>
        </p:txBody>
      </p:sp>
      <p:graphicFrame>
        <p:nvGraphicFramePr>
          <p:cNvPr id="4" name="B3a LVK C180" descr=""/>
          <p:cNvGraphicFramePr/>
          <p:nvPr/>
        </p:nvGraphicFramePr>
        <p:xfrm>
          <a:off x="548640" y="1645920"/>
          <a:ext cx="722376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046720" y="1691640"/>
          <a:ext cx="3566160" cy="914400"/>
        </p:xfrm>
        <a:graphic>
          <a:graphicData uri="http://schemas.openxmlformats.org/drawingml/2006/table">
            <a:tbl>
              <a:tblPr/>
              <a:tblGrid>
                <a:gridCol w="1188720"/>
                <a:gridCol w="822960"/>
                <a:gridCol w="777240"/>
                <a:gridCol w="777240"/>
              </a:tblGrid>
              <a:tr h="0">
                <a:tc>
                  <a:txBody>
                    <a:bodyPr/>
                    <a:lstStyle/>
                    <a:p>
                      <a:pPr indent="0" marL="0">
                        <a:buNone/>
                      </a:pPr>
                      <a:r>
                        <a:rPr lang="en-US" sz="1100" b="1" dirty="0">
                          <a:solidFill>
                            <a:schemeClr val="tx2"/>
                          </a:solidFill>
                        </a:rPr>
                        <a:t>C180, γ</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B3</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B3a</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50°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10.381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5.177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5.781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55°</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8.597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3.260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3.520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60°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6.267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2.430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746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65°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4.658</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1.858</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798</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2.238</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1.386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628</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6" name="B3a LVK Hinweis"/>
          <p:cNvSpPr txBox="1"/>
          <p:nvPr/>
        </p:nvSpPr>
        <p:spPr>
          <a:xfrm>
            <a:off x="8046720" y="3886200"/>
            <a:ext cx="3566160" cy="2194560"/>
          </a:xfrm>
          <a:prstGeom prst="rect">
            <a:avLst/>
          </a:prstGeom>
          <a:noFill/>
          <a:ln/>
        </p:spPr>
        <p:txBody>
          <a:bodyPr wrap="square" lIns="0" tIns="0" rIns="0" bIns="0" rtlCol="0" anchor="t"/>
          <a:lstStyle/>
          <a:p>
            <a:pPr indent="0" marL="0">
              <a:buNone/>
            </a:pPr>
            <a:r>
              <a:rPr lang="en-US" sz="1200" dirty="0">
                <a:solidFill>
                  <a:schemeClr val="tx2"/>
                </a:solidFill>
              </a:rPr>
              <a:t>Werte in cd, je Lichtstrom der Variante. Das gerade Blech schneidet schärfer ab als die Optik der Blende 3: bis 55° passt es, ab 60° geht weniger Licht nach hinten. Schräg nach hinten (C150) bleibt es wie V2, weil die Wangen nicht tiefer sind. Nach vorn wie V2.</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BEWERTUNG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B3a blendet kaum mehr als Blende 3 und hält Klasse I</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383280"/>
                <a:gridCol w="2560320"/>
                <a:gridCol w="2560320"/>
                <a:gridCol w="2560320"/>
              </a:tblGrid>
              <a:tr h="0">
                <a:tc>
                  <a:txBody>
                    <a:bodyPr/>
                    <a:lstStyle/>
                    <a:p>
                      <a:pPr indent="0" marL="0">
                        <a:buNone/>
                      </a:pPr>
                      <a:r>
                        <a:rPr lang="en-US" sz="1100" b="1" dirty="0">
                          <a:solidFill>
                            <a:schemeClr val="tx2"/>
                          </a:solidFill>
                        </a:rPr>
                        <a:t>KRITERIUM</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 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BLENDE 3</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B3a NEU</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Person, GR 5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24,0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14,0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5,4</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Person, GR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21,0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13,7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15,1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 am Auge, E_v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55 / 72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22 / 37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9 / 40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Zuschauer, GR max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13</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Aufhellung Rückwand, Ē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7,1 / 16,0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3,4 / 6,6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4,9 / 10,1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Feld 8 m, durchgehende Reihe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Klasse I (U0 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Klasse III (U0 0,69)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Klasse I (U0 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Umsetzung</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vorhanden</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andere Optik</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nur neues Blech</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5" name="B3a Einordnung"/>
          <p:cNvSpPr txBox="1"/>
          <p:nvPr/>
        </p:nvSpPr>
        <p:spPr>
          <a:xfrm>
            <a:off x="548640" y="4800600"/>
            <a:ext cx="11064240" cy="1097280"/>
          </a:xfrm>
          <a:prstGeom prst="rect">
            <a:avLst/>
          </a:prstGeom>
          <a:noFill/>
          <a:ln/>
        </p:spPr>
        <p:txBody>
          <a:bodyPr wrap="square" lIns="0" tIns="0" rIns="0" bIns="0" rtlCol="0" anchor="t"/>
          <a:lstStyle/>
          <a:p>
            <a:pPr indent="0" marL="0">
              <a:buNone/>
            </a:pPr>
            <a:r>
              <a:rPr lang="en-US" sz="1400" b="1" dirty="0">
                <a:solidFill>
                  <a:schemeClr val="accent1"/>
                </a:solidFill>
              </a:rPr>
              <a:t>Einordnung: </a:t>
            </a:r>
            <a:pPr indent="0" marL="0">
              <a:buNone/>
            </a:pPr>
            <a:r>
              <a:rPr lang="en-US" sz="1400" dirty="0">
                <a:solidFill>
                  <a:schemeClr val="tx1"/>
                </a:solidFill>
              </a:rPr>
              <a:t>B3a kommt bei der Blendung nahe an Blende 3, braucht keine neue Optik und hält in der Arena Klasse I wie V2 (U0 genau an der Grenze). Die Rückwand wird etwas heller als mit Blende 3. Das freie Stirnblech ist an Unter- und Seitenkanten 20 mm nach hinten gekantet. Vor dem Einsatz ein Muster bauen und vermessen.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KOMPAKTE BLENDE · PRINZIP</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Eine Lamelle unter dem Glas spart mehr als die halbe Bautiefe</a:t>
            </a:r>
            <a:endParaRPr lang="en-US" sz="2800" dirty="0"/>
          </a:p>
        </p:txBody>
      </p:sp>
      <p:sp>
        <p:nvSpPr>
          <p:cNvPr id="4" name="Prinzip 1 Nummer"/>
          <p:cNvSpPr txBox="1"/>
          <p:nvPr/>
        </p:nvSpPr>
        <p:spPr>
          <a:xfrm>
            <a:off x="548640" y="169164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1</a:t>
            </a:r>
            <a:endParaRPr lang="en-US" sz="2000" dirty="0"/>
          </a:p>
        </p:txBody>
      </p:sp>
      <p:sp>
        <p:nvSpPr>
          <p:cNvPr id="5" name="Prinzip 1 Titel"/>
          <p:cNvSpPr txBox="1"/>
          <p:nvPr/>
        </p:nvSpPr>
        <p:spPr>
          <a:xfrm>
            <a:off x="1051560" y="169164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Warum B3a 450 mm tief ist</a:t>
            </a:r>
            <a:endParaRPr lang="en-US" sz="1700" dirty="0"/>
          </a:p>
        </p:txBody>
      </p:sp>
      <p:sp>
        <p:nvSpPr>
          <p:cNvPr id="6" name="Prinzip 1 Text"/>
          <p:cNvSpPr txBox="1"/>
          <p:nvPr/>
        </p:nvSpPr>
        <p:spPr>
          <a:xfrm>
            <a:off x="1051560" y="2148840"/>
            <a:ext cx="4892040" cy="1463040"/>
          </a:xfrm>
          <a:prstGeom prst="rect">
            <a:avLst/>
          </a:prstGeom>
          <a:noFill/>
          <a:ln/>
        </p:spPr>
        <p:txBody>
          <a:bodyPr wrap="square" lIns="0" tIns="0" rIns="0" bIns="0" rtlCol="0" anchor="t"/>
          <a:lstStyle/>
          <a:p>
            <a:pPr indent="0" marL="0">
              <a:buNone/>
            </a:pPr>
            <a:r>
              <a:rPr lang="en-US" sz="1400" dirty="0">
                <a:solidFill>
                  <a:schemeClr val="tx1"/>
                </a:solidFill>
              </a:rPr>
              <a:t>Ein Stirnblech allein muss die ganze Glaslänge von 766 mm abdecken: Tiefe = Länge / tan γ, für 60° rund 440 mm.</a:t>
            </a:r>
            <a:endParaRPr lang="en-US" sz="1400" dirty="0"/>
          </a:p>
        </p:txBody>
      </p:sp>
      <p:sp>
        <p:nvSpPr>
          <p:cNvPr id="7" name="Prinzip 2 Nummer"/>
          <p:cNvSpPr txBox="1"/>
          <p:nvPr/>
        </p:nvSpPr>
        <p:spPr>
          <a:xfrm>
            <a:off x="548640" y="320040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2</a:t>
            </a:r>
            <a:endParaRPr lang="en-US" sz="2000" dirty="0"/>
          </a:p>
        </p:txBody>
      </p:sp>
      <p:sp>
        <p:nvSpPr>
          <p:cNvPr id="8" name="Prinzip 2 Titel"/>
          <p:cNvSpPr txBox="1"/>
          <p:nvPr/>
        </p:nvSpPr>
        <p:spPr>
          <a:xfrm>
            <a:off x="1051560" y="320040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Lamelle teilt die Fläche</a:t>
            </a:r>
            <a:endParaRPr lang="en-US" sz="1700" dirty="0"/>
          </a:p>
        </p:txBody>
      </p:sp>
      <p:sp>
        <p:nvSpPr>
          <p:cNvPr id="9" name="Prinzip 2 Text"/>
          <p:cNvSpPr txBox="1"/>
          <p:nvPr/>
        </p:nvSpPr>
        <p:spPr>
          <a:xfrm>
            <a:off x="1051560" y="3657600"/>
            <a:ext cx="4892040" cy="1463040"/>
          </a:xfrm>
          <a:prstGeom prst="rect">
            <a:avLst/>
          </a:prstGeom>
          <a:noFill/>
          <a:ln/>
        </p:spPr>
        <p:txBody>
          <a:bodyPr wrap="square" lIns="0" tIns="0" rIns="0" bIns="0" rtlCol="0" anchor="t"/>
          <a:lstStyle/>
          <a:p>
            <a:pPr indent="0" marL="0">
              <a:buNone/>
            </a:pPr>
            <a:r>
              <a:rPr lang="en-US" sz="1400" dirty="0">
                <a:solidFill>
                  <a:schemeClr val="tx1"/>
                </a:solidFill>
              </a:rPr>
              <a:t>Eine Lamelle unter der Glasmitte halbiert die abzudeckende Länge. Um 30° nach vorn geneigt, lässt sie den Hauptstrahl (C0, γ 35°) durch.</a:t>
            </a:r>
            <a:endParaRPr lang="en-US" sz="1400" dirty="0"/>
          </a:p>
        </p:txBody>
      </p:sp>
      <p:sp>
        <p:nvSpPr>
          <p:cNvPr id="10" name="Prinzip 3 Nummer"/>
          <p:cNvSpPr txBox="1"/>
          <p:nvPr/>
        </p:nvSpPr>
        <p:spPr>
          <a:xfrm>
            <a:off x="548640" y="4709160"/>
            <a:ext cx="457200" cy="411480"/>
          </a:xfrm>
          <a:prstGeom prst="rect">
            <a:avLst/>
          </a:prstGeom>
          <a:noFill/>
          <a:ln/>
        </p:spPr>
        <p:txBody>
          <a:bodyPr wrap="square" lIns="0" tIns="0" rIns="0" bIns="0" rtlCol="0" anchor="ctr"/>
          <a:lstStyle/>
          <a:p>
            <a:pPr indent="0" marL="0">
              <a:buNone/>
            </a:pPr>
            <a:r>
              <a:rPr lang="en-US" sz="2000" b="1" dirty="0">
                <a:solidFill>
                  <a:schemeClr val="accent1"/>
                </a:solidFill>
              </a:rPr>
              <a:t>3</a:t>
            </a:r>
            <a:endParaRPr lang="en-US" sz="2000" dirty="0"/>
          </a:p>
        </p:txBody>
      </p:sp>
      <p:sp>
        <p:nvSpPr>
          <p:cNvPr id="11" name="Prinzip 3 Titel"/>
          <p:cNvSpPr txBox="1"/>
          <p:nvPr/>
        </p:nvSpPr>
        <p:spPr>
          <a:xfrm>
            <a:off x="1051560" y="4709160"/>
            <a:ext cx="4892040" cy="411480"/>
          </a:xfrm>
          <a:prstGeom prst="rect">
            <a:avLst/>
          </a:prstGeom>
          <a:noFill/>
          <a:ln/>
        </p:spPr>
        <p:txBody>
          <a:bodyPr wrap="square" lIns="0" tIns="0" rIns="0" bIns="0" rtlCol="0" anchor="ctr"/>
          <a:lstStyle/>
          <a:p>
            <a:pPr indent="0" marL="0">
              <a:buNone/>
            </a:pPr>
            <a:r>
              <a:rPr lang="en-US" sz="1700" b="1" dirty="0">
                <a:solidFill>
                  <a:schemeClr val="tx1"/>
                </a:solidFill>
              </a:rPr>
              <a:t>Seitliche Form: ohne Wangen</a:t>
            </a:r>
            <a:endParaRPr lang="en-US" sz="1700" dirty="0"/>
          </a:p>
        </p:txBody>
      </p:sp>
      <p:sp>
        <p:nvSpPr>
          <p:cNvPr id="12" name="Prinzip 3 Text"/>
          <p:cNvSpPr txBox="1"/>
          <p:nvPr/>
        </p:nvSpPr>
        <p:spPr>
          <a:xfrm>
            <a:off x="1051560" y="5166360"/>
            <a:ext cx="4892040" cy="1463040"/>
          </a:xfrm>
          <a:prstGeom prst="rect">
            <a:avLst/>
          </a:prstGeom>
          <a:noFill/>
          <a:ln/>
        </p:spPr>
        <p:txBody>
          <a:bodyPr wrap="square" lIns="0" tIns="0" rIns="0" bIns="0" rtlCol="0" anchor="t"/>
          <a:lstStyle/>
          <a:p>
            <a:pPr indent="0" marL="0">
              <a:buNone/>
            </a:pPr>
            <a:r>
              <a:rPr lang="en-US" sz="1400" dirty="0">
                <a:solidFill>
                  <a:schemeClr val="tx1"/>
                </a:solidFill>
              </a:rPr>
              <a:t>Wangen schneiden Licht zur Seite ab: je nach Länge 2–20 % Lichtstrom und Gleichmäßigkeit weg, ohne die Blendung nach hinten zu senken.</a:t>
            </a:r>
            <a:endParaRPr lang="en-US" sz="1400" dirty="0"/>
          </a:p>
        </p:txBody>
      </p:sp>
      <p:graphicFrame>
        <p:nvGraphicFramePr>
          <p:cNvPr id="13" name="Kompakt Studie GR" descr=""/>
          <p:cNvGraphicFramePr/>
          <p:nvPr/>
        </p:nvGraphicFramePr>
        <p:xfrm>
          <a:off x="6309360" y="1645920"/>
          <a:ext cx="530352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AUSLEGUNG B3k</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B3k: 188 mm statt 450 mm Bautiefe</a:t>
            </a:r>
            <a:endParaRPr lang="en-US" sz="2800" dirty="0"/>
          </a:p>
        </p:txBody>
      </p:sp>
      <p:pic>
        <p:nvPicPr>
          <p:cNvPr id="4" name="B3k Ansicht hinten" descr="SIRIUS 1000 mit kompakter Blende B3k, Ansicht von hinten unten">    </p:cNvPr>
          <p:cNvPicPr>
            <a:picLocks noChangeAspect="1"/>
          </p:cNvPicPr>
          <p:nvPr/>
        </p:nvPicPr>
        <p:blipFill>
          <a:blip r:embed="rId1"/>
          <a:stretch>
            <a:fillRect/>
          </a:stretch>
        </p:blipFill>
        <p:spPr>
          <a:xfrm>
            <a:off x="548640" y="1737360"/>
            <a:ext cx="4023360" cy="2989174"/>
          </a:xfrm>
          <a:prstGeom prst="rect">
            <a:avLst/>
          </a:prstGeom>
        </p:spPr>
      </p:pic>
      <p:sp>
        <p:nvSpPr>
          <p:cNvPr id="5" name="B3k Bildunterschrift"/>
          <p:cNvSpPr txBox="1"/>
          <p:nvPr/>
        </p:nvSpPr>
        <p:spPr>
          <a:xfrm>
            <a:off x="548640" y="4846320"/>
            <a:ext cx="4023360" cy="320040"/>
          </a:xfrm>
          <a:prstGeom prst="rect">
            <a:avLst/>
          </a:prstGeom>
          <a:noFill/>
          <a:ln/>
        </p:spPr>
        <p:txBody>
          <a:bodyPr wrap="square" lIns="0" tIns="0" rIns="0" bIns="0" rtlCol="0" anchor="ctr"/>
          <a:lstStyle/>
          <a:p>
            <a:pPr indent="0" marL="0">
              <a:buNone/>
            </a:pPr>
            <a:r>
              <a:rPr lang="en-US" sz="1000" dirty="0">
                <a:solidFill>
                  <a:schemeClr val="tx2"/>
                </a:solidFill>
              </a:rPr>
              <a:t>B3k von hinten unten: Stirnblech gelocht, Lamelle geschlossen</a:t>
            </a:r>
            <a:endParaRPr lang="en-US" sz="1000" dirty="0"/>
          </a:p>
        </p:txBody>
      </p:sp>
      <p:sp>
        <p:nvSpPr>
          <p:cNvPr id="6" name="Seitenansicht B3a Titel"/>
          <p:cNvSpPr txBox="1"/>
          <p:nvPr/>
        </p:nvSpPr>
        <p:spPr>
          <a:xfrm>
            <a:off x="4846320" y="1645920"/>
            <a:ext cx="2834640" cy="274320"/>
          </a:xfrm>
          <a:prstGeom prst="rect">
            <a:avLst/>
          </a:prstGeom>
          <a:noFill/>
          <a:ln/>
        </p:spPr>
        <p:txBody>
          <a:bodyPr wrap="square" lIns="0" tIns="0" rIns="0" bIns="0" rtlCol="0" anchor="ctr"/>
          <a:lstStyle/>
          <a:p>
            <a:pPr indent="0" marL="0">
              <a:buNone/>
            </a:pPr>
            <a:r>
              <a:rPr lang="en-US" sz="1100" b="1" dirty="0">
                <a:solidFill>
                  <a:schemeClr val="tx2"/>
                </a:solidFill>
              </a:rPr>
              <a:t>B3a (450 mm)</a:t>
            </a:r>
            <a:endParaRPr lang="en-US" sz="1100" dirty="0"/>
          </a:p>
        </p:txBody>
      </p:sp>
      <p:pic>
        <p:nvPicPr>
          <p:cNvPr id="7" name="Seitenansicht B3a klein" descr="Seitenansicht mit Blende B3a">    </p:cNvPr>
          <p:cNvPicPr>
            <a:picLocks noChangeAspect="1"/>
          </p:cNvPicPr>
          <p:nvPr/>
        </p:nvPicPr>
        <p:blipFill>
          <a:blip r:embed="rId2"/>
          <a:stretch>
            <a:fillRect/>
          </a:stretch>
        </p:blipFill>
        <p:spPr>
          <a:xfrm>
            <a:off x="4846320" y="1920240"/>
            <a:ext cx="2834640" cy="2031797"/>
          </a:xfrm>
          <a:prstGeom prst="rect">
            <a:avLst/>
          </a:prstGeom>
        </p:spPr>
      </p:pic>
      <p:sp>
        <p:nvSpPr>
          <p:cNvPr id="8" name="Seitenansicht B3k Titel"/>
          <p:cNvSpPr txBox="1"/>
          <p:nvPr/>
        </p:nvSpPr>
        <p:spPr>
          <a:xfrm>
            <a:off x="4846320" y="4114800"/>
            <a:ext cx="2834640" cy="274320"/>
          </a:xfrm>
          <a:prstGeom prst="rect">
            <a:avLst/>
          </a:prstGeom>
          <a:noFill/>
          <a:ln/>
        </p:spPr>
        <p:txBody>
          <a:bodyPr wrap="square" lIns="0" tIns="0" rIns="0" bIns="0" rtlCol="0" anchor="ctr"/>
          <a:lstStyle/>
          <a:p>
            <a:pPr indent="0" marL="0">
              <a:buNone/>
            </a:pPr>
            <a:r>
              <a:rPr lang="en-US" sz="1100" b="1" dirty="0">
                <a:solidFill>
                  <a:schemeClr val="accent1"/>
                </a:solidFill>
              </a:rPr>
              <a:t>B3k (188 mm)</a:t>
            </a:r>
            <a:endParaRPr lang="en-US" sz="1100" dirty="0"/>
          </a:p>
        </p:txBody>
      </p:sp>
      <p:pic>
        <p:nvPicPr>
          <p:cNvPr id="9" name="Seitenansicht B3k" descr="Seitenansicht mit kompakter Blende B3k">    </p:cNvPr>
          <p:cNvPicPr>
            <a:picLocks noChangeAspect="1"/>
          </p:cNvPicPr>
          <p:nvPr/>
        </p:nvPicPr>
        <p:blipFill>
          <a:blip r:embed="rId3"/>
          <a:stretch>
            <a:fillRect/>
          </a:stretch>
        </p:blipFill>
        <p:spPr>
          <a:xfrm>
            <a:off x="4846320" y="4389120"/>
            <a:ext cx="2834640" cy="1473098"/>
          </a:xfrm>
          <a:prstGeom prst="rect">
            <a:avLst/>
          </a:prstGeom>
        </p:spPr>
      </p:pic>
      <p:sp>
        <p:nvSpPr>
          <p:cNvPr id="10" name="B3k Tiefe Kachel"/>
          <p:cNvSpPr/>
          <p:nvPr/>
        </p:nvSpPr>
        <p:spPr>
          <a:xfrm>
            <a:off x="8001000" y="1691640"/>
            <a:ext cx="3611880" cy="1325880"/>
          </a:xfrm>
          <a:prstGeom prst="rect">
            <a:avLst/>
          </a:prstGeom>
          <a:solidFill>
            <a:schemeClr val="bg2"/>
          </a:solidFill>
          <a:ln w="9525">
            <a:solidFill>
              <a:schemeClr val="accent4"/>
            </a:solidFill>
            <a:prstDash val="solid"/>
          </a:ln>
        </p:spPr>
      </p:sp>
      <p:sp>
        <p:nvSpPr>
          <p:cNvPr id="11" name="B3k Tiefe Wert"/>
          <p:cNvSpPr txBox="1"/>
          <p:nvPr/>
        </p:nvSpPr>
        <p:spPr>
          <a:xfrm>
            <a:off x="8229600" y="1874520"/>
            <a:ext cx="3154680" cy="685800"/>
          </a:xfrm>
          <a:prstGeom prst="rect">
            <a:avLst/>
          </a:prstGeom>
          <a:noFill/>
          <a:ln/>
        </p:spPr>
        <p:txBody>
          <a:bodyPr wrap="square" lIns="0" tIns="0" rIns="0" bIns="0" rtlCol="0" anchor="ctr"/>
          <a:lstStyle/>
          <a:p>
            <a:pPr indent="0" marL="0">
              <a:buNone/>
            </a:pPr>
            <a:r>
              <a:rPr lang="en-US" sz="3000" b="1" dirty="0">
                <a:solidFill>
                  <a:schemeClr val="accent1"/>
                </a:solidFill>
              </a:rPr>
              <a:t>188 mm</a:t>
            </a:r>
            <a:endParaRPr lang="en-US" sz="3000" dirty="0"/>
          </a:p>
        </p:txBody>
      </p:sp>
      <p:sp>
        <p:nvSpPr>
          <p:cNvPr id="12" name="B3k Tiefe Text"/>
          <p:cNvSpPr txBox="1"/>
          <p:nvPr/>
        </p:nvSpPr>
        <p:spPr>
          <a:xfrm>
            <a:off x="8229600" y="2606040"/>
            <a:ext cx="3154680" cy="274320"/>
          </a:xfrm>
          <a:prstGeom prst="rect">
            <a:avLst/>
          </a:prstGeom>
          <a:noFill/>
          <a:ln/>
        </p:spPr>
        <p:txBody>
          <a:bodyPr wrap="square" lIns="0" tIns="0" rIns="0" bIns="0" rtlCol="0" anchor="t"/>
          <a:lstStyle/>
          <a:p>
            <a:pPr indent="0" marL="0">
              <a:buNone/>
            </a:pPr>
            <a:r>
              <a:rPr lang="en-US" sz="1200" dirty="0">
                <a:solidFill>
                  <a:schemeClr val="tx2"/>
                </a:solidFill>
              </a:rPr>
              <a:t>58 % flacher als B3a; Stirnblech senkrecht, eine Lamelle unter der Glasmitte</a:t>
            </a:r>
            <a:endParaRPr lang="en-US" sz="1200" dirty="0"/>
          </a:p>
        </p:txBody>
      </p:sp>
      <p:sp>
        <p:nvSpPr>
          <p:cNvPr id="13" name="B3k Lamelle Kachel"/>
          <p:cNvSpPr/>
          <p:nvPr/>
        </p:nvSpPr>
        <p:spPr>
          <a:xfrm>
            <a:off x="8001000" y="3154680"/>
            <a:ext cx="3611880" cy="1325880"/>
          </a:xfrm>
          <a:prstGeom prst="rect">
            <a:avLst/>
          </a:prstGeom>
          <a:solidFill>
            <a:schemeClr val="bg2"/>
          </a:solidFill>
          <a:ln w="9525">
            <a:solidFill>
              <a:schemeClr val="accent4"/>
            </a:solidFill>
            <a:prstDash val="solid"/>
          </a:ln>
        </p:spPr>
      </p:sp>
      <p:sp>
        <p:nvSpPr>
          <p:cNvPr id="14" name="B3k Lamelle Wert"/>
          <p:cNvSpPr txBox="1"/>
          <p:nvPr/>
        </p:nvSpPr>
        <p:spPr>
          <a:xfrm>
            <a:off x="8229600" y="3337560"/>
            <a:ext cx="3154680" cy="685800"/>
          </a:xfrm>
          <a:prstGeom prst="rect">
            <a:avLst/>
          </a:prstGeom>
          <a:noFill/>
          <a:ln/>
        </p:spPr>
        <p:txBody>
          <a:bodyPr wrap="square" lIns="0" tIns="0" rIns="0" bIns="0" rtlCol="0" anchor="ctr"/>
          <a:lstStyle/>
          <a:p>
            <a:pPr indent="0" marL="0">
              <a:buNone/>
            </a:pPr>
            <a:r>
              <a:rPr lang="en-US" sz="3000" b="1" dirty="0">
                <a:solidFill>
                  <a:schemeClr val="tx1"/>
                </a:solidFill>
              </a:rPr>
              <a:t>30°</a:t>
            </a:r>
            <a:endParaRPr lang="en-US" sz="3000" dirty="0"/>
          </a:p>
        </p:txBody>
      </p:sp>
      <p:sp>
        <p:nvSpPr>
          <p:cNvPr id="15" name="B3k Lamelle Text"/>
          <p:cNvSpPr txBox="1"/>
          <p:nvPr/>
        </p:nvSpPr>
        <p:spPr>
          <a:xfrm>
            <a:off x="8229600" y="4069080"/>
            <a:ext cx="3154680" cy="274320"/>
          </a:xfrm>
          <a:prstGeom prst="rect">
            <a:avLst/>
          </a:prstGeom>
          <a:noFill/>
          <a:ln/>
        </p:spPr>
        <p:txBody>
          <a:bodyPr wrap="square" lIns="0" tIns="0" rIns="0" bIns="0" rtlCol="0" anchor="t"/>
          <a:lstStyle/>
          <a:p>
            <a:pPr indent="0" marL="0">
              <a:buNone/>
            </a:pPr>
            <a:r>
              <a:rPr lang="en-US" sz="1200" dirty="0">
                <a:solidFill>
                  <a:schemeClr val="tx2"/>
                </a:solidFill>
              </a:rPr>
              <a:t>Lamelle geschlossen, nach vorn geneigt, 15 mm unter dem Glas; Stirnblech 10 % gelocht</a:t>
            </a:r>
            <a:endParaRPr lang="en-US" sz="1200" dirty="0"/>
          </a:p>
        </p:txBody>
      </p:sp>
      <p:sp>
        <p:nvSpPr>
          <p:cNvPr id="16" name="B3k Lichtstrom Kachel"/>
          <p:cNvSpPr/>
          <p:nvPr/>
        </p:nvSpPr>
        <p:spPr>
          <a:xfrm>
            <a:off x="8001000" y="4617720"/>
            <a:ext cx="3611880" cy="1325880"/>
          </a:xfrm>
          <a:prstGeom prst="rect">
            <a:avLst/>
          </a:prstGeom>
          <a:solidFill>
            <a:schemeClr val="bg2"/>
          </a:solidFill>
          <a:ln w="9525">
            <a:solidFill>
              <a:schemeClr val="accent4"/>
            </a:solidFill>
            <a:prstDash val="solid"/>
          </a:ln>
        </p:spPr>
      </p:sp>
      <p:sp>
        <p:nvSpPr>
          <p:cNvPr id="17" name="B3k Lichtstrom Wert"/>
          <p:cNvSpPr txBox="1"/>
          <p:nvPr/>
        </p:nvSpPr>
        <p:spPr>
          <a:xfrm>
            <a:off x="8229600" y="4800600"/>
            <a:ext cx="3154680" cy="685800"/>
          </a:xfrm>
          <a:prstGeom prst="rect">
            <a:avLst/>
          </a:prstGeom>
          <a:noFill/>
          <a:ln/>
        </p:spPr>
        <p:txBody>
          <a:bodyPr wrap="square" lIns="0" tIns="0" rIns="0" bIns="0" rtlCol="0" anchor="ctr"/>
          <a:lstStyle/>
          <a:p>
            <a:pPr indent="0" marL="0">
              <a:buNone/>
            </a:pPr>
            <a:r>
              <a:rPr lang="en-US" sz="3000" b="1" dirty="0">
                <a:solidFill>
                  <a:schemeClr val="tx1"/>
                </a:solidFill>
              </a:rPr>
              <a:t>–4,1 %</a:t>
            </a:r>
            <a:endParaRPr lang="en-US" sz="3000" dirty="0"/>
          </a:p>
        </p:txBody>
      </p:sp>
      <p:sp>
        <p:nvSpPr>
          <p:cNvPr id="18" name="B3k Lichtstrom Text"/>
          <p:cNvSpPr txBox="1"/>
          <p:nvPr/>
        </p:nvSpPr>
        <p:spPr>
          <a:xfrm>
            <a:off x="8229600" y="5532120"/>
            <a:ext cx="3154680" cy="274320"/>
          </a:xfrm>
          <a:prstGeom prst="rect">
            <a:avLst/>
          </a:prstGeom>
          <a:noFill/>
          <a:ln/>
        </p:spPr>
        <p:txBody>
          <a:bodyPr wrap="square" lIns="0" tIns="0" rIns="0" bIns="0" rtlCol="0" anchor="t"/>
          <a:lstStyle/>
          <a:p>
            <a:pPr indent="0" marL="0">
              <a:buNone/>
            </a:pPr>
            <a:r>
              <a:rPr lang="en-US" sz="1200" dirty="0">
                <a:solidFill>
                  <a:schemeClr val="tx2"/>
                </a:solidFill>
              </a:rPr>
              <a:t>Lichtstrom 106.577 lm; keine Seitenwangen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BEWERTUNG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B3k blendet wie B3a, erreicht in der Arena aber nur Klasse III</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017520"/>
                <a:gridCol w="1920240"/>
                <a:gridCol w="2011680"/>
                <a:gridCol w="2011680"/>
                <a:gridCol w="2103120"/>
              </a:tblGrid>
              <a:tr h="0">
                <a:tc>
                  <a:txBody>
                    <a:bodyPr/>
                    <a:lstStyle/>
                    <a:p>
                      <a:pPr indent="0" marL="0">
                        <a:buNone/>
                      </a:pPr>
                      <a:r>
                        <a:rPr lang="en-US" sz="1100" b="1" dirty="0">
                          <a:solidFill>
                            <a:schemeClr val="tx2"/>
                          </a:solidFill>
                        </a:rPr>
                        <a:t>KRITERIUM</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 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BLENDE 3</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B3a</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B3k KOMPAKT</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Bautiefe unter dem Glas</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211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450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188 mm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Lichtstrom gegenüber V2</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100 %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100 % (gesetzt)</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98 %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96 %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Person, GR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24,0 / 21,0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14,0 / 13,7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5,4 / 15,1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6,5 / 14,7</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 am Auge, E_v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55 / 72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22 / 37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9 / 40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 / 37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Zuschauer, GR max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13</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Aufhellung Rückwand, Ē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7,1 / 16,0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3,4 / 6,6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4,9 / 10,1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3,7 / 8,2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Feld 8 m, durchgehende Reihe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Klasse I (U0 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Klasse III (0,69)</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Klasse I (U0 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Klasse III (0,66)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5" name="B3k Einordnung"/>
          <p:cNvSpPr txBox="1"/>
          <p:nvPr/>
        </p:nvSpPr>
        <p:spPr>
          <a:xfrm>
            <a:off x="548640" y="4892040"/>
            <a:ext cx="11064240" cy="1005840"/>
          </a:xfrm>
          <a:prstGeom prst="rect">
            <a:avLst/>
          </a:prstGeom>
          <a:noFill/>
          <a:ln/>
        </p:spPr>
        <p:txBody>
          <a:bodyPr wrap="square" lIns="0" tIns="0" rIns="0" bIns="0" rtlCol="0" anchor="t"/>
          <a:lstStyle/>
          <a:p>
            <a:pPr indent="0" marL="0">
              <a:buNone/>
            </a:pPr>
            <a:r>
              <a:rPr lang="en-US" sz="1400" b="1" dirty="0">
                <a:solidFill>
                  <a:schemeClr val="accent1"/>
                </a:solidFill>
              </a:rPr>
              <a:t>Einordnung: </a:t>
            </a:r>
            <a:pPr indent="0" marL="0">
              <a:buNone/>
            </a:pPr>
            <a:r>
              <a:rPr lang="en-US" sz="1400" dirty="0">
                <a:solidFill>
                  <a:schemeClr val="tx1"/>
                </a:solidFill>
              </a:rPr>
              <a:t>B3k erreicht die Blendungswerte von B3a mit 42 % der Bautiefe. Die Lamelle schattet etwas Licht nach unten ab; am vorderen Feldrand fällt U0 dadurch auf 0,66. Wo Klasse I gefordert ist, bleibt B3a die Lösung, sonst ist B3k die handlichere Blende.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V2s · AUSLEGUNG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Kleinere Seitenwangen holen 6,6 % Lichtstrom zurück</a:t>
            </a:r>
            <a:endParaRPr lang="en-US" sz="2800" dirty="0"/>
          </a:p>
        </p:txBody>
      </p:sp>
      <p:sp>
        <p:nvSpPr>
          <p:cNvPr id="4" name="V2 Seite Titel"/>
          <p:cNvSpPr txBox="1"/>
          <p:nvPr/>
        </p:nvSpPr>
        <p:spPr>
          <a:xfrm>
            <a:off x="548640" y="1645920"/>
            <a:ext cx="4023360" cy="274320"/>
          </a:xfrm>
          <a:prstGeom prst="rect">
            <a:avLst/>
          </a:prstGeom>
          <a:noFill/>
          <a:ln/>
        </p:spPr>
        <p:txBody>
          <a:bodyPr wrap="square" lIns="0" tIns="0" rIns="0" bIns="0" rtlCol="0" anchor="ctr"/>
          <a:lstStyle/>
          <a:p>
            <a:pPr indent="0" marL="0">
              <a:buNone/>
            </a:pPr>
            <a:r>
              <a:rPr lang="en-US" sz="1100" b="1" dirty="0">
                <a:solidFill>
                  <a:schemeClr val="tx2"/>
                </a:solidFill>
              </a:rPr>
              <a:t>V2 heute: Wangen 211 → 89 mm, 237 mm lang</a:t>
            </a:r>
            <a:endParaRPr lang="en-US" sz="1100" dirty="0"/>
          </a:p>
        </p:txBody>
      </p:sp>
      <p:pic>
        <p:nvPicPr>
          <p:cNvPr id="5" name="V2 Seite Bild" descr="Seitenansicht mit Blende V2">    </p:cNvPr>
          <p:cNvPicPr>
            <a:picLocks noChangeAspect="1"/>
          </p:cNvPicPr>
          <p:nvPr/>
        </p:nvPicPr>
        <p:blipFill>
          <a:blip r:embed="rId1"/>
          <a:stretch>
            <a:fillRect/>
          </a:stretch>
        </p:blipFill>
        <p:spPr>
          <a:xfrm>
            <a:off x="548640" y="1920240"/>
            <a:ext cx="4023360" cy="1872691"/>
          </a:xfrm>
          <a:prstGeom prst="rect">
            <a:avLst/>
          </a:prstGeom>
        </p:spPr>
      </p:pic>
      <p:sp>
        <p:nvSpPr>
          <p:cNvPr id="6" name="V2s Seite Titel"/>
          <p:cNvSpPr txBox="1"/>
          <p:nvPr/>
        </p:nvSpPr>
        <p:spPr>
          <a:xfrm>
            <a:off x="548640" y="3931920"/>
            <a:ext cx="4023360" cy="274320"/>
          </a:xfrm>
          <a:prstGeom prst="rect">
            <a:avLst/>
          </a:prstGeom>
          <a:noFill/>
          <a:ln/>
        </p:spPr>
        <p:txBody>
          <a:bodyPr wrap="square" lIns="0" tIns="0" rIns="0" bIns="0" rtlCol="0" anchor="ctr"/>
          <a:lstStyle/>
          <a:p>
            <a:pPr indent="0" marL="0">
              <a:buNone/>
            </a:pPr>
            <a:r>
              <a:rPr lang="en-US" sz="1100" b="1" dirty="0">
                <a:solidFill>
                  <a:schemeClr val="accent1"/>
                </a:solidFill>
              </a:rPr>
              <a:t>V2s: Eckwinkel 60 mm, 80 mm lang</a:t>
            </a:r>
            <a:endParaRPr lang="en-US" sz="1100" dirty="0"/>
          </a:p>
        </p:txBody>
      </p:sp>
      <p:pic>
        <p:nvPicPr>
          <p:cNvPr id="7" name="V2s Seite Bild" descr="Seitenansicht mit Blende V2s">    </p:cNvPr>
          <p:cNvPicPr>
            <a:picLocks noChangeAspect="1"/>
          </p:cNvPicPr>
          <p:nvPr/>
        </p:nvPicPr>
        <p:blipFill>
          <a:blip r:embed="rId2"/>
          <a:stretch>
            <a:fillRect/>
          </a:stretch>
        </p:blipFill>
        <p:spPr>
          <a:xfrm>
            <a:off x="548640" y="4206240"/>
            <a:ext cx="4023360" cy="1869034"/>
          </a:xfrm>
          <a:prstGeom prst="rect">
            <a:avLst/>
          </a:prstGeom>
        </p:spPr>
      </p:pic>
      <p:graphicFrame>
        <p:nvGraphicFramePr>
          <p:cNvPr id="8" name="V2s C90" descr=""/>
          <p:cNvGraphicFramePr/>
          <p:nvPr/>
        </p:nvGraphicFramePr>
        <p:xfrm>
          <a:off x="4846320" y="1645920"/>
          <a:ext cx="3977640" cy="4480560"/>
        </p:xfrm>
        <a:graphic xmlns:a="http://schemas.openxmlformats.org/drawingml/2006/main">
          <a:graphicData uri="http://schemas.openxmlformats.org/drawingml/2006/chart">
            <c:chart xmlns:c="http://schemas.openxmlformats.org/drawingml/2006/chart" r:id="rId3"/>
          </a:graphicData>
        </a:graphic>
      </p:graphicFrame>
      <p:sp>
        <p:nvSpPr>
          <p:cNvPr id="9" name="V2s Lichtstrom Kachel"/>
          <p:cNvSpPr/>
          <p:nvPr/>
        </p:nvSpPr>
        <p:spPr>
          <a:xfrm>
            <a:off x="9098280" y="1691640"/>
            <a:ext cx="2514600" cy="1325880"/>
          </a:xfrm>
          <a:prstGeom prst="rect">
            <a:avLst/>
          </a:prstGeom>
          <a:solidFill>
            <a:schemeClr val="bg2"/>
          </a:solidFill>
          <a:ln w="9525">
            <a:solidFill>
              <a:schemeClr val="accent4"/>
            </a:solidFill>
            <a:prstDash val="solid"/>
          </a:ln>
        </p:spPr>
      </p:sp>
      <p:sp>
        <p:nvSpPr>
          <p:cNvPr id="10" name="V2s Lichtstrom Wert"/>
          <p:cNvSpPr txBox="1"/>
          <p:nvPr/>
        </p:nvSpPr>
        <p:spPr>
          <a:xfrm>
            <a:off x="9326880" y="1874520"/>
            <a:ext cx="2057400" cy="685800"/>
          </a:xfrm>
          <a:prstGeom prst="rect">
            <a:avLst/>
          </a:prstGeom>
          <a:noFill/>
          <a:ln/>
        </p:spPr>
        <p:txBody>
          <a:bodyPr wrap="square" lIns="0" tIns="0" rIns="0" bIns="0" rtlCol="0" anchor="ctr"/>
          <a:lstStyle/>
          <a:p>
            <a:pPr indent="0" marL="0">
              <a:buNone/>
            </a:pPr>
            <a:r>
              <a:rPr lang="en-US" sz="3000" b="1" dirty="0">
                <a:solidFill>
                  <a:schemeClr val="accent1"/>
                </a:solidFill>
              </a:rPr>
              <a:t>+6,6 %</a:t>
            </a:r>
            <a:endParaRPr lang="en-US" sz="3000" dirty="0"/>
          </a:p>
        </p:txBody>
      </p:sp>
      <p:sp>
        <p:nvSpPr>
          <p:cNvPr id="11" name="V2s Lichtstrom Text"/>
          <p:cNvSpPr txBox="1"/>
          <p:nvPr/>
        </p:nvSpPr>
        <p:spPr>
          <a:xfrm>
            <a:off x="9326880" y="2606040"/>
            <a:ext cx="2057400" cy="274320"/>
          </a:xfrm>
          <a:prstGeom prst="rect">
            <a:avLst/>
          </a:prstGeom>
          <a:noFill/>
          <a:ln/>
        </p:spPr>
        <p:txBody>
          <a:bodyPr wrap="square" lIns="0" tIns="0" rIns="0" bIns="0" rtlCol="0" anchor="t"/>
          <a:lstStyle/>
          <a:p>
            <a:pPr indent="0" marL="0">
              <a:buNone/>
            </a:pPr>
            <a:r>
              <a:rPr lang="en-US" sz="1200" dirty="0">
                <a:solidFill>
                  <a:schemeClr val="tx2"/>
                </a:solidFill>
              </a:rPr>
              <a:t>Lichtstrom, mehr Licht auf dem Feld</a:t>
            </a:r>
            <a:endParaRPr lang="en-US" sz="1200" dirty="0"/>
          </a:p>
        </p:txBody>
      </p:sp>
      <p:sp>
        <p:nvSpPr>
          <p:cNvPr id="12" name="V2s Seite Kachel"/>
          <p:cNvSpPr/>
          <p:nvPr/>
        </p:nvSpPr>
        <p:spPr>
          <a:xfrm>
            <a:off x="9098280" y="3154680"/>
            <a:ext cx="2514600" cy="1325880"/>
          </a:xfrm>
          <a:prstGeom prst="rect">
            <a:avLst/>
          </a:prstGeom>
          <a:solidFill>
            <a:schemeClr val="bg2"/>
          </a:solidFill>
          <a:ln w="9525">
            <a:solidFill>
              <a:schemeClr val="accent4"/>
            </a:solidFill>
            <a:prstDash val="solid"/>
          </a:ln>
        </p:spPr>
      </p:sp>
      <p:sp>
        <p:nvSpPr>
          <p:cNvPr id="13" name="V2s Seite Wert"/>
          <p:cNvSpPr txBox="1"/>
          <p:nvPr/>
        </p:nvSpPr>
        <p:spPr>
          <a:xfrm>
            <a:off x="9326880" y="3337560"/>
            <a:ext cx="2057400" cy="685800"/>
          </a:xfrm>
          <a:prstGeom prst="rect">
            <a:avLst/>
          </a:prstGeom>
          <a:noFill/>
          <a:ln/>
        </p:spPr>
        <p:txBody>
          <a:bodyPr wrap="square" lIns="0" tIns="0" rIns="0" bIns="0" rtlCol="0" anchor="ctr"/>
          <a:lstStyle/>
          <a:p>
            <a:pPr indent="0" marL="0">
              <a:buNone/>
            </a:pPr>
            <a:r>
              <a:rPr lang="en-US" sz="3000" b="1" dirty="0">
                <a:solidFill>
                  <a:schemeClr val="tx1"/>
                </a:solidFill>
              </a:rPr>
              <a:t>+10 %</a:t>
            </a:r>
            <a:endParaRPr lang="en-US" sz="3000" dirty="0"/>
          </a:p>
        </p:txBody>
      </p:sp>
      <p:sp>
        <p:nvSpPr>
          <p:cNvPr id="14" name="V2s Seite Text"/>
          <p:cNvSpPr txBox="1"/>
          <p:nvPr/>
        </p:nvSpPr>
        <p:spPr>
          <a:xfrm>
            <a:off x="9326880" y="4069080"/>
            <a:ext cx="2057400" cy="274320"/>
          </a:xfrm>
          <a:prstGeom prst="rect">
            <a:avLst/>
          </a:prstGeom>
          <a:noFill/>
          <a:ln/>
        </p:spPr>
        <p:txBody>
          <a:bodyPr wrap="square" lIns="0" tIns="0" rIns="0" bIns="0" rtlCol="0" anchor="t"/>
          <a:lstStyle/>
          <a:p>
            <a:pPr indent="0" marL="0">
              <a:buNone/>
            </a:pPr>
            <a:r>
              <a:rPr lang="en-US" sz="1200" dirty="0">
                <a:solidFill>
                  <a:schemeClr val="tx2"/>
                </a:solidFill>
              </a:rPr>
              <a:t>Licht zur Seite (C45–135, C225–315)</a:t>
            </a:r>
            <a:endParaRPr lang="en-US" sz="1200" dirty="0"/>
          </a:p>
        </p:txBody>
      </p:sp>
      <p:sp>
        <p:nvSpPr>
          <p:cNvPr id="15" name="V2s GR Kachel"/>
          <p:cNvSpPr/>
          <p:nvPr/>
        </p:nvSpPr>
        <p:spPr>
          <a:xfrm>
            <a:off x="9098280" y="4617720"/>
            <a:ext cx="2514600" cy="1325880"/>
          </a:xfrm>
          <a:prstGeom prst="rect">
            <a:avLst/>
          </a:prstGeom>
          <a:solidFill>
            <a:schemeClr val="bg2"/>
          </a:solidFill>
          <a:ln w="9525">
            <a:solidFill>
              <a:schemeClr val="accent4"/>
            </a:solidFill>
            <a:prstDash val="solid"/>
          </a:ln>
        </p:spPr>
      </p:sp>
      <p:sp>
        <p:nvSpPr>
          <p:cNvPr id="16" name="V2s GR Wert"/>
          <p:cNvSpPr txBox="1"/>
          <p:nvPr/>
        </p:nvSpPr>
        <p:spPr>
          <a:xfrm>
            <a:off x="9326880" y="4800600"/>
            <a:ext cx="2057400" cy="685800"/>
          </a:xfrm>
          <a:prstGeom prst="rect">
            <a:avLst/>
          </a:prstGeom>
          <a:noFill/>
          <a:ln/>
        </p:spPr>
        <p:txBody>
          <a:bodyPr wrap="square" lIns="0" tIns="0" rIns="0" bIns="0" rtlCol="0" anchor="ctr"/>
          <a:lstStyle/>
          <a:p>
            <a:pPr indent="0" marL="0">
              <a:buNone/>
            </a:pPr>
            <a:r>
              <a:rPr lang="en-US" sz="3000" b="1" dirty="0">
                <a:solidFill>
                  <a:schemeClr val="tx1"/>
                </a:solidFill>
              </a:rPr>
              <a:t>23,5</a:t>
            </a:r>
            <a:endParaRPr lang="en-US" sz="3000" dirty="0"/>
          </a:p>
        </p:txBody>
      </p:sp>
      <p:sp>
        <p:nvSpPr>
          <p:cNvPr id="17" name="V2s GR Text"/>
          <p:cNvSpPr txBox="1"/>
          <p:nvPr/>
        </p:nvSpPr>
        <p:spPr>
          <a:xfrm>
            <a:off x="9326880" y="5532120"/>
            <a:ext cx="2057400" cy="274320"/>
          </a:xfrm>
          <a:prstGeom prst="rect">
            <a:avLst/>
          </a:prstGeom>
          <a:noFill/>
          <a:ln/>
        </p:spPr>
        <p:txBody>
          <a:bodyPr wrap="square" lIns="0" tIns="0" rIns="0" bIns="0" rtlCol="0" anchor="t"/>
          <a:lstStyle/>
          <a:p>
            <a:pPr indent="0" marL="0">
              <a:buNone/>
            </a:pPr>
            <a:r>
              <a:rPr lang="en-US" sz="1200" dirty="0">
                <a:solidFill>
                  <a:schemeClr val="tx2"/>
                </a:solidFill>
              </a:rPr>
              <a:t>GR der Person bei 5 m (V2: 24,0)</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V2s · BEWERTUNG</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Mehr Licht zur Seite, Blendung und Klasse I bleiben</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291840"/>
                <a:gridCol w="2377440"/>
                <a:gridCol w="2834640"/>
                <a:gridCol w="2560320"/>
              </a:tblGrid>
              <a:tr h="0">
                <a:tc>
                  <a:txBody>
                    <a:bodyPr/>
                    <a:lstStyle/>
                    <a:p>
                      <a:pPr indent="0" marL="0">
                        <a:buNone/>
                      </a:pPr>
                      <a:r>
                        <a:rPr lang="en-US" sz="1100" b="1" dirty="0">
                          <a:solidFill>
                            <a:schemeClr val="tx2"/>
                          </a:solidFill>
                        </a:rPr>
                        <a:t>KRITERIUM</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 HEUTE</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V2s</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100" b="1" dirty="0">
                          <a:solidFill>
                            <a:schemeClr val="tx2"/>
                          </a:solidFill>
                        </a:rPr>
                        <a:t>OHNE WANGEN</a:t>
                      </a:r>
                      <a:endParaRPr lang="en-US" sz="11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Lichtstrom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111.141 lm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118.526 lm (+6,6 %)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+7,1 %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Licht zur Seite</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49.805 lm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+10,4 %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+11,2 %</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Person, GR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24,0 / 21,0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23,5 / 20,6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23,5 / 20,6</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Blendung Zuschauer, GR max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13,5</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14,1</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14,2</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Aufhellung Rückwand, Ē 5 m /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7,1 / 16,0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8,7 / 18,2 lx</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Arena-Reihe 8 m, Ē / U0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1.080 lx / 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1.142 lx / 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1.146 lx / 0,70</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0">
                <a:tc>
                  <a:txBody>
                    <a:bodyPr/>
                    <a:lstStyle/>
                    <a:p>
                      <a:pPr indent="0" marL="0">
                        <a:buNone/>
                      </a:pPr>
                      <a:r>
                        <a:rPr lang="en-US" sz="1300" dirty="0">
                          <a:solidFill>
                            <a:schemeClr val="tx1"/>
                          </a:solidFill>
                        </a:rPr>
                        <a:t>Klasse EN 12193 (8 m)</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Klasse 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b="1" dirty="0">
                          <a:solidFill>
                            <a:schemeClr val="accent1"/>
                          </a:solidFill>
                        </a:rPr>
                        <a:t>Klasse 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300" dirty="0">
                          <a:solidFill>
                            <a:schemeClr val="tx1"/>
                          </a:solidFill>
                        </a:rPr>
                        <a:t>Klasse I</a:t>
                      </a:r>
                      <a:endParaRPr lang="en-US" sz="1300" dirty="0"/>
                    </a:p>
                  </a:txBody>
                  <a:tcPr marL="91440" marR="91440" marT="54864" marB="54864" anchor="ctr">
                    <a:lnL w="0" cap="flat" cmpd="sng" algn="ctr">
                      <a:noFill/>
                    </a:lnL>
                    <a:lnR w="0" cap="flat" cmpd="sng" algn="ctr">
                      <a:noFill/>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5" name="V2s Einordnung"/>
          <p:cNvSpPr txBox="1"/>
          <p:nvPr/>
        </p:nvSpPr>
        <p:spPr>
          <a:xfrm>
            <a:off x="548640" y="4800600"/>
            <a:ext cx="11064240" cy="1188720"/>
          </a:xfrm>
          <a:prstGeom prst="rect">
            <a:avLst/>
          </a:prstGeom>
          <a:noFill/>
          <a:ln/>
        </p:spPr>
        <p:txBody>
          <a:bodyPr wrap="square" lIns="0" tIns="0" rIns="0" bIns="0" rtlCol="0" anchor="t"/>
          <a:lstStyle/>
          <a:p>
            <a:pPr indent="0" marL="0">
              <a:buNone/>
            </a:pPr>
            <a:r>
              <a:rPr lang="en-US" sz="1400" b="1" dirty="0">
                <a:solidFill>
                  <a:schemeClr val="accent1"/>
                </a:solidFill>
              </a:rPr>
              <a:t>Warum es wirkt: </a:t>
            </a:r>
            <a:pPr indent="0" marL="0">
              <a:buNone/>
            </a:pPr>
            <a:r>
              <a:rPr lang="en-US" sz="1400" dirty="0">
                <a:solidFill>
                  <a:schemeClr val="tx1"/>
                </a:solidFill>
              </a:rPr>
              <a:t>Die Wangen der V2 stehen quer zur seitlichen Ausstrahlung und fangen dort Licht ab, ohne die Person hinter der Leuchte zu schützen. Ein 60 mm hoher Eckwinkel hält das Stirnblech und holt 94 % dessen, was ganz ohne Wangen möglich wäre. Die Zuschauer sehen 0,6 GR mehr, die Rückwand wird etwas heller. Vor der Freigabe ein Muster vermessen.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100" b="1" spc="200" kern="0" dirty="0">
                <a:solidFill>
                  <a:schemeClr val="accent1"/>
                </a:solidFill>
              </a:rPr>
              <a:t>ANNAHMEN UND GRENZEN</a:t>
            </a:r>
            <a:endParaRPr lang="en-US" sz="11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2800" b="1" dirty="0">
                <a:solidFill>
                  <a:schemeClr val="tx1"/>
                </a:solidFill>
              </a:rPr>
              <a:t>Was die Bewertung abdeckt und was nicht</a:t>
            </a:r>
            <a:endParaRPr lang="en-US" sz="2800" dirty="0"/>
          </a:p>
        </p:txBody>
      </p:sp>
      <p:sp>
        <p:nvSpPr>
          <p:cNvPr id="4" name="Annahmen Liste"/>
          <p:cNvSpPr txBox="1"/>
          <p:nvPr/>
        </p:nvSpPr>
        <p:spPr>
          <a:xfrm>
            <a:off x="548640" y="1691640"/>
            <a:ext cx="11064240" cy="448056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Grundlage</a:t>
            </a:r>
            <a:endParaRPr lang="en-US" sz="1600" dirty="0"/>
          </a:p>
          <a:p>
            <a:pPr marL="342900" indent="-342900">
              <a:spcAft>
                <a:spcPts val="600"/>
              </a:spcAft>
              <a:buSzPct val="100000"/>
              <a:buChar char="•"/>
            </a:pPr>
            <a:r>
              <a:rPr lang="en-US" sz="1600" dirty="0">
                <a:solidFill>
                  <a:schemeClr val="tx1"/>
                </a:solidFill>
              </a:rPr>
              <a:t>LDT der SIRIUS 2000 (5XA7100W40A13DA-Z, außenliegende Blende V2), auf ein Modul halbiert: 111.246 lm, 985,5 W</a:t>
            </a:r>
            <a:endParaRPr lang="en-US" sz="1600" dirty="0"/>
          </a:p>
          <a:p>
            <a:pPr marL="342900" indent="-342900">
              <a:spcAft>
                <a:spcPts val="600"/>
              </a:spcAft>
              <a:buSzPct val="100000"/>
              <a:buChar char="•"/>
            </a:pPr>
            <a:r>
              <a:rPr lang="en-US" sz="1600" dirty="0">
                <a:solidFill>
                  <a:schemeClr val="tx1"/>
                </a:solidFill>
              </a:rPr>
              <a:t>CAD-Modell der Blende aus der STEP-Datei, Löcher geometrisch aufgebohrt</a:t>
            </a:r>
            <a:endParaRPr lang="en-US" sz="1600" dirty="0"/>
          </a:p>
          <a:p>
            <a:pPr marL="342900" indent="-342900">
              <a:spcAft>
                <a:spcPts val="1000"/>
              </a:spcAft>
              <a:buSzPct val="100000"/>
              <a:buChar char="•"/>
            </a:pPr>
            <a:r>
              <a:rPr lang="en-US" sz="1600" dirty="0">
                <a:solidFill>
                  <a:schemeClr val="tx1"/>
                </a:solidFill>
              </a:rPr>
              <a:t>Direktlicht analytisch aus der LVK, gegengeprüft mit Blender/Cycles (Abweichung 3–7 %)</a:t>
            </a:r>
            <a:endParaRPr lang="en-US" sz="1600" dirty="0"/>
          </a:p>
          <a:p>
            <a:pPr indent="0" marL="0">
              <a:spcAft>
                <a:spcPts val="600"/>
              </a:spcAft>
              <a:buNone/>
            </a:pPr>
            <a:r>
              <a:rPr lang="en-US" sz="1500" b="1" dirty="0">
                <a:solidFill>
                  <a:schemeClr val="accent2"/>
                </a:solidFill>
              </a:rPr>
              <a:t>Grenzen</a:t>
            </a:r>
            <a:endParaRPr lang="en-US" sz="1600" dirty="0"/>
          </a:p>
          <a:p>
            <a:pPr marL="342900" indent="-342900">
              <a:spcAft>
                <a:spcPts val="600"/>
              </a:spcAft>
              <a:buSzPct val="100000"/>
              <a:buChar char="•"/>
            </a:pPr>
            <a:r>
              <a:rPr lang="en-US" sz="1600" dirty="0">
                <a:solidFill>
                  <a:schemeClr val="tx1"/>
                </a:solidFill>
              </a:rPr>
              <a:t>LVK der 50-%-Lochung ist mit einem Strahlenmodell abgeschätzt, nicht gemessen; Reflexion an der Blende wie gemessen angenommen</a:t>
            </a:r>
            <a:endParaRPr lang="en-US" sz="1600" dirty="0"/>
          </a:p>
          <a:p>
            <a:pPr marL="342900" indent="-342900">
              <a:spcAft>
                <a:spcPts val="600"/>
              </a:spcAft>
              <a:buSzPct val="100000"/>
              <a:buChar char="•"/>
            </a:pPr>
            <a:r>
              <a:rPr lang="en-US" sz="1600" dirty="0">
                <a:solidFill>
                  <a:schemeClr val="tx1"/>
                </a:solidFill>
              </a:rPr>
              <a:t>GR mit angenommenem Boden-Reflexionsgrad 20 %; bei 0 % Reflexion nicht definiert</a:t>
            </a:r>
            <a:endParaRPr lang="en-US" sz="1600" dirty="0"/>
          </a:p>
          <a:p>
            <a:pPr marL="342900" indent="-342900">
              <a:spcAft>
                <a:spcPts val="600"/>
              </a:spcAft>
              <a:buSzPct val="100000"/>
              <a:buChar char="•"/>
            </a:pPr>
            <a:r>
              <a:rPr lang="en-US" sz="1600" dirty="0">
                <a:solidFill>
                  <a:schemeClr val="tx1"/>
                </a:solidFill>
              </a:rPr>
              <a:t>Ein Blickpunkt (sitzend, 8 m hinter der Leuchte, Blick nach vorn); direkter Blick zur Leuchte nicht mit GR bewertet</a:t>
            </a:r>
            <a:endParaRPr lang="en-US" sz="1600" dirty="0"/>
          </a:p>
          <a:p>
            <a:pPr marL="342900" indent="-342900">
              <a:spcAft>
                <a:spcPts val="600"/>
              </a:spcAft>
              <a:buSzPct val="100000"/>
              <a:buChar char="•"/>
            </a:pPr>
            <a:r>
              <a:rPr lang="en-US" sz="1600" dirty="0">
                <a:solidFill>
                  <a:schemeClr val="tx1"/>
                </a:solidFill>
              </a:rPr>
              <a:t>Person nicht als Hindernis im Messfeld berücksichtigt</a:t>
            </a:r>
            <a:endParaRPr lang="en-US" sz="1600" dirty="0"/>
          </a:p>
          <a:p>
            <a:pPr marL="342900" indent="-342900">
              <a:spcAft>
                <a:spcPts val="600"/>
              </a:spcAft>
              <a:buSzPct val="100000"/>
              <a:buChar char="•"/>
            </a:pPr>
            <a:r>
              <a:rPr lang="en-US" sz="1600" dirty="0">
                <a:solidFill>
                  <a:schemeClr val="tx1"/>
                </a:solidFill>
              </a:rPr>
              <a:t>Arena: drei Leuchten bzw. durchgehende Reihe alle 6 m, Wartungsfaktor 0,8, Direktlicht, Zuschauer in Augenhöhe 1,2 m (keine ansteigende Tribüne)</a:t>
            </a:r>
            <a:endParaRPr lang="en-US" sz="1600" dirty="0"/>
          </a:p>
          <a:p>
            <a:pPr marL="342900" indent="-342900">
              <a:spcAft>
                <a:spcPts val="600"/>
              </a:spcAft>
              <a:buSzPct val="100000"/>
              <a:buChar char="•"/>
            </a:pPr>
            <a:r>
              <a:rPr lang="en-US" sz="1600" dirty="0">
                <a:solidFill>
                  <a:schemeClr val="tx1"/>
                </a:solidFill>
              </a:rPr>
              <a:t>Blende 2/3: relative LDT (4000 K, CRI 70), auf 111.246 lm gesetzt und um 90° gedreht; Vergleich bei gleichem Lichtstrom</a:t>
            </a:r>
            <a:endParaRPr lang="en-US" sz="1600" dirty="0"/>
          </a:p>
          <a:p>
            <a:pPr marL="342900" indent="-342900">
              <a:spcAft>
                <a:spcPts val="600"/>
              </a:spcAft>
              <a:buSzPct val="100000"/>
              <a:buChar char="•"/>
            </a:pPr>
            <a:r>
              <a:rPr lang="en-US" sz="1600" dirty="0">
                <a:solidFill>
                  <a:schemeClr val="tx1"/>
                </a:solidFill>
              </a:rPr>
              <a:t>B3a/B3k/V2s: Blende und LVK berechnet (Strahlenmodell, Innenseite matt schwarz), nicht gemessen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Siteco Datenblatt">
  <a:themeElements>
    <a:clrScheme name="Siteco Datenblatt">
      <a:dk1>
        <a:srgbClr val="17202B"/>
      </a:dk1>
      <a:lt1>
        <a:srgbClr val="FFFFFF"/>
      </a:lt1>
      <a:dk2>
        <a:srgbClr val="5B6673"/>
      </a:dk2>
      <a:lt2>
        <a:srgbClr val="F6F7F8"/>
      </a:lt2>
      <a:accent1>
        <a:srgbClr val="0B5CAD"/>
      </a:accent1>
      <a:accent2>
        <a:srgbClr val="A35A00"/>
      </a:accent2>
      <a:accent3>
        <a:srgbClr val="E3EEF9"/>
      </a:accent3>
      <a:accent4>
        <a:srgbClr val="D5DBE1"/>
      </a:accent4>
      <a:accent5>
        <a:srgbClr val="2F9A46"/>
      </a:accent5>
      <a:accent6>
        <a:srgbClr val="FBF0E1"/>
      </a:accent6>
      <a:hlink>
        <a:srgbClr val="0B5CAD"/>
      </a:hlink>
      <a:folHlink>
        <a:srgbClr val="5B6673"/>
      </a:folHlink>
    </a:clrScheme>
    <a:fontScheme name="Siteco Datenblat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Blendungsbewertung SIRIUS 1000 – außenliegende Blende</dc:title>
  <dc:subject>Vergleich Blende wie geliefert (Lochung 3,4 %) und Lochung 50 %</dc:subject>
  <dc:creator>W. Rödel</dc:creator>
  <cp:lastModifiedBy>W. Rödel</cp:lastModifiedBy>
  <cp:revision>1</cp:revision>
  <dcterms:created xsi:type="dcterms:W3CDTF">2026-10-26T20:23:47Z</dcterms:created>
  <dcterms:modified xsi:type="dcterms:W3CDTF">2026-10-26T20:23:47Z</dcterms:modified>
</cp:coreProperties>
</file>