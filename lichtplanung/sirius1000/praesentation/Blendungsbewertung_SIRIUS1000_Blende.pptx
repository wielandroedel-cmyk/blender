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f03bd16a-dd80-7ff9-cefa-371f8cac219a}">
          <p14:sldIdLst>
            <p14:sldId id="256"/>
            <p14:sldId id="257"/>
          </p14:sldIdLst>
        </p14:section>
        <p14:section name="Grundlagen" id="{251af2bd-d26f-16e4-1cfe-a66804bddbd5}">
          <p14:sldIdLst>
            <p14:sldId id="258"/>
            <p14:sldId id="259"/>
            <p14:sldId id="260"/>
            <p14:sldId id="261"/>
          </p14:sldIdLst>
        </p14:section>
        <p14:section name="Ergebnisse" id="{4cf5e83b-b298-a3c2-7453-e2c1f4970abf}">
          <p14:sldIdLst>
            <p14:sldId id="262"/>
            <p14:sldId id="263"/>
            <p14:sldId id="264"/>
            <p14:sldId id="265"/>
          </p14:sldIdLst>
        </p14:section>
        <p14:section name="Bewertung" id="{45549fd6-534f-952f-fbcc-5fb569008455}">
          <p14:sldIdLst>
            <p14:sldId id="266"/>
            <p14:sldId id="267"/>
          </p14:sldIdLst>
        </p14:section>
        <p14:section name="Arena" id="{ec08ff17-5d11-cc7f-526f-9c2747f70dae}">
          <p14:sldIdLst>
            <p14:sldId id="268"/>
            <p14:sldId id="269"/>
            <p14:sldId id="270"/>
          </p14:sldIdLst>
        </p14:section>
        <p14:section name="Ohne externe Blende" id="{1fb4ecf3-b18c-3ce8-c37b-33f0a5423f90}">
          <p14:sldIdLst>
            <p14:sldId id="271"/>
            <p14:sldId id="272"/>
            <p14:sldId id="273"/>
            <p14:sldId id="274"/>
          </p14:sldIdLst>
        </p14:section>
        <p14:section name="Neue außenliegende Blende" id="{0e01cce2-6ff2-6550-edf7-229c2f5af29b}">
          <p14:sldIdLst>
            <p14:sldId id="275"/>
            <p14:sldId id="276"/>
            <p14:sldId id="277"/>
          </p14:sldIdLst>
        </p14:section>
        <p14:section name="Kompakte Blende" id="{4be678a6-6f76-2052-2288-b5e814c9bb8c}">
          <p14:sldIdLst>
            <p14:sldId id="278"/>
            <p14:sldId id="279"/>
            <p14:sldId id="280"/>
          </p14:sldIdLst>
        </p14:section>
        <p14:section name="Anhang" id="{f756f8e4-3d4b-2c3f-5a2a-494367c44c6a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C180 nach hinten, heute</c:v>
                </c:pt>
              </c:strCache>
            </c:strRef>
          </c:tx>
          <c:spPr>
            <a:solidFill>
              <a:srgbClr val="17202B"/>
            </a:solidFill>
            <a:ln w="25400" cap="flat">
              <a:solidFill>
                <a:srgbClr val="172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202B"/>
              </a:solidFill>
              <a:ln w="9525" cap="flat">
                <a:solidFill>
                  <a:srgbClr val="172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23649</c:v>
                </c:pt>
                <c:pt idx="1">
                  <c:v>23103</c:v>
                </c:pt>
                <c:pt idx="2">
                  <c:v>20817</c:v>
                </c:pt>
                <c:pt idx="3">
                  <c:v>17785</c:v>
                </c:pt>
                <c:pt idx="4">
                  <c:v>15342</c:v>
                </c:pt>
                <c:pt idx="5">
                  <c:v>13178</c:v>
                </c:pt>
                <c:pt idx="6">
                  <c:v>11414</c:v>
                </c:pt>
                <c:pt idx="7">
                  <c:v>10439</c:v>
                </c:pt>
                <c:pt idx="8">
                  <c:v>9955</c:v>
                </c:pt>
                <c:pt idx="9">
                  <c:v>10250</c:v>
                </c:pt>
                <c:pt idx="10">
                  <c:v>10381</c:v>
                </c:pt>
                <c:pt idx="11">
                  <c:v>8597</c:v>
                </c:pt>
                <c:pt idx="12">
                  <c:v>6267</c:v>
                </c:pt>
                <c:pt idx="13">
                  <c:v>4658</c:v>
                </c:pt>
                <c:pt idx="14">
                  <c:v>2238</c:v>
                </c:pt>
                <c:pt idx="15">
                  <c:v>287</c:v>
                </c:pt>
                <c:pt idx="16">
                  <c:v>48</c:v>
                </c:pt>
                <c:pt idx="17">
                  <c:v>9</c:v>
                </c:pt>
                <c:pt idx="18">
                  <c:v>1</c:v>
                </c:pt>
                <c:pt idx="19">
                  <c:v>1</c:v>
                </c:pt>
                <c:pt idx="20">
                  <c:v>4</c:v>
                </c:pt>
                <c:pt idx="21">
                  <c:v>6</c:v>
                </c:pt>
                <c:pt idx="22">
                  <c:v>10</c:v>
                </c:pt>
                <c:pt idx="23">
                  <c:v>1</c:v>
                </c:pt>
                <c:pt idx="24">
                  <c:v>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C180 nach hinten, Lochung 50 %</c:v>
                </c:pt>
              </c:strCache>
            </c:strRef>
          </c:tx>
          <c:spPr>
            <a:solidFill>
              <a:srgbClr val="A35A00"/>
            </a:solidFill>
            <a:ln w="25400" cap="flat">
              <a:solidFill>
                <a:srgbClr val="A35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35A00"/>
              </a:solidFill>
              <a:ln w="9525" cap="flat">
                <a:solidFill>
                  <a:srgbClr val="A35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23649</c:v>
                </c:pt>
                <c:pt idx="1">
                  <c:v>23103</c:v>
                </c:pt>
                <c:pt idx="2">
                  <c:v>20834</c:v>
                </c:pt>
                <c:pt idx="3">
                  <c:v>17987</c:v>
                </c:pt>
                <c:pt idx="4">
                  <c:v>15615</c:v>
                </c:pt>
                <c:pt idx="5">
                  <c:v>13482</c:v>
                </c:pt>
                <c:pt idx="6">
                  <c:v>11727</c:v>
                </c:pt>
                <c:pt idx="7">
                  <c:v>10929</c:v>
                </c:pt>
                <c:pt idx="8">
                  <c:v>10610</c:v>
                </c:pt>
                <c:pt idx="9">
                  <c:v>11176</c:v>
                </c:pt>
                <c:pt idx="10">
                  <c:v>11684</c:v>
                </c:pt>
                <c:pt idx="11">
                  <c:v>9777</c:v>
                </c:pt>
                <c:pt idx="12">
                  <c:v>7613</c:v>
                </c:pt>
                <c:pt idx="13">
                  <c:v>6302</c:v>
                </c:pt>
                <c:pt idx="14">
                  <c:v>3936</c:v>
                </c:pt>
                <c:pt idx="15">
                  <c:v>1710</c:v>
                </c:pt>
                <c:pt idx="16">
                  <c:v>793</c:v>
                </c:pt>
                <c:pt idx="17">
                  <c:v>146</c:v>
                </c:pt>
                <c:pt idx="18">
                  <c:v>1</c:v>
                </c:pt>
                <c:pt idx="19">
                  <c:v>1</c:v>
                </c:pt>
                <c:pt idx="20">
                  <c:v>4</c:v>
                </c:pt>
                <c:pt idx="21">
                  <c:v>6</c:v>
                </c:pt>
                <c:pt idx="22">
                  <c:v>10</c:v>
                </c:pt>
                <c:pt idx="23">
                  <c:v>1</c:v>
                </c:pt>
                <c:pt idx="24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C0 nach vorn</c:v>
                </c:pt>
              </c:strCache>
            </c:strRef>
          </c:tx>
          <c:spPr>
            <a:solidFill>
              <a:srgbClr val="D5DBE1"/>
            </a:solidFill>
            <a:ln w="25400" cap="flat">
              <a:solidFill>
                <a:srgbClr val="D5DBE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5DBE1"/>
              </a:solidFill>
              <a:ln w="9525" cap="flat">
                <a:solidFill>
                  <a:srgbClr val="D5DBE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23649</c:v>
                </c:pt>
                <c:pt idx="1">
                  <c:v>25140</c:v>
                </c:pt>
                <c:pt idx="2">
                  <c:v>27195</c:v>
                </c:pt>
                <c:pt idx="3">
                  <c:v>29687</c:v>
                </c:pt>
                <c:pt idx="4">
                  <c:v>37489</c:v>
                </c:pt>
                <c:pt idx="5">
                  <c:v>56313</c:v>
                </c:pt>
                <c:pt idx="6">
                  <c:v>83039</c:v>
                </c:pt>
                <c:pt idx="7">
                  <c:v>93304</c:v>
                </c:pt>
                <c:pt idx="8">
                  <c:v>79531</c:v>
                </c:pt>
                <c:pt idx="9">
                  <c:v>66261</c:v>
                </c:pt>
                <c:pt idx="10">
                  <c:v>51656</c:v>
                </c:pt>
                <c:pt idx="11">
                  <c:v>32120</c:v>
                </c:pt>
                <c:pt idx="12">
                  <c:v>17490</c:v>
                </c:pt>
                <c:pt idx="13">
                  <c:v>9296</c:v>
                </c:pt>
                <c:pt idx="14">
                  <c:v>5217</c:v>
                </c:pt>
                <c:pt idx="15">
                  <c:v>3107</c:v>
                </c:pt>
                <c:pt idx="16">
                  <c:v>2028</c:v>
                </c:pt>
                <c:pt idx="17">
                  <c:v>1228</c:v>
                </c:pt>
                <c:pt idx="18">
                  <c:v>989</c:v>
                </c:pt>
                <c:pt idx="19">
                  <c:v>709</c:v>
                </c:pt>
                <c:pt idx="20">
                  <c:v>309</c:v>
                </c:pt>
                <c:pt idx="21">
                  <c:v>26</c:v>
                </c:pt>
                <c:pt idx="22">
                  <c:v>12</c:v>
                </c:pt>
                <c:pt idx="23">
                  <c:v>3</c:v>
                </c:pt>
                <c:pt idx="24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Ausstrahlungswinkel γ [°] (0 = senkrecht nach unten)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logBase val="10"/>
          <c:orientation val="minMax"/>
          <c:max val="100000"/>
          <c:min val="1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Lichtstärke [cd]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 m, heute</c:v>
                </c:pt>
              </c:strCache>
            </c:strRef>
          </c:tx>
          <c:spPr>
            <a:solidFill>
              <a:srgbClr val="0B5CAD"/>
            </a:solidFill>
            <a:ln w="25400" cap="flat">
              <a:solidFill>
                <a:srgbClr val="0B5C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5CAD"/>
              </a:solidFill>
              <a:ln w="9525" cap="flat">
                <a:solidFill>
                  <a:srgbClr val="0B5C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18.5</c:v>
                </c:pt>
                <c:pt idx="1">
                  <c:v>21.9</c:v>
                </c:pt>
                <c:pt idx="2">
                  <c:v>23.6</c:v>
                </c:pt>
                <c:pt idx="3">
                  <c:v>24.8</c:v>
                </c:pt>
                <c:pt idx="4">
                  <c:v>26.1</c:v>
                </c:pt>
                <c:pt idx="5">
                  <c:v>27.5</c:v>
                </c:pt>
                <c:pt idx="6">
                  <c:v>28.7</c:v>
                </c:pt>
                <c:pt idx="7">
                  <c:v>29.6</c:v>
                </c:pt>
                <c:pt idx="8">
                  <c:v>29.2</c:v>
                </c:pt>
                <c:pt idx="9">
                  <c:v>28.6</c:v>
                </c:pt>
                <c:pt idx="10">
                  <c:v>27.6</c:v>
                </c:pt>
                <c:pt idx="11">
                  <c:v>26.4</c:v>
                </c:pt>
                <c:pt idx="12">
                  <c:v>25.6</c:v>
                </c:pt>
                <c:pt idx="13">
                  <c:v>24.8</c:v>
                </c:pt>
                <c:pt idx="14">
                  <c:v>24</c:v>
                </c:pt>
                <c:pt idx="15">
                  <c:v>22.7</c:v>
                </c:pt>
                <c:pt idx="16">
                  <c:v>21.3</c:v>
                </c:pt>
                <c:pt idx="17">
                  <c:v>19.7</c:v>
                </c:pt>
                <c:pt idx="1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 m, Lochung 50 %</c:v>
                </c:pt>
              </c:strCache>
            </c:strRef>
          </c:tx>
          <c:spPr>
            <a:solidFill>
              <a:srgbClr val="A35A00"/>
            </a:solidFill>
            <a:ln w="25400" cap="flat">
              <a:solidFill>
                <a:srgbClr val="A35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35A00"/>
              </a:solidFill>
              <a:ln w="9525" cap="flat">
                <a:solidFill>
                  <a:srgbClr val="A35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18.5</c:v>
                </c:pt>
                <c:pt idx="1">
                  <c:v>21.9</c:v>
                </c:pt>
                <c:pt idx="2">
                  <c:v>23.7</c:v>
                </c:pt>
                <c:pt idx="3">
                  <c:v>25.1</c:v>
                </c:pt>
                <c:pt idx="4">
                  <c:v>26.5</c:v>
                </c:pt>
                <c:pt idx="5">
                  <c:v>28.1</c:v>
                </c:pt>
                <c:pt idx="6">
                  <c:v>29.6</c:v>
                </c:pt>
                <c:pt idx="7">
                  <c:v>30.7</c:v>
                </c:pt>
                <c:pt idx="8">
                  <c:v>30.4</c:v>
                </c:pt>
                <c:pt idx="9">
                  <c:v>29.8</c:v>
                </c:pt>
                <c:pt idx="10">
                  <c:v>29.1</c:v>
                </c:pt>
                <c:pt idx="11">
                  <c:v>28.3</c:v>
                </c:pt>
                <c:pt idx="12">
                  <c:v>27.8</c:v>
                </c:pt>
                <c:pt idx="13">
                  <c:v>27.3</c:v>
                </c:pt>
                <c:pt idx="14">
                  <c:v>26.8</c:v>
                </c:pt>
                <c:pt idx="15">
                  <c:v>26</c:v>
                </c:pt>
                <c:pt idx="16">
                  <c:v>25.1</c:v>
                </c:pt>
                <c:pt idx="17">
                  <c:v>24</c:v>
                </c:pt>
                <c:pt idx="18">
                  <c:v>23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8 m, heute</c:v>
                </c:pt>
              </c:strCache>
            </c:strRef>
          </c:tx>
          <c:spPr>
            <a:solidFill>
              <a:srgbClr val="17202B"/>
            </a:solidFill>
            <a:ln w="25400" cap="flat">
              <a:solidFill>
                <a:srgbClr val="172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202B"/>
              </a:solidFill>
              <a:ln w="9525" cap="flat">
                <a:solidFill>
                  <a:srgbClr val="172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3.5</c:v>
                </c:pt>
                <c:pt idx="1">
                  <c:v>8.3</c:v>
                </c:pt>
                <c:pt idx="2">
                  <c:v>11</c:v>
                </c:pt>
                <c:pt idx="3">
                  <c:v>12.8</c:v>
                </c:pt>
                <c:pt idx="4">
                  <c:v>14</c:v>
                </c:pt>
                <c:pt idx="5">
                  <c:v>14.9</c:v>
                </c:pt>
                <c:pt idx="6">
                  <c:v>15.5</c:v>
                </c:pt>
                <c:pt idx="7">
                  <c:v>16.3</c:v>
                </c:pt>
                <c:pt idx="8">
                  <c:v>17</c:v>
                </c:pt>
                <c:pt idx="9">
                  <c:v>17.7</c:v>
                </c:pt>
                <c:pt idx="10">
                  <c:v>18.4</c:v>
                </c:pt>
                <c:pt idx="11">
                  <c:v>19.3</c:v>
                </c:pt>
                <c:pt idx="12">
                  <c:v>20</c:v>
                </c:pt>
                <c:pt idx="13">
                  <c:v>20.5</c:v>
                </c:pt>
                <c:pt idx="14">
                  <c:v>21</c:v>
                </c:pt>
                <c:pt idx="15">
                  <c:v>20.9</c:v>
                </c:pt>
                <c:pt idx="16">
                  <c:v>20.6</c:v>
                </c:pt>
                <c:pt idx="17">
                  <c:v>20.3</c:v>
                </c:pt>
                <c:pt idx="18">
                  <c:v>19.8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8 m, Lochung 50 %</c:v>
                </c:pt>
              </c:strCache>
            </c:strRef>
          </c:tx>
          <c:spPr>
            <a:solidFill>
              <a:srgbClr val="C58A3A"/>
            </a:solidFill>
            <a:ln w="25400" cap="flat">
              <a:solidFill>
                <a:srgbClr val="C58A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58A3A"/>
              </a:solidFill>
              <a:ln w="9525" cap="flat">
                <a:solidFill>
                  <a:srgbClr val="C58A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3.4</c:v>
                </c:pt>
                <c:pt idx="1">
                  <c:v>8.2</c:v>
                </c:pt>
                <c:pt idx="2">
                  <c:v>11</c:v>
                </c:pt>
                <c:pt idx="3">
                  <c:v>12.9</c:v>
                </c:pt>
                <c:pt idx="4">
                  <c:v>14.1</c:v>
                </c:pt>
                <c:pt idx="5">
                  <c:v>15</c:v>
                </c:pt>
                <c:pt idx="6">
                  <c:v>15.7</c:v>
                </c:pt>
                <c:pt idx="7">
                  <c:v>16.6</c:v>
                </c:pt>
                <c:pt idx="8">
                  <c:v>17.4</c:v>
                </c:pt>
                <c:pt idx="9">
                  <c:v>18.2</c:v>
                </c:pt>
                <c:pt idx="10">
                  <c:v>19.1</c:v>
                </c:pt>
                <c:pt idx="11">
                  <c:v>20</c:v>
                </c:pt>
                <c:pt idx="12">
                  <c:v>20.8</c:v>
                </c:pt>
                <c:pt idx="13">
                  <c:v>21.5</c:v>
                </c:pt>
                <c:pt idx="14">
                  <c:v>22.1</c:v>
                </c:pt>
                <c:pt idx="15">
                  <c:v>22.1</c:v>
                </c:pt>
                <c:pt idx="16">
                  <c:v>21.8</c:v>
                </c:pt>
                <c:pt idx="17">
                  <c:v>21.5</c:v>
                </c:pt>
                <c:pt idx="18">
                  <c:v>21.2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Grenzwert Sport-Wettkampf GR 50</c:v>
                </c:pt>
              </c:strCache>
            </c:strRef>
          </c:tx>
          <c:spPr>
            <a:solidFill>
              <a:srgbClr val="D5DBE1"/>
            </a:solidFill>
            <a:ln w="25400" cap="flat">
              <a:solidFill>
                <a:srgbClr val="D5DBE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5DBE1"/>
              </a:solidFill>
              <a:ln w="9525" cap="flat">
                <a:solidFill>
                  <a:srgbClr val="D5DBE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50</c:v>
                </c:pt>
                <c:pt idx="11">
                  <c:v>50</c:v>
                </c:pt>
                <c:pt idx="12">
                  <c:v>50</c:v>
                </c:pt>
                <c:pt idx="13">
                  <c:v>50</c:v>
                </c:pt>
                <c:pt idx="14">
                  <c:v>50</c:v>
                </c:pt>
                <c:pt idx="15">
                  <c:v>50</c:v>
                </c:pt>
                <c:pt idx="16">
                  <c:v>50</c:v>
                </c:pt>
                <c:pt idx="17">
                  <c:v>50</c:v>
                </c:pt>
                <c:pt idx="18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Abstand hinter der Leuchte [m]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GR (Boden ρ 20 %)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 m, heute</c:v>
                </c:pt>
              </c:strCache>
            </c:strRef>
          </c:tx>
          <c:spPr>
            <a:solidFill>
              <a:srgbClr val="0B5CAD"/>
            </a:solidFill>
            <a:ln w="25400" cap="flat">
              <a:solidFill>
                <a:srgbClr val="0B5C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5CAD"/>
              </a:solidFill>
              <a:ln w="9525" cap="flat">
                <a:solidFill>
                  <a:srgbClr val="0B5C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295.702</c:v>
                </c:pt>
                <c:pt idx="1">
                  <c:v>322.842</c:v>
                </c:pt>
                <c:pt idx="2">
                  <c:v>308.256</c:v>
                </c:pt>
                <c:pt idx="3">
                  <c:v>285.899</c:v>
                </c:pt>
                <c:pt idx="4">
                  <c:v>267.534</c:v>
                </c:pt>
                <c:pt idx="5">
                  <c:v>256.653</c:v>
                </c:pt>
                <c:pt idx="6">
                  <c:v>245.048</c:v>
                </c:pt>
                <c:pt idx="7">
                  <c:v>228.529</c:v>
                </c:pt>
                <c:pt idx="8">
                  <c:v>189.643</c:v>
                </c:pt>
                <c:pt idx="9">
                  <c:v>155.193</c:v>
                </c:pt>
                <c:pt idx="10">
                  <c:v>123.289</c:v>
                </c:pt>
                <c:pt idx="11">
                  <c:v>97.642</c:v>
                </c:pt>
                <c:pt idx="12">
                  <c:v>80.11</c:v>
                </c:pt>
                <c:pt idx="13">
                  <c:v>66.37</c:v>
                </c:pt>
                <c:pt idx="14">
                  <c:v>55.149</c:v>
                </c:pt>
                <c:pt idx="15">
                  <c:v>44.4</c:v>
                </c:pt>
                <c:pt idx="16">
                  <c:v>35.106</c:v>
                </c:pt>
                <c:pt idx="17">
                  <c:v>27.58</c:v>
                </c:pt>
                <c:pt idx="18">
                  <c:v>21.47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 m, Lochung 50 %</c:v>
                </c:pt>
              </c:strCache>
            </c:strRef>
          </c:tx>
          <c:spPr>
            <a:solidFill>
              <a:srgbClr val="A35A00"/>
            </a:solidFill>
            <a:ln w="25400" cap="flat">
              <a:solidFill>
                <a:srgbClr val="A35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35A00"/>
              </a:solidFill>
              <a:ln w="9525" cap="flat">
                <a:solidFill>
                  <a:srgbClr val="A35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298.881</c:v>
                </c:pt>
                <c:pt idx="1">
                  <c:v>329.051</c:v>
                </c:pt>
                <c:pt idx="2">
                  <c:v>316.058</c:v>
                </c:pt>
                <c:pt idx="3">
                  <c:v>297.352</c:v>
                </c:pt>
                <c:pt idx="4">
                  <c:v>283.367</c:v>
                </c:pt>
                <c:pt idx="5">
                  <c:v>276.924</c:v>
                </c:pt>
                <c:pt idx="6">
                  <c:v>269.735</c:v>
                </c:pt>
                <c:pt idx="7">
                  <c:v>256.931</c:v>
                </c:pt>
                <c:pt idx="8">
                  <c:v>214.571</c:v>
                </c:pt>
                <c:pt idx="9">
                  <c:v>177.131</c:v>
                </c:pt>
                <c:pt idx="10">
                  <c:v>144.529</c:v>
                </c:pt>
                <c:pt idx="11">
                  <c:v>117.989</c:v>
                </c:pt>
                <c:pt idx="12">
                  <c:v>100.005</c:v>
                </c:pt>
                <c:pt idx="13">
                  <c:v>85.714</c:v>
                </c:pt>
                <c:pt idx="14">
                  <c:v>73.804</c:v>
                </c:pt>
                <c:pt idx="15">
                  <c:v>61.82</c:v>
                </c:pt>
                <c:pt idx="16">
                  <c:v>51.198</c:v>
                </c:pt>
                <c:pt idx="17">
                  <c:v>42.47</c:v>
                </c:pt>
                <c:pt idx="18">
                  <c:v>35.271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8 m, heute</c:v>
                </c:pt>
              </c:strCache>
            </c:strRef>
          </c:tx>
          <c:spPr>
            <a:solidFill>
              <a:srgbClr val="17202B"/>
            </a:solidFill>
            <a:ln w="25400" cap="flat">
              <a:solidFill>
                <a:srgbClr val="172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202B"/>
              </a:solidFill>
              <a:ln w="9525" cap="flat">
                <a:solidFill>
                  <a:srgbClr val="172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66.416</c:v>
                </c:pt>
                <c:pt idx="1">
                  <c:v>85.904</c:v>
                </c:pt>
                <c:pt idx="2">
                  <c:v>96.072</c:v>
                </c:pt>
                <c:pt idx="3">
                  <c:v>100.33</c:v>
                </c:pt>
                <c:pt idx="4">
                  <c:v>100.068</c:v>
                </c:pt>
                <c:pt idx="5">
                  <c:v>96.937</c:v>
                </c:pt>
                <c:pt idx="6">
                  <c:v>92.239</c:v>
                </c:pt>
                <c:pt idx="7">
                  <c:v>89.079</c:v>
                </c:pt>
                <c:pt idx="8">
                  <c:v>85.736</c:v>
                </c:pt>
                <c:pt idx="9">
                  <c:v>82.666</c:v>
                </c:pt>
                <c:pt idx="10">
                  <c:v>80.762</c:v>
                </c:pt>
                <c:pt idx="11">
                  <c:v>79.444</c:v>
                </c:pt>
                <c:pt idx="12">
                  <c:v>77.361</c:v>
                </c:pt>
                <c:pt idx="13">
                  <c:v>74.622</c:v>
                </c:pt>
                <c:pt idx="14">
                  <c:v>71.683</c:v>
                </c:pt>
                <c:pt idx="15">
                  <c:v>65.261</c:v>
                </c:pt>
                <c:pt idx="16">
                  <c:v>58.547</c:v>
                </c:pt>
                <c:pt idx="17">
                  <c:v>52.483</c:v>
                </c:pt>
                <c:pt idx="18">
                  <c:v>46.547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8 m, Lochung 50 %</c:v>
                </c:pt>
              </c:strCache>
            </c:strRef>
          </c:tx>
          <c:spPr>
            <a:solidFill>
              <a:srgbClr val="C58A3A"/>
            </a:solidFill>
            <a:ln w="25400" cap="flat">
              <a:solidFill>
                <a:srgbClr val="C58A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58A3A"/>
              </a:solidFill>
              <a:ln w="9525" cap="flat">
                <a:solidFill>
                  <a:srgbClr val="C58A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66.45</c:v>
                </c:pt>
                <c:pt idx="1">
                  <c:v>86.381</c:v>
                </c:pt>
                <c:pt idx="2">
                  <c:v>97.319</c:v>
                </c:pt>
                <c:pt idx="3">
                  <c:v>102.13</c:v>
                </c:pt>
                <c:pt idx="4">
                  <c:v>102.233</c:v>
                </c:pt>
                <c:pt idx="5">
                  <c:v>99.346</c:v>
                </c:pt>
                <c:pt idx="6">
                  <c:v>94.925</c:v>
                </c:pt>
                <c:pt idx="7">
                  <c:v>92.702</c:v>
                </c:pt>
                <c:pt idx="8">
                  <c:v>90.175</c:v>
                </c:pt>
                <c:pt idx="9">
                  <c:v>87.775</c:v>
                </c:pt>
                <c:pt idx="10">
                  <c:v>86.656</c:v>
                </c:pt>
                <c:pt idx="11">
                  <c:v>86.127</c:v>
                </c:pt>
                <c:pt idx="12">
                  <c:v>84.804</c:v>
                </c:pt>
                <c:pt idx="13">
                  <c:v>82.842</c:v>
                </c:pt>
                <c:pt idx="14">
                  <c:v>80.499</c:v>
                </c:pt>
                <c:pt idx="15">
                  <c:v>73.631</c:v>
                </c:pt>
                <c:pt idx="16">
                  <c:v>66.265</c:v>
                </c:pt>
                <c:pt idx="17">
                  <c:v>59.599</c:v>
                </c:pt>
                <c:pt idx="18">
                  <c:v>53.366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Richtwert E4 vor Sperrzeit (25 lx)</c:v>
                </c:pt>
              </c:strCache>
            </c:strRef>
          </c:tx>
          <c:spPr>
            <a:solidFill>
              <a:srgbClr val="D5DBE1"/>
            </a:solidFill>
            <a:ln w="25400" cap="flat">
              <a:solidFill>
                <a:srgbClr val="D5DBE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5DBE1"/>
              </a:solidFill>
              <a:ln w="9525" cap="flat">
                <a:solidFill>
                  <a:srgbClr val="D5DBE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1,0</c:v>
                  </c:pt>
                  <c:pt idx="1">
                    <c:v>1,5</c:v>
                  </c:pt>
                  <c:pt idx="2">
                    <c:v>2,0</c:v>
                  </c:pt>
                  <c:pt idx="3">
                    <c:v>2,5</c:v>
                  </c:pt>
                  <c:pt idx="4">
                    <c:v>3,0</c:v>
                  </c:pt>
                  <c:pt idx="5">
                    <c:v>3,5</c:v>
                  </c:pt>
                  <c:pt idx="6">
                    <c:v>4,0</c:v>
                  </c:pt>
                  <c:pt idx="7">
                    <c:v>4,5</c:v>
                  </c:pt>
                  <c:pt idx="8">
                    <c:v>5,0</c:v>
                  </c:pt>
                  <c:pt idx="9">
                    <c:v>5,5</c:v>
                  </c:pt>
                  <c:pt idx="10">
                    <c:v>6,0</c:v>
                  </c:pt>
                  <c:pt idx="11">
                    <c:v>6,5</c:v>
                  </c:pt>
                  <c:pt idx="12">
                    <c:v>7,0</c:v>
                  </c:pt>
                  <c:pt idx="13">
                    <c:v>7,5</c:v>
                  </c:pt>
                  <c:pt idx="14">
                    <c:v>8,0</c:v>
                  </c:pt>
                  <c:pt idx="15">
                    <c:v>8,5</c:v>
                  </c:pt>
                  <c:pt idx="16">
                    <c:v>9,0</c:v>
                  </c:pt>
                  <c:pt idx="17">
                    <c:v>9,5</c:v>
                  </c:pt>
                  <c:pt idx="18">
                    <c:v>10,0</c:v>
                  </c:pt>
                </c:lvl>
              </c:multiLvlStrCache>
            </c:multiLvl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25</c:v>
                </c:pt>
                <c:pt idx="7">
                  <c:v>25</c:v>
                </c:pt>
                <c:pt idx="8">
                  <c:v>25</c:v>
                </c:pt>
                <c:pt idx="9">
                  <c:v>25</c:v>
                </c:pt>
                <c:pt idx="10">
                  <c:v>25</c:v>
                </c:pt>
                <c:pt idx="11">
                  <c:v>25</c:v>
                </c:pt>
                <c:pt idx="12">
                  <c:v>25</c:v>
                </c:pt>
                <c:pt idx="13">
                  <c:v>25</c:v>
                </c:pt>
                <c:pt idx="14">
                  <c:v>25</c:v>
                </c:pt>
                <c:pt idx="15">
                  <c:v>25</c:v>
                </c:pt>
                <c:pt idx="16">
                  <c:v>25</c:v>
                </c:pt>
                <c:pt idx="17">
                  <c:v>25</c:v>
                </c:pt>
                <c:pt idx="18">
                  <c:v>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Abstand hinter der Leuchte [m]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E_v am Auge [lx]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V2 heute (3,4 %)</c:v>
                </c:pt>
              </c:strCache>
            </c:strRef>
          </c:tx>
          <c:spPr>
            <a:solidFill>
              <a:srgbClr val="17202B"/>
            </a:solidFill>
            <a:ln w="25400" cap="flat">
              <a:solidFill>
                <a:srgbClr val="172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202B"/>
              </a:solidFill>
              <a:ln w="9525" cap="flat">
                <a:solidFill>
                  <a:srgbClr val="172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23649</c:v>
                </c:pt>
                <c:pt idx="1">
                  <c:v>23103</c:v>
                </c:pt>
                <c:pt idx="2">
                  <c:v>20817</c:v>
                </c:pt>
                <c:pt idx="3">
                  <c:v>17785</c:v>
                </c:pt>
                <c:pt idx="4">
                  <c:v>15342</c:v>
                </c:pt>
                <c:pt idx="5">
                  <c:v>13178</c:v>
                </c:pt>
                <c:pt idx="6">
                  <c:v>11414</c:v>
                </c:pt>
                <c:pt idx="7">
                  <c:v>10439</c:v>
                </c:pt>
                <c:pt idx="8">
                  <c:v>9955</c:v>
                </c:pt>
                <c:pt idx="9">
                  <c:v>10250</c:v>
                </c:pt>
                <c:pt idx="10">
                  <c:v>10381</c:v>
                </c:pt>
                <c:pt idx="11">
                  <c:v>8597</c:v>
                </c:pt>
                <c:pt idx="12">
                  <c:v>6267</c:v>
                </c:pt>
                <c:pt idx="13">
                  <c:v>4658</c:v>
                </c:pt>
                <c:pt idx="14">
                  <c:v>2238</c:v>
                </c:pt>
                <c:pt idx="15">
                  <c:v>287</c:v>
                </c:pt>
                <c:pt idx="16">
                  <c:v>48</c:v>
                </c:pt>
                <c:pt idx="17">
                  <c:v>9</c:v>
                </c:pt>
                <c:pt idx="18">
                  <c:v>1</c:v>
                </c:pt>
                <c:pt idx="19">
                  <c:v>1</c:v>
                </c:pt>
                <c:pt idx="20">
                  <c:v>4</c:v>
                </c:pt>
                <c:pt idx="21">
                  <c:v>6</c:v>
                </c:pt>
                <c:pt idx="22">
                  <c:v>10</c:v>
                </c:pt>
                <c:pt idx="23">
                  <c:v>1</c:v>
                </c:pt>
                <c:pt idx="24">
                  <c:v>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Lochung 50 %</c:v>
                </c:pt>
              </c:strCache>
            </c:strRef>
          </c:tx>
          <c:spPr>
            <a:solidFill>
              <a:srgbClr val="A35A00"/>
            </a:solidFill>
            <a:ln w="25400" cap="flat">
              <a:solidFill>
                <a:srgbClr val="A35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35A00"/>
              </a:solidFill>
              <a:ln w="9525" cap="flat">
                <a:solidFill>
                  <a:srgbClr val="A35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23649</c:v>
                </c:pt>
                <c:pt idx="1">
                  <c:v>23103</c:v>
                </c:pt>
                <c:pt idx="2">
                  <c:v>20834</c:v>
                </c:pt>
                <c:pt idx="3">
                  <c:v>17987</c:v>
                </c:pt>
                <c:pt idx="4">
                  <c:v>15615</c:v>
                </c:pt>
                <c:pt idx="5">
                  <c:v>13482</c:v>
                </c:pt>
                <c:pt idx="6">
                  <c:v>11727</c:v>
                </c:pt>
                <c:pt idx="7">
                  <c:v>10929</c:v>
                </c:pt>
                <c:pt idx="8">
                  <c:v>10610</c:v>
                </c:pt>
                <c:pt idx="9">
                  <c:v>11176</c:v>
                </c:pt>
                <c:pt idx="10">
                  <c:v>11684</c:v>
                </c:pt>
                <c:pt idx="11">
                  <c:v>9777</c:v>
                </c:pt>
                <c:pt idx="12">
                  <c:v>7613</c:v>
                </c:pt>
                <c:pt idx="13">
                  <c:v>6302</c:v>
                </c:pt>
                <c:pt idx="14">
                  <c:v>3936</c:v>
                </c:pt>
                <c:pt idx="15">
                  <c:v>1710</c:v>
                </c:pt>
                <c:pt idx="16">
                  <c:v>793</c:v>
                </c:pt>
                <c:pt idx="17">
                  <c:v>146</c:v>
                </c:pt>
                <c:pt idx="18">
                  <c:v>1</c:v>
                </c:pt>
                <c:pt idx="19">
                  <c:v>1</c:v>
                </c:pt>
                <c:pt idx="20">
                  <c:v>4</c:v>
                </c:pt>
                <c:pt idx="21">
                  <c:v>6</c:v>
                </c:pt>
                <c:pt idx="22">
                  <c:v>10</c:v>
                </c:pt>
                <c:pt idx="23">
                  <c:v>1</c:v>
                </c:pt>
                <c:pt idx="24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ohne ext. Blende – Blende 2</c:v>
                </c:pt>
              </c:strCache>
            </c:strRef>
          </c:tx>
          <c:spPr>
            <a:solidFill>
              <a:srgbClr val="0B5CAD"/>
            </a:solidFill>
            <a:ln w="25400" cap="flat">
              <a:solidFill>
                <a:srgbClr val="0B5C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5CAD"/>
              </a:solidFill>
              <a:ln w="9525" cap="flat">
                <a:solidFill>
                  <a:srgbClr val="0B5C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25711</c:v>
                </c:pt>
                <c:pt idx="1">
                  <c:v>24982</c:v>
                </c:pt>
                <c:pt idx="2">
                  <c:v>21778</c:v>
                </c:pt>
                <c:pt idx="3">
                  <c:v>18564</c:v>
                </c:pt>
                <c:pt idx="4">
                  <c:v>16167</c:v>
                </c:pt>
                <c:pt idx="5">
                  <c:v>13854</c:v>
                </c:pt>
                <c:pt idx="6">
                  <c:v>11174</c:v>
                </c:pt>
                <c:pt idx="7">
                  <c:v>10258</c:v>
                </c:pt>
                <c:pt idx="8">
                  <c:v>8922</c:v>
                </c:pt>
                <c:pt idx="9">
                  <c:v>7653</c:v>
                </c:pt>
                <c:pt idx="10">
                  <c:v>4655</c:v>
                </c:pt>
                <c:pt idx="11">
                  <c:v>3058</c:v>
                </c:pt>
                <c:pt idx="12">
                  <c:v>2060</c:v>
                </c:pt>
                <c:pt idx="13">
                  <c:v>1222</c:v>
                </c:pt>
                <c:pt idx="14">
                  <c:v>789</c:v>
                </c:pt>
                <c:pt idx="15">
                  <c:v>448</c:v>
                </c:pt>
                <c:pt idx="16">
                  <c:v>253</c:v>
                </c:pt>
                <c:pt idx="17">
                  <c:v>124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ohne ext. Blende – Blende 3</c:v>
                </c:pt>
              </c:strCache>
            </c:strRef>
          </c:tx>
          <c:spPr>
            <a:solidFill>
              <a:srgbClr val="2F9A46"/>
            </a:solidFill>
            <a:ln w="25400" cap="flat">
              <a:solidFill>
                <a:srgbClr val="2F9A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9A46"/>
              </a:solidFill>
              <a:ln w="9525" cap="flat">
                <a:solidFill>
                  <a:srgbClr val="2F9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24124</c:v>
                </c:pt>
                <c:pt idx="1">
                  <c:v>23557</c:v>
                </c:pt>
                <c:pt idx="2">
                  <c:v>20961</c:v>
                </c:pt>
                <c:pt idx="3">
                  <c:v>17901</c:v>
                </c:pt>
                <c:pt idx="4">
                  <c:v>15333</c:v>
                </c:pt>
                <c:pt idx="5">
                  <c:v>12222</c:v>
                </c:pt>
                <c:pt idx="6">
                  <c:v>10733</c:v>
                </c:pt>
                <c:pt idx="7">
                  <c:v>10067</c:v>
                </c:pt>
                <c:pt idx="8">
                  <c:v>8980</c:v>
                </c:pt>
                <c:pt idx="9">
                  <c:v>8009</c:v>
                </c:pt>
                <c:pt idx="10">
                  <c:v>5177</c:v>
                </c:pt>
                <c:pt idx="11">
                  <c:v>3260</c:v>
                </c:pt>
                <c:pt idx="12">
                  <c:v>2430</c:v>
                </c:pt>
                <c:pt idx="13">
                  <c:v>1858</c:v>
                </c:pt>
                <c:pt idx="14">
                  <c:v>1386</c:v>
                </c:pt>
                <c:pt idx="15">
                  <c:v>484</c:v>
                </c:pt>
                <c:pt idx="16">
                  <c:v>190</c:v>
                </c:pt>
                <c:pt idx="17">
                  <c:v>124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Ausstrahlungswinkel γ nach hinten [°]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logBase val="10"/>
          <c:orientation val="minMax"/>
          <c:max val="100000"/>
          <c:min val="1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Lichtstärke [cd], C180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02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7202B"/>
                </a:solidFill>
                <a:latin typeface="+mn-lt"/>
              </a:rPr>
              <a:t>GR der Person (Boden ρ 20 %)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 m Montagehöhe</c:v>
                </c:pt>
              </c:strCache>
            </c:strRef>
          </c:tx>
          <c:spPr>
            <a:solidFill>
              <a:srgbClr val="0B5CA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 heute</c:v>
                  </c:pt>
                  <c:pt idx="1">
                    <c:v>V2 50 %</c:v>
                  </c:pt>
                  <c:pt idx="2">
                    <c:v>Blende 2</c:v>
                  </c:pt>
                  <c:pt idx="3">
                    <c:v>Blende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26.8</c:v>
                </c:pt>
                <c:pt idx="2">
                  <c:v>9.8</c:v>
                </c:pt>
                <c:pt idx="3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 m Montagehöhe</c:v>
                </c:pt>
              </c:strCache>
            </c:strRef>
          </c:tx>
          <c:spPr>
            <a:solidFill>
              <a:srgbClr val="D5DBE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 heute</c:v>
                  </c:pt>
                  <c:pt idx="1">
                    <c:v>V2 50 %</c:v>
                  </c:pt>
                  <c:pt idx="2">
                    <c:v>Blende 2</c:v>
                  </c:pt>
                  <c:pt idx="3">
                    <c:v>Blende 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</c:v>
                </c:pt>
                <c:pt idx="1">
                  <c:v>22.1</c:v>
                </c:pt>
                <c:pt idx="2">
                  <c:v>12.4</c:v>
                </c:pt>
                <c:pt idx="3">
                  <c:v>13.7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V2 heute</c:v>
                </c:pt>
              </c:strCache>
            </c:strRef>
          </c:tx>
          <c:spPr>
            <a:solidFill>
              <a:srgbClr val="17202B"/>
            </a:solidFill>
            <a:ln w="25400" cap="flat">
              <a:solidFill>
                <a:srgbClr val="172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202B"/>
              </a:solidFill>
              <a:ln w="9525" cap="flat">
                <a:solidFill>
                  <a:srgbClr val="172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23649</c:v>
                </c:pt>
                <c:pt idx="1">
                  <c:v>23103</c:v>
                </c:pt>
                <c:pt idx="2">
                  <c:v>20817</c:v>
                </c:pt>
                <c:pt idx="3">
                  <c:v>17785</c:v>
                </c:pt>
                <c:pt idx="4">
                  <c:v>15342</c:v>
                </c:pt>
                <c:pt idx="5">
                  <c:v>13178</c:v>
                </c:pt>
                <c:pt idx="6">
                  <c:v>11414</c:v>
                </c:pt>
                <c:pt idx="7">
                  <c:v>10439</c:v>
                </c:pt>
                <c:pt idx="8">
                  <c:v>9955</c:v>
                </c:pt>
                <c:pt idx="9">
                  <c:v>10250</c:v>
                </c:pt>
                <c:pt idx="10">
                  <c:v>10381</c:v>
                </c:pt>
                <c:pt idx="11">
                  <c:v>8597</c:v>
                </c:pt>
                <c:pt idx="12">
                  <c:v>6267</c:v>
                </c:pt>
                <c:pt idx="13">
                  <c:v>4658</c:v>
                </c:pt>
                <c:pt idx="14">
                  <c:v>2238</c:v>
                </c:pt>
                <c:pt idx="15">
                  <c:v>287</c:v>
                </c:pt>
                <c:pt idx="16">
                  <c:v>48</c:v>
                </c:pt>
                <c:pt idx="17">
                  <c:v>9</c:v>
                </c:pt>
                <c:pt idx="18">
                  <c:v>1</c:v>
                </c:pt>
                <c:pt idx="19">
                  <c:v>1</c:v>
                </c:pt>
                <c:pt idx="20">
                  <c:v>4</c:v>
                </c:pt>
                <c:pt idx="21">
                  <c:v>6</c:v>
                </c:pt>
                <c:pt idx="22">
                  <c:v>10</c:v>
                </c:pt>
                <c:pt idx="23">
                  <c:v>1</c:v>
                </c:pt>
                <c:pt idx="24">
                  <c:v>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Blende 3 (ohne ext. Blende)</c:v>
                </c:pt>
              </c:strCache>
            </c:strRef>
          </c:tx>
          <c:spPr>
            <a:solidFill>
              <a:srgbClr val="2F9A46"/>
            </a:solidFill>
            <a:ln w="25400" cap="flat">
              <a:solidFill>
                <a:srgbClr val="2F9A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9A46"/>
              </a:solidFill>
              <a:ln w="9525" cap="flat">
                <a:solidFill>
                  <a:srgbClr val="2F9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24124</c:v>
                </c:pt>
                <c:pt idx="1">
                  <c:v>23557</c:v>
                </c:pt>
                <c:pt idx="2">
                  <c:v>20961</c:v>
                </c:pt>
                <c:pt idx="3">
                  <c:v>17901</c:v>
                </c:pt>
                <c:pt idx="4">
                  <c:v>15333</c:v>
                </c:pt>
                <c:pt idx="5">
                  <c:v>12222</c:v>
                </c:pt>
                <c:pt idx="6">
                  <c:v>10733</c:v>
                </c:pt>
                <c:pt idx="7">
                  <c:v>10067</c:v>
                </c:pt>
                <c:pt idx="8">
                  <c:v>8980</c:v>
                </c:pt>
                <c:pt idx="9">
                  <c:v>8009</c:v>
                </c:pt>
                <c:pt idx="10">
                  <c:v>5177</c:v>
                </c:pt>
                <c:pt idx="11">
                  <c:v>3260</c:v>
                </c:pt>
                <c:pt idx="12">
                  <c:v>2430</c:v>
                </c:pt>
                <c:pt idx="13">
                  <c:v>1858</c:v>
                </c:pt>
                <c:pt idx="14">
                  <c:v>1386</c:v>
                </c:pt>
                <c:pt idx="15">
                  <c:v>484</c:v>
                </c:pt>
                <c:pt idx="16">
                  <c:v>190</c:v>
                </c:pt>
                <c:pt idx="17">
                  <c:v>124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B3a neue ext. Blende</c:v>
                </c:pt>
              </c:strCache>
            </c:strRef>
          </c:tx>
          <c:spPr>
            <a:solidFill>
              <a:srgbClr val="0B5CAD"/>
            </a:solidFill>
            <a:ln w="25400" cap="flat">
              <a:solidFill>
                <a:srgbClr val="0B5C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5CAD"/>
              </a:solidFill>
              <a:ln w="9525" cap="flat">
                <a:solidFill>
                  <a:srgbClr val="0B5C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  <c:pt idx="21">
                    <c:v>105</c:v>
                  </c:pt>
                  <c:pt idx="22">
                    <c:v>110</c:v>
                  </c:pt>
                  <c:pt idx="23">
                    <c:v>115</c:v>
                  </c:pt>
                  <c:pt idx="24">
                    <c:v>120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23649</c:v>
                </c:pt>
                <c:pt idx="1">
                  <c:v>23103</c:v>
                </c:pt>
                <c:pt idx="2">
                  <c:v>19912</c:v>
                </c:pt>
                <c:pt idx="3">
                  <c:v>16168</c:v>
                </c:pt>
                <c:pt idx="4">
                  <c:v>13253</c:v>
                </c:pt>
                <c:pt idx="5">
                  <c:v>11340</c:v>
                </c:pt>
                <c:pt idx="6">
                  <c:v>9242</c:v>
                </c:pt>
                <c:pt idx="7">
                  <c:v>7861</c:v>
                </c:pt>
                <c:pt idx="8">
                  <c:v>7057</c:v>
                </c:pt>
                <c:pt idx="9">
                  <c:v>6066</c:v>
                </c:pt>
                <c:pt idx="10">
                  <c:v>5781</c:v>
                </c:pt>
                <c:pt idx="11">
                  <c:v>3520</c:v>
                </c:pt>
                <c:pt idx="12">
                  <c:v>746</c:v>
                </c:pt>
                <c:pt idx="13">
                  <c:v>798</c:v>
                </c:pt>
                <c:pt idx="14">
                  <c:v>628</c:v>
                </c:pt>
                <c:pt idx="15">
                  <c:v>575</c:v>
                </c:pt>
                <c:pt idx="16">
                  <c:v>182</c:v>
                </c:pt>
                <c:pt idx="17">
                  <c:v>34</c:v>
                </c:pt>
                <c:pt idx="18">
                  <c:v>1</c:v>
                </c:pt>
                <c:pt idx="19">
                  <c:v>1</c:v>
                </c:pt>
                <c:pt idx="20">
                  <c:v>4</c:v>
                </c:pt>
                <c:pt idx="21">
                  <c:v>6</c:v>
                </c:pt>
                <c:pt idx="22">
                  <c:v>10</c:v>
                </c:pt>
                <c:pt idx="23">
                  <c:v>1</c:v>
                </c:pt>
                <c:pt idx="24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Ausstrahlungswinkel γ nach hinten [°]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logBase val="10"/>
          <c:orientation val="minMax"/>
          <c:max val="100000"/>
          <c:min val="1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Lichtstärke [cd], C180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02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7202B"/>
                </a:solidFill>
                <a:latin typeface="+mn-lt"/>
              </a:rPr>
              <a:t>GR der Person bei 5 m (bestes Ergebnis je Bautiefe)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nur Stirnblech</c:v>
                </c:pt>
              </c:strCache>
            </c:strRef>
          </c:tx>
          <c:spPr>
            <a:solidFill>
              <a:srgbClr val="17202B"/>
            </a:solidFill>
            <a:ln w="25400" cap="flat">
              <a:solidFill>
                <a:srgbClr val="172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7202B"/>
              </a:solidFill>
              <a:ln w="9525" cap="flat">
                <a:solidFill>
                  <a:srgbClr val="172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100</c:v>
                  </c:pt>
                  <c:pt idx="1">
                    <c:v>125</c:v>
                  </c:pt>
                  <c:pt idx="2">
                    <c:v>150</c:v>
                  </c:pt>
                  <c:pt idx="3">
                    <c:v>175</c:v>
                  </c:pt>
                  <c:pt idx="4">
                    <c:v>200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28.7</c:v>
                </c:pt>
                <c:pt idx="1">
                  <c:v>28.1</c:v>
                </c:pt>
                <c:pt idx="2">
                  <c:v>27</c:v>
                </c:pt>
                <c:pt idx="3">
                  <c:v>26.4</c:v>
                </c:pt>
                <c:pt idx="4">
                  <c:v>24.9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Stirnblech + 1 Lamelle</c:v>
                </c:pt>
              </c:strCache>
            </c:strRef>
          </c:tx>
          <c:spPr>
            <a:solidFill>
              <a:srgbClr val="0B5CAD"/>
            </a:solidFill>
            <a:ln w="25400" cap="flat">
              <a:solidFill>
                <a:srgbClr val="0B5C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B5CAD"/>
              </a:solidFill>
              <a:ln w="9525" cap="flat">
                <a:solidFill>
                  <a:srgbClr val="0B5C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100</c:v>
                  </c:pt>
                  <c:pt idx="1">
                    <c:v>125</c:v>
                  </c:pt>
                  <c:pt idx="2">
                    <c:v>150</c:v>
                  </c:pt>
                  <c:pt idx="3">
                    <c:v>175</c:v>
                  </c:pt>
                  <c:pt idx="4">
                    <c:v>200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23.1</c:v>
                </c:pt>
                <c:pt idx="1">
                  <c:v>17.9</c:v>
                </c:pt>
                <c:pt idx="2">
                  <c:v>13.7</c:v>
                </c:pt>
                <c:pt idx="3">
                  <c:v>10.8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3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3"/>
                    </a:solidFill>
                    <a:latin typeface="+mn-lt"/>
                  </a:rPr>
                  <a:t>Bautiefe unter dem Glas [mm]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6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Entscheidung, welche Blendenausführung aus Sicht der Blendung hinter der Leuchte besser ist. Grundlage: gemessene LDT der SIRIUS 2000 (auf ein Modul halbiert), CAD-Modell der Blende, Lichtberechnung in Blender/Cycles und analytisch aus der LVK.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GR ist bei beiden Varianten weit unter den Grenzwerten. Die Unterschiede zeigen sich bei Lichtstärke, Beleuchtungsstärke am Auge und an der Rückwand. Dort ist die Blende wie geliefert klar besser.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Leuchte strahlt von der Person weg. Die Person sieht die Leuchte schräg von hinten unter γ 64,6° (5 m) bzw. 49,6° (8 m) in der C180-Ebene, also genau in dem Bereich, den die Blende abschirmt.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Flächenbilanz der aufgebohrten Bleche wurde im CAD-Modell nachgeprüft. Die LVK der 50-%-Variante ist mit einem Strahlenmodell aus der gemessenen LVK abgeschätzt.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Logarithmische Achse. Die C0-Seite (nach vorn) ist unverändert. Die Erhöhung betrifft nur die C180-Seite ab etwa 50°, also die Richtung zur Person und zur Rückwand.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UGR nach EN 12464-1 ist für eine einzelne Flutlichtleuchte ohne Innenraum-Hintergrund nicht anwendbar, deshalb GR nach CIE 112.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markiert: Werte, die sich mit der 50-%-Lochung verschlechtern. Die Leuchtdichte des sichtbaren Glases bleibt bei etwa 100 kcd/m²; man sieht durch die Lochung nur mehr Glasfläche.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GR-Skala: 10 unmerklich, 30 merklich, 50 störend, 70 unzumutbar, 90 unerträglich.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Lichtstärke hält bei 5 m die Richtwerte für E2 bis E4 ein (beide Varianten), bei 8 m nur E4. Die Beleuchtungsstärke am Auge überschreitet in jeder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Messfeld 2 cm vor der Rückwand, Reflexion im Raum 0 %, also reines Direktlicht aus der LVK. Oberhalb von etwa 4 m bleibt es bei beiden Varianten fast dunkel.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Gleichwertig bei der Leuchtdichte: Die Leuchtdichte des Glases ändert sich nicht, nur die sichtbare Fläche. Für die Bewertung zählt deshalb vor allem Lichtstärke und GR.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nach Wirkung: Die Wahl der Blende hat den größten Einfluss auf die Blendung hinter der Leuchte; die Montagehöhe beeinflusst GR und Licht am Auge gegenläufig.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12193 Hallensport (Handball, Basketball, Volleyball): Klasse I 750 lx / U0 0,7, Klasse II 500 lx / U0 0,7, Klasse III 200 lx / U0 0,5. Die 50-%-Lochung ändert die Feldwerte nur um etwa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 nach CIE 112 mit drei Leuchten, Augenhöhe 1,2 m, Blick in die Halle 2° nach unten, Hallenboden ρ 20 %, Umgebungsleuchtdichte aus dem mittleren E_h des Feldes. Auf einer ansteigenden Tribüne können hintere Reihen stärker geblendet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Empfehlung gilt für Zuschauer hinter der Leuchtenreihe, die in die Halle schauen. Für konkrete Spielfeldmaße und Sportart sollte die Anlage vollständig gerechnet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Namen Blende 2/3 und der harte Abfall in den Daten deuten auf eine interne Blende in der Optik hin. Der Hauptstrahl ist bei B2/B3 etwa 10 % kräftiger als bei V2.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 Methode wie in den vorigen Abschnitten: eine Leuchte, Person sitzend 8 m dahinter, Blick nach vorn 2° nach unten, GR nach CIE 112. Ohne externe Blende ist die ganze Glasfläche sichtbar.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U0 0,69 bei Blende 3 liegt knapp unter der Grenze für Klasse I; mit leichter Neigung oder etwas kleinerem Abstand dürfte Klasse I erreichbar sein (zu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Vergleich gilt bei gleichem Lichtstrom. Weichen die echten Lichtströme ab, ändern sich alle Lux- und Candela-Werte im selben Verhältnis, die Rangfolge bei der Blendung aber kaum.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Ausgelegt mit visor_design.py: Gittersuche über Tiefe, Neigung und Lochung, Ziel ist die LVK der Blende 3 im hinteren Halbraum. Ein unter das Glas geneigtes Blech wäre kürzer, kostet rund 7 % Lichtstrom. Wangen so tief wie das Stirnblech schneiden das Licht zur Seite ab: dann verfehlt die Arena-Reihe Klasse I (U0 0,67–0,69, variant_study.txt). CAD: blende_b3_aussen.stp und sirius1000_blende_b3.stp.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LVK berechnet: Optik ohne Blende aus der gemessenen V2-LVK zurückgerechnet, neue Abschattung mit Strahlenmodell (Lochung mit Blechdicke), Innenseite matt schwarz. Dateien: SIRIUS1000_Blende_B3_aussen_berechnet.ldt und sirius1000_visor_b3.ies.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 Methode wie im Abschnitt ohne externe Blende; für B3a ist der sichtbare Glasanteil aus der neuen Blendengeometrie gerechnet. Vergleich der Optik bei gleichem Lichtstrom 111.246 lm vor Blende.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visor_mini.py: 550 Varianten (0–3 Lamellen, Tiefe 100–300 mm, Neigung 0–45°, Wangen kurz/lang/keine). Im Diagramm nur Varianten mit höchstens 5 % Lichtverlust und U0 ≥ 0,66. Zwei und mehr Lamellen kosten über 5 % Lichtstrom.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Lamelle beginnt 15 mm unter dem Glas, unter dem Gehäuserahmen. Ihre Befestigung an den Stirnseiten des Gehäuses ist noch nicht konstruiert. CAD: blende_b3k_kompakt.stp.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Werte aus vergleich_blenden.txt. Keine Lamellen-Variante mit höchstens 5 % Lichtverlust erreicht U0 0,70; schon V2 liegt bei 0,699.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Skripte und Szenen: lichtplanung/sirius1000 auf dem Branch, Pakete sirius1000_raum_paket.zip und sirius1000_perf50_paket.zip.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749040"/>
            <a:ext cx="9601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Siteco SIRIUS 1000 · Blendungsbewertung außenliegende Blende · Rev. C · 26.10.2026 · Entwurf zur Prüfung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BLENDUNGSBEWERTUNG · LICHTTECHNIK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SIRIUS 1000 mit außenliegender Blende: Lochung 3,4 % oder 50 %?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749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Bewertung beider Blendenvarianten für eine sitzende Person 8 m hinter der Leuchte und für Zuschauer in einer Arena, bei 5 m und 8 m Montagehöhe – inklusive Vergleich mit zwei Lichtverteilungen ohne externe Blende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Rev. A  ·  23.10.2026  ·  Bearbeiter W. Rödel  ·  Status: Entwurf zur Prüfung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ERGEBNIS AUF EINEN BLICK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Die gelieferte Blende blendet weniger als die 50-%-Lochung</a:t>
            </a:r>
            <a:endParaRPr lang="en-US" sz="2800" dirty="0"/>
          </a:p>
        </p:txBody>
      </p:sp>
      <p:sp>
        <p:nvSpPr>
          <p:cNvPr id="4" name="KPI GR Kachel"/>
          <p:cNvSpPr/>
          <p:nvPr/>
        </p:nvSpPr>
        <p:spPr>
          <a:xfrm>
            <a:off x="548640" y="1691640"/>
            <a:ext cx="2606040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KPI GR Wert"/>
          <p:cNvSpPr txBox="1"/>
          <p:nvPr/>
        </p:nvSpPr>
        <p:spPr>
          <a:xfrm>
            <a:off x="777240" y="1874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24,0 → 26,8</a:t>
            </a:r>
            <a:endParaRPr lang="en-US" sz="3000" dirty="0"/>
          </a:p>
        </p:txBody>
      </p:sp>
      <p:sp>
        <p:nvSpPr>
          <p:cNvPr id="6" name="KPI GR Text"/>
          <p:cNvSpPr txBox="1"/>
          <p:nvPr/>
        </p:nvSpPr>
        <p:spPr>
          <a:xfrm>
            <a:off x="777240" y="2606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Glare Rating GR bei 5 m (Boden ρ 20 %). Grenzwerte 45–55: beide unkritisch</a:t>
            </a:r>
            <a:endParaRPr lang="en-US" sz="1200" dirty="0"/>
          </a:p>
        </p:txBody>
      </p:sp>
      <p:sp>
        <p:nvSpPr>
          <p:cNvPr id="7" name="KPI Lichtstärke Kachel"/>
          <p:cNvSpPr/>
          <p:nvPr/>
        </p:nvSpPr>
        <p:spPr>
          <a:xfrm>
            <a:off x="3367735" y="1691640"/>
            <a:ext cx="2606040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KPI Lichtstärke Wert"/>
          <p:cNvSpPr txBox="1"/>
          <p:nvPr/>
        </p:nvSpPr>
        <p:spPr>
          <a:xfrm>
            <a:off x="3596335" y="1874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+34 %</a:t>
            </a:r>
            <a:endParaRPr lang="en-US" sz="3000" dirty="0"/>
          </a:p>
        </p:txBody>
      </p:sp>
      <p:sp>
        <p:nvSpPr>
          <p:cNvPr id="9" name="KPI Lichtstärke Text"/>
          <p:cNvSpPr txBox="1"/>
          <p:nvPr/>
        </p:nvSpPr>
        <p:spPr>
          <a:xfrm>
            <a:off x="3596335" y="2606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Lichtstärke zur Person bei 5 m: 4.789 → 6.409 cd</a:t>
            </a:r>
            <a:endParaRPr lang="en-US" sz="1200" dirty="0"/>
          </a:p>
        </p:txBody>
      </p:sp>
      <p:sp>
        <p:nvSpPr>
          <p:cNvPr id="10" name="KPI Auge Kachel"/>
          <p:cNvSpPr/>
          <p:nvPr/>
        </p:nvSpPr>
        <p:spPr>
          <a:xfrm>
            <a:off x="6186830" y="1691640"/>
            <a:ext cx="2606040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KPI Auge Wert"/>
          <p:cNvSpPr txBox="1"/>
          <p:nvPr/>
        </p:nvSpPr>
        <p:spPr>
          <a:xfrm>
            <a:off x="6415430" y="1874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55 → 74 lx</a:t>
            </a:r>
            <a:endParaRPr lang="en-US" sz="3000" dirty="0"/>
          </a:p>
        </p:txBody>
      </p:sp>
      <p:sp>
        <p:nvSpPr>
          <p:cNvPr id="12" name="KPI Auge Text"/>
          <p:cNvSpPr txBox="1"/>
          <p:nvPr/>
        </p:nvSpPr>
        <p:spPr>
          <a:xfrm>
            <a:off x="6415430" y="2606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Beleuchtungsstärke am Auge bei 5 m. Störlicht-Richtwert E4: 25 lx</a:t>
            </a:r>
            <a:endParaRPr lang="en-US" sz="1200" dirty="0"/>
          </a:p>
        </p:txBody>
      </p:sp>
      <p:sp>
        <p:nvSpPr>
          <p:cNvPr id="13" name="KPI Rückwand Kachel"/>
          <p:cNvSpPr/>
          <p:nvPr/>
        </p:nvSpPr>
        <p:spPr>
          <a:xfrm>
            <a:off x="9005926" y="1691640"/>
            <a:ext cx="2606040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KPI Rückwand Wert"/>
          <p:cNvSpPr txBox="1"/>
          <p:nvPr/>
        </p:nvSpPr>
        <p:spPr>
          <a:xfrm>
            <a:off x="9234526" y="1874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+48 %</a:t>
            </a:r>
            <a:endParaRPr lang="en-US" sz="3000" dirty="0"/>
          </a:p>
        </p:txBody>
      </p:sp>
      <p:sp>
        <p:nvSpPr>
          <p:cNvPr id="15" name="KPI Rückwand Text"/>
          <p:cNvSpPr txBox="1"/>
          <p:nvPr/>
        </p:nvSpPr>
        <p:spPr>
          <a:xfrm>
            <a:off x="9234526" y="2606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Mittlere Beleuchtungsstärke an der Rückwand bei 5 m: 7,1 → 10,5 lx</a:t>
            </a:r>
            <a:endParaRPr lang="en-US" sz="1200" dirty="0"/>
          </a:p>
        </p:txBody>
      </p:sp>
      <p:sp>
        <p:nvSpPr>
          <p:cNvPr id="16" name="Bewertung Hintergrund"/>
          <p:cNvSpPr/>
          <p:nvPr/>
        </p:nvSpPr>
        <p:spPr>
          <a:xfrm>
            <a:off x="548640" y="3886200"/>
            <a:ext cx="11064240" cy="18288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Bewertung Text"/>
          <p:cNvSpPr txBox="1"/>
          <p:nvPr/>
        </p:nvSpPr>
        <p:spPr>
          <a:xfrm>
            <a:off x="822960" y="406908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Bewertung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Für die Blendung hinter der Leuchte ist die Blende wie geliefert (Lochung 3,4 %) besser als die 50-%-Lochung. Die 50-%-Lochung bleibt nach Glare Rating unkritisch, lässt aber deutlich mehr Licht zur Person und auf die Rückwand.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Noch besser schneiden die Lichtverteilungen ohne externe Blende ab: Mit „Blende 2“ sinkt die Blendung der Person auf GR 9,8 (5 m) – siehe Abschnitt „Ohne externe Blende“.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SITUATION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Leuchte frei im Raum, Person sitzt 8 m dahinter</a:t>
            </a:r>
            <a:endParaRPr lang="en-US" sz="2800" dirty="0"/>
          </a:p>
        </p:txBody>
      </p:sp>
      <p:pic>
        <p:nvPicPr>
          <p:cNvPr id="4" name="Szene Übersicht" descr="Blender-Szene: Leuchte in 5 m Höhe, Maßstäbe, Person vor der Rückwand mit Falschfarben-Messf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675120" cy="4405579"/>
          </a:xfrm>
          <a:prstGeom prst="rect">
            <a:avLst/>
          </a:prstGeom>
        </p:spPr>
      </p:pic>
      <p:sp>
        <p:nvSpPr>
          <p:cNvPr id="5" name="Bildunterschrift Szene"/>
          <p:cNvSpPr txBox="1"/>
          <p:nvPr/>
        </p:nvSpPr>
        <p:spPr>
          <a:xfrm>
            <a:off x="548640" y="60807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Blender-Szene mit Maßstäben und Messfeld an der Rückwand (5 m Montagehöhe)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45920"/>
          <a:ext cx="40233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PARAMETER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WERT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Leuchte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SIRIUS 1000, 1 Modul, 5000 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Lichtstrom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111.246 lm, 985,5 W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Montage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Glas nach unten, 5 m /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Hauptstrahl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nach vorn, C0, γ 35°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hinten, zur Person, 200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Person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m hinter der Leuchte, sitzend, Augenhöhe 1,2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Blickrichtung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nach vorn, 2° nach unten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Raum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 × 18 m, Reflexion 0 %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DIE ZWEI LÖSUNGEN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Gleiches Raster, Lochdurchmesser fast vervierfacht</a:t>
            </a:r>
            <a:endParaRPr lang="en-US" sz="2800" dirty="0"/>
          </a:p>
        </p:txBody>
      </p:sp>
      <p:pic>
        <p:nvPicPr>
          <p:cNvPr id="4" name="Blende Vergleich" descr="Renderings der Blende: links mit 50 % Lochung (Ø 9,6 mm), rechts wie geliefert (Ø 2,5 mm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3337560"/>
          </a:xfrm>
          <a:prstGeom prst="rect">
            <a:avLst/>
          </a:prstGeom>
        </p:spPr>
      </p:pic>
      <p:sp>
        <p:nvSpPr>
          <p:cNvPr id="5" name="Bildunterschrift Blende"/>
          <p:cNvSpPr txBox="1"/>
          <p:nvPr/>
        </p:nvSpPr>
        <p:spPr>
          <a:xfrm>
            <a:off x="548640" y="5120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Links: Lochung 50 % (Ø 9,57 mm) · rechts: wie geliefert (Ø 2,5 mm)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91640"/>
          <a:ext cx="40233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97280"/>
                <a:gridCol w="1325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LOCHUNG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Lochdurchmesser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9,57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Raster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 mm quadr.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 mm quadr.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Blechdicke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Offene Fläche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9,5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Löcher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LVK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gemessen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abgeschätzt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Hinweis Blende"/>
          <p:cNvSpPr txBox="1"/>
          <p:nvPr/>
        </p:nvSpPr>
        <p:spPr>
          <a:xfrm>
            <a:off x="7589520" y="484632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Gelocht sind Stirnblech (325 Löcher) und beide Seitenwangen (je 141). Die Löcher wurden im CAD-Modell an denselben Mittelpunkten aufgebohrt.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LICHTVERTEILUNG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Mehr Licht nach hinten nur dort, wo die Blende abdeckt</a:t>
            </a:r>
            <a:endParaRPr lang="en-US" sz="2800" dirty="0"/>
          </a:p>
        </p:txBody>
      </p:sp>
      <p:graphicFrame>
        <p:nvGraphicFramePr>
          <p:cNvPr id="4" name="LVK Diagramm" descr=""/>
          <p:cNvGraphicFramePr/>
          <p:nvPr/>
        </p:nvGraphicFramePr>
        <p:xfrm>
          <a:off x="548640" y="164592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91640"/>
          <a:ext cx="3566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C180, γ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49,6° (Person 8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10.371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11.647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64,6° (Person 5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4.789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6.409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75°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287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1.710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793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VK Kommentar"/>
          <p:cNvSpPr txBox="1"/>
          <p:nvPr/>
        </p:nvSpPr>
        <p:spPr>
          <a:xfrm>
            <a:off x="8046720" y="38862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 etwa 72° liegt die ganze Lichtaustrittsfläche hinter der Blende. Dort lässt heute nur die Lochung Licht durch, künftig ein Vielfaches. Gesamtlichtstrom +2,3 %.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BEWERTUNGSVERFAHREN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Glare Rating als Maßstab, ergänzt um Licht am Auge</a:t>
            </a:r>
            <a:endParaRPr lang="en-US" sz="2800" dirty="0"/>
          </a:p>
        </p:txBody>
      </p:sp>
      <p:sp>
        <p:nvSpPr>
          <p:cNvPr id="4" name="Methode GR Nummer"/>
          <p:cNvSpPr txBox="1"/>
          <p:nvPr/>
        </p:nvSpPr>
        <p:spPr>
          <a:xfrm>
            <a:off x="548640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Methode GR Titel"/>
          <p:cNvSpPr txBox="1"/>
          <p:nvPr/>
        </p:nvSpPr>
        <p:spPr>
          <a:xfrm>
            <a:off x="1051560" y="1737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Glare Rating GR</a:t>
            </a:r>
            <a:endParaRPr lang="en-US" sz="1700" dirty="0"/>
          </a:p>
        </p:txBody>
      </p:sp>
      <p:sp>
        <p:nvSpPr>
          <p:cNvPr id="6" name="Methode GR Text"/>
          <p:cNvSpPr txBox="1"/>
          <p:nvPr/>
        </p:nvSpPr>
        <p:spPr>
          <a:xfrm>
            <a:off x="1051560" y="21945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 112 / EN 12464-2: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 = 27 + 24 · log(L_vl / L_ve^0,9)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Skala 10 (unmerklich) bis 90 (unerträglich). Grenzwerte 45–55.</a:t>
            </a:r>
            <a:endParaRPr lang="en-US" sz="1400" dirty="0"/>
          </a:p>
        </p:txBody>
      </p:sp>
      <p:sp>
        <p:nvSpPr>
          <p:cNvPr id="7" name="Methode Schleier Nummer"/>
          <p:cNvSpPr txBox="1"/>
          <p:nvPr/>
        </p:nvSpPr>
        <p:spPr>
          <a:xfrm>
            <a:off x="4325112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Methode Schleier Titel"/>
          <p:cNvSpPr txBox="1"/>
          <p:nvPr/>
        </p:nvSpPr>
        <p:spPr>
          <a:xfrm>
            <a:off x="4828032" y="1737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Schleierleuchtdichte</a:t>
            </a:r>
            <a:endParaRPr lang="en-US" sz="1700" dirty="0"/>
          </a:p>
        </p:txBody>
      </p:sp>
      <p:sp>
        <p:nvSpPr>
          <p:cNvPr id="9" name="Methode Schleier Text"/>
          <p:cNvSpPr txBox="1"/>
          <p:nvPr/>
        </p:nvSpPr>
        <p:spPr>
          <a:xfrm>
            <a:off x="4828032" y="21945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Leuchte: L_vl = 10 · E_Auge / θ²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Umgebung: L_ve = 0,035 · ρ · E_h / 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θ = Winkel zwischen Blickrichtung und Leuchte.</a:t>
            </a:r>
            <a:endParaRPr lang="en-US" sz="1400" dirty="0"/>
          </a:p>
        </p:txBody>
      </p:sp>
      <p:sp>
        <p:nvSpPr>
          <p:cNvPr id="10" name="Methode Störlicht Nummer"/>
          <p:cNvSpPr txBox="1"/>
          <p:nvPr/>
        </p:nvSpPr>
        <p:spPr>
          <a:xfrm>
            <a:off x="8101584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Methode Störlicht Titel"/>
          <p:cNvSpPr txBox="1"/>
          <p:nvPr/>
        </p:nvSpPr>
        <p:spPr>
          <a:xfrm>
            <a:off x="8604504" y="1737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Licht am Auge</a:t>
            </a:r>
            <a:endParaRPr lang="en-US" sz="1700" dirty="0"/>
          </a:p>
        </p:txBody>
      </p:sp>
      <p:sp>
        <p:nvSpPr>
          <p:cNvPr id="12" name="Methode Störlicht Text"/>
          <p:cNvSpPr txBox="1"/>
          <p:nvPr/>
        </p:nvSpPr>
        <p:spPr>
          <a:xfrm>
            <a:off x="8604504" y="21945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Lichtstärke zur Person und vertikale Beleuchtungsstärke E_v, eingeordnet an den Störlicht-Richtwerten (EN 12464-2 / CIE 150).</a:t>
            </a:r>
            <a:endParaRPr lang="en-US" sz="1400" dirty="0"/>
          </a:p>
        </p:txBody>
      </p:sp>
      <p:sp>
        <p:nvSpPr>
          <p:cNvPr id="13" name="Annahmen Kasten"/>
          <p:cNvSpPr/>
          <p:nvPr/>
        </p:nvSpPr>
        <p:spPr>
          <a:xfrm>
            <a:off x="548640" y="3657600"/>
            <a:ext cx="11064240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Annahmen Text"/>
          <p:cNvSpPr txBox="1"/>
          <p:nvPr/>
        </p:nvSpPr>
        <p:spPr>
          <a:xfrm>
            <a:off x="822960" y="37947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Annahmen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Blick horizontal nach vorn, 2° nach unten (CIE 112)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 braucht Umgebungsleuchtdichte: gerechnet mit Boden-Reflexionsgrad ρ = 20 % (10 % und 30 % zum Vergleich). Bei 0 % wäre GR nicht definiert.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Wirkung der Blende steckt in der LVK; Person nicht als Hindernis berücksichtigt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ERGEBNISSE AM AUGE DER PERSON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Die 50-%-Lochung erhöht alle Werte, GR bleibt weit unter 45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5 m · 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5 m · LOCHUNG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8 m · 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8 m · LOCHUNG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Abstand Auge – Leuchte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8,86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8,86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10,50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10,50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Winkel zur Blickrichtung 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27,4°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27,4°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42,4°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42,4°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Ausstrahlungswinkel (C180)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γ 64,6°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γ 64,6°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γ 49,6°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γ 49,6°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Lichtstärke zur Person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4.789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6.409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10.371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11.647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Sichtbarer Glasanteil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82 %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Leuchtdichte sichtbares Glas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107 kcd/m²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94 kcd/m²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101 kcd/m²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96 kcd/m²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E_v am Auge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74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81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Schleierleuchtdichte L_vl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0,72 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0,97 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0,39 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0,44 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 (ρ 20 %)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24,0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26,8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21,0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22,1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GR (ρ 10 % / 30 %)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30,5 / 20,1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33,3 / 23,0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27,5 / 17,2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28,6 / 18,3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GLARE RATING ÜBER DEN ABSTAND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GR bleibt an jeder Position hinter der Leuchte unter 32</a:t>
            </a:r>
            <a:endParaRPr lang="en-US" sz="2800" dirty="0"/>
          </a:p>
        </p:txBody>
      </p:sp>
      <p:graphicFrame>
        <p:nvGraphicFramePr>
          <p:cNvPr id="4" name="GR Diagramm" descr=""/>
          <p:cNvGraphicFramePr/>
          <p:nvPr/>
        </p:nvGraphicFramePr>
        <p:xfrm>
          <a:off x="548640" y="1645920"/>
          <a:ext cx="7589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GR Kommentar"/>
          <p:cNvSpPr txBox="1"/>
          <p:nvPr/>
        </p:nvSpPr>
        <p:spPr>
          <a:xfrm>
            <a:off x="8412480" y="173736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 m: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Maximum bei etwa 4,5 m hinter der Leuchte, GR 30 (heute) bzw. 31 (50 %). An der Person (8 m) 24,0 gegen 26,8.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 m: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 steigt bis zur Person stetig an, die Kurven liegen nah beieinander (21,0 gegen 22,1).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Die höhere Montage senkt GR, weil die Leuchte weiter aus dem Blickfeld rückt.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LICHT AM AUGE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Am Auge liegen beide Lösungen über jedem Störlicht-Richtwert</a:t>
            </a:r>
            <a:endParaRPr lang="en-US" sz="2800" dirty="0"/>
          </a:p>
        </p:txBody>
      </p:sp>
      <p:graphicFrame>
        <p:nvGraphicFramePr>
          <p:cNvPr id="4" name="Ev Diagramm" descr=""/>
          <p:cNvGraphicFramePr/>
          <p:nvPr/>
        </p:nvGraphicFramePr>
        <p:xfrm>
          <a:off x="548640" y="1645920"/>
          <a:ext cx="7589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0" y="1691640"/>
          <a:ext cx="3200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AN DER PERSON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E_v,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E_v,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4.789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6.409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10.371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11.647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örlicht Hinweis"/>
          <p:cNvSpPr txBox="1"/>
          <p:nvPr/>
        </p:nvSpPr>
        <p:spPr>
          <a:xfrm>
            <a:off x="8412480" y="388620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Richtwerte vor Sperrzeit: E_v 5 / 10 / 25 lx (E2 / E3 / E4), Lichtstärke 7.500 / 10.000 / 25.000 cd. Sie gelten für Fenster von Anwohnern und dienen hier zur Einordnung.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AUFHELLUNG HINTER DER PERSON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An der Rückwand wird es mit 50 % Lochung deutlich heller</a:t>
            </a:r>
            <a:endParaRPr lang="en-US" sz="2800" dirty="0"/>
          </a:p>
        </p:txBody>
      </p:sp>
      <p:sp>
        <p:nvSpPr>
          <p:cNvPr id="4" name="Rückwand heute Titel"/>
          <p:cNvSpPr txBox="1"/>
          <p:nvPr/>
        </p:nvSpPr>
        <p:spPr>
          <a:xfrm>
            <a:off x="548640" y="1600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Heute (Lochung 3,4 %) · 5 m</a:t>
            </a:r>
            <a:endParaRPr lang="en-US" sz="1400" dirty="0"/>
          </a:p>
        </p:txBody>
      </p:sp>
      <p:pic>
        <p:nvPicPr>
          <p:cNvPr id="5" name="Rückwand heute" descr="Falschfarben der vertikalen Beleuchtungsstärke an der Rückwand, Blende heute, 5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394960" cy="2917594"/>
          </a:xfrm>
          <a:prstGeom prst="rect">
            <a:avLst/>
          </a:prstGeom>
        </p:spPr>
      </p:pic>
      <p:sp>
        <p:nvSpPr>
          <p:cNvPr id="6" name="Rückwand 50 Titel"/>
          <p:cNvSpPr txBox="1"/>
          <p:nvPr/>
        </p:nvSpPr>
        <p:spPr>
          <a:xfrm>
            <a:off x="6217920" y="1600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Lochung 50 % · 5 m</a:t>
            </a:r>
            <a:endParaRPr lang="en-US" sz="1400" dirty="0"/>
          </a:p>
        </p:txBody>
      </p:sp>
      <p:pic>
        <p:nvPicPr>
          <p:cNvPr id="7" name="Rückwand 50" descr="Falschfarben der vertikalen Beleuchtungsstärke an der Rückwand, Lochung 50 %, 5 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65960"/>
            <a:ext cx="5394960" cy="2917594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0292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377440"/>
                <a:gridCol w="23774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RÜCKWAND, 10 m HINTER DER LEUCHTE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LOCHUNG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ÄNDERUNG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 m: Emittel / Emax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7,1 / 37,3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10,5 / 49,1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+48 % / +32 %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m: Emittel / Emax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16,1 / 48,0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20,5 / 54,6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+27 % / +14 %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BEWERTUNGSMATRIX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 allen Blendungskriterien liegt die Blende wie geliefert vorn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KRITERIUM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HEUTE (3,4 %)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LOCHUNG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VORTEIL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Glare Rating,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26,8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heute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Glare Rating,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22,1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heute (knapp)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Lichtstärke zur Person,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4.789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6.409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heute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Beleuchtungsstärke am Auge,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heute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Leuchtdichte sichtbares Glas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≈ 107 kcd/m²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≈ 94 kcd/m²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gleichwertig, beide sehr hoch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Aufhellung Rückwand,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heute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Nutzlichtstrom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111.246 lm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≈ 113.650 lm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50 % (+2 %)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Datengrundlage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gemessene LDT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abgeschätzte LVK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heute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Matrix Fazit"/>
          <p:cNvSpPr txBox="1"/>
          <p:nvPr/>
        </p:nvSpPr>
        <p:spPr>
          <a:xfrm>
            <a:off x="548640" y="4983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Die 50-%-Lochung bringt nur beim Lichtstrom einen kleinen Gewinn. Dieser Mehrlichtstrom geht nach hinten, also genau dorthin, wo er blendet und aufhellt.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EMPFEHLUNG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Blende wie geliefert beibehalten, 50 % nur nach Messung</a:t>
            </a:r>
            <a:endParaRPr lang="en-US" sz="2800" dirty="0"/>
          </a:p>
        </p:txBody>
      </p:sp>
      <p:sp>
        <p:nvSpPr>
          <p:cNvPr id="4" name="Empfehlung 1 Nummer"/>
          <p:cNvSpPr txBox="1"/>
          <p:nvPr/>
        </p:nvSpPr>
        <p:spPr>
          <a:xfrm>
            <a:off x="548640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Empfehlung 1 Titel"/>
          <p:cNvSpPr txBox="1"/>
          <p:nvPr/>
        </p:nvSpPr>
        <p:spPr>
          <a:xfrm>
            <a:off x="1051560" y="17373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Blende wie geliefert beibehalten</a:t>
            </a:r>
            <a:endParaRPr lang="en-US" sz="1700" dirty="0"/>
          </a:p>
        </p:txBody>
      </p:sp>
      <p:sp>
        <p:nvSpPr>
          <p:cNvPr id="6" name="Empfehlung 1 Text"/>
          <p:cNvSpPr txBox="1"/>
          <p:nvPr/>
        </p:nvSpPr>
        <p:spPr>
          <a:xfrm>
            <a:off x="1051560" y="219456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Wenn die Blendung hinter der Leuchte das Kriterium ist, ist die Lochung 3,4 % in allen Punkten besser.</a:t>
            </a:r>
            <a:endParaRPr lang="en-US" sz="1400" dirty="0"/>
          </a:p>
        </p:txBody>
      </p:sp>
      <p:sp>
        <p:nvSpPr>
          <p:cNvPr id="7" name="Empfehlung 2 Nummer"/>
          <p:cNvSpPr txBox="1"/>
          <p:nvPr/>
        </p:nvSpPr>
        <p:spPr>
          <a:xfrm>
            <a:off x="6217920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Empfehlung 2 Titel"/>
          <p:cNvSpPr txBox="1"/>
          <p:nvPr/>
        </p:nvSpPr>
        <p:spPr>
          <a:xfrm>
            <a:off x="6720840" y="17373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Falls 50 % gewünscht: 8 m bevorzugen</a:t>
            </a:r>
            <a:endParaRPr lang="en-US" sz="1700" dirty="0"/>
          </a:p>
        </p:txBody>
      </p:sp>
      <p:sp>
        <p:nvSpPr>
          <p:cNvPr id="9" name="Empfehlung 2 Text"/>
          <p:cNvSpPr txBox="1"/>
          <p:nvPr/>
        </p:nvSpPr>
        <p:spPr>
          <a:xfrm>
            <a:off x="6720840" y="219456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Bei 8 m steigt die Lichtstärke zur Person nur um 12 %, GR um 1,1. Bei 5 m sind es 34 % und 2,8.</a:t>
            </a:r>
            <a:endParaRPr lang="en-US" sz="1400" dirty="0"/>
          </a:p>
        </p:txBody>
      </p:sp>
      <p:sp>
        <p:nvSpPr>
          <p:cNvPr id="10" name="Empfehlung 3 Nummer"/>
          <p:cNvSpPr txBox="1"/>
          <p:nvPr/>
        </p:nvSpPr>
        <p:spPr>
          <a:xfrm>
            <a:off x="548640" y="3886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Empfehlung 3 Titel"/>
          <p:cNvSpPr txBox="1"/>
          <p:nvPr/>
        </p:nvSpPr>
        <p:spPr>
          <a:xfrm>
            <a:off x="1051560" y="38862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LVK der 50-%-Variante messen</a:t>
            </a:r>
            <a:endParaRPr lang="en-US" sz="1700" dirty="0"/>
          </a:p>
        </p:txBody>
      </p:sp>
      <p:sp>
        <p:nvSpPr>
          <p:cNvPr id="12" name="Empfehlung 3 Text"/>
          <p:cNvSpPr txBox="1"/>
          <p:nvPr/>
        </p:nvSpPr>
        <p:spPr>
          <a:xfrm>
            <a:off x="1051560" y="434340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Die neue LVK ist abgeschätzt. Vor einer Entscheidung am Goniophotometer messen.</a:t>
            </a:r>
            <a:endParaRPr lang="en-US" sz="1400" dirty="0"/>
          </a:p>
        </p:txBody>
      </p:sp>
      <p:sp>
        <p:nvSpPr>
          <p:cNvPr id="13" name="Empfehlung 4 Nummer"/>
          <p:cNvSpPr txBox="1"/>
          <p:nvPr/>
        </p:nvSpPr>
        <p:spPr>
          <a:xfrm>
            <a:off x="6217920" y="3886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Empfehlung 4 Titel"/>
          <p:cNvSpPr txBox="1"/>
          <p:nvPr/>
        </p:nvSpPr>
        <p:spPr>
          <a:xfrm>
            <a:off x="6720840" y="38862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Störlicht prüfen</a:t>
            </a:r>
            <a:endParaRPr lang="en-US" sz="1700" dirty="0"/>
          </a:p>
        </p:txBody>
      </p:sp>
      <p:sp>
        <p:nvSpPr>
          <p:cNvPr id="15" name="Empfehlung 4 Text"/>
          <p:cNvSpPr txBox="1"/>
          <p:nvPr/>
        </p:nvSpPr>
        <p:spPr>
          <a:xfrm>
            <a:off x="6720840" y="434340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E_v am Auge liegt bei beiden Varianten über E4. Bei Anwohnern oder Arbeitsplätzen hinter der Leuchte: Neigung, Abstand oder geschlossene Blende prüfen.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ARENA · BELEUCHTUNGSSTÄRKE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Arena: 8 m erreicht Klasse I, 5 m ist zu ungleichmäßig</a:t>
            </a:r>
            <a:endParaRPr lang="en-US" sz="2800" dirty="0"/>
          </a:p>
        </p:txBody>
      </p:sp>
      <p:pic>
        <p:nvPicPr>
          <p:cNvPr id="4" name="Arena Beleuchtung" descr="Falschfarben der horizontalen Beleuchtungsstärke in der Halle bei 5 m und 8 m Montagehöhe, drei Leuchten im Abstand von 6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315200" cy="3751783"/>
          </a:xfrm>
          <a:prstGeom prst="rect">
            <a:avLst/>
          </a:prstGeom>
        </p:spPr>
      </p:pic>
      <p:sp>
        <p:nvSpPr>
          <p:cNvPr id="5" name="Arena Bildunterschrift"/>
          <p:cNvSpPr txBox="1"/>
          <p:nvPr/>
        </p:nvSpPr>
        <p:spPr>
          <a:xfrm>
            <a:off x="548640" y="5440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Drei Leuchten im Abstand von 6 m, Blende heute, Direktlicht, Wartungsfaktor 0,8. Gestrichelt: Bewertungsfeld 18 × 8 m. Reihe = durchgehende Reihe mit Leuchten alle 6 m.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645920"/>
          <a:ext cx="3520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0292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FELD 18 × 8 m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Ē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U0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EN 12193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Leuchten,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1.166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keine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Leuchten,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keine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Reihe,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1.349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keine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Reihe,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1.080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Arena Kommentar"/>
          <p:cNvSpPr txBox="1"/>
          <p:nvPr/>
        </p:nvSpPr>
        <p:spPr>
          <a:xfrm>
            <a:off x="8092440" y="379476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Der Mittelwert reicht überall für Klasse I (750 lx). Bei 5 m entsteht ein heller Fleck 3 m vor der Reihe. Eine einseitige Reihe leuchtet etwa 8 m tief; ein ganzes Spielfeld braucht weitere Reihen.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ARENA · BLENDUNG DER ZUSCHAUER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Zuschauer kaum geblendet, gelieferte Blende bleibt besser</a:t>
            </a:r>
            <a:endParaRPr lang="en-US" sz="2800" dirty="0"/>
          </a:p>
        </p:txBody>
      </p:sp>
      <p:pic>
        <p:nvPicPr>
          <p:cNvPr id="4" name="Arena Blendungskarten" descr="Karten des Glare Rating für Zuschauerplätze hinter der Leuchtenreihe, beide Blenden, 5 m und 8 m Montagehöh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035040" cy="441106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64592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GR ZUSCHAUER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 m, Platz 8 m dahinter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17,3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 m, ungünstigster Platz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m, Platz 8 m dahinter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14,4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m, ungünstigster Platz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E_v am Auge,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76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99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rena Blendung Kommentar"/>
          <p:cNvSpPr txBox="1"/>
          <p:nvPr/>
        </p:nvSpPr>
        <p:spPr>
          <a:xfrm>
            <a:off x="6858000" y="416052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Alle Werte liegen weit unter „störend“ (GR 50). Die Zuschauer schauen in die helle Arena, das dämpft die Blendung. Am stärksten blendet es bei 5 m auf den Plätzen 4–6 m hinter der Reihe, direkt unter der Blendenkante.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ARENA · EMPFEHLUNG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Für die Arena: gelieferte Blende und 8 m Montagehöhe</a:t>
            </a:r>
            <a:endParaRPr lang="en-US" sz="2800" dirty="0"/>
          </a:p>
        </p:txBody>
      </p:sp>
      <p:sp>
        <p:nvSpPr>
          <p:cNvPr id="4" name="Arena Empfehlung 1 Nummer"/>
          <p:cNvSpPr txBox="1"/>
          <p:nvPr/>
        </p:nvSpPr>
        <p:spPr>
          <a:xfrm>
            <a:off x="548640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Arena Empfehlung 1 Titel"/>
          <p:cNvSpPr txBox="1"/>
          <p:nvPr/>
        </p:nvSpPr>
        <p:spPr>
          <a:xfrm>
            <a:off x="1051560" y="17373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Blende wie geliefert</a:t>
            </a:r>
            <a:endParaRPr lang="en-US" sz="1700" dirty="0"/>
          </a:p>
        </p:txBody>
      </p:sp>
      <p:sp>
        <p:nvSpPr>
          <p:cNvPr id="6" name="Arena Empfehlung 1 Text"/>
          <p:cNvSpPr txBox="1"/>
          <p:nvPr/>
        </p:nvSpPr>
        <p:spPr>
          <a:xfrm>
            <a:off x="1051560" y="219456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Die 50-%-Lochung bringt dem Spielfeld nur etwa 1 % mehr Licht, erhöht aber die Blendung der Zuschauer (GR +1 bis +3) und das Licht am Auge.</a:t>
            </a:r>
            <a:endParaRPr lang="en-US" sz="1400" dirty="0"/>
          </a:p>
        </p:txBody>
      </p:sp>
      <p:sp>
        <p:nvSpPr>
          <p:cNvPr id="7" name="Arena Empfehlung 2 Nummer"/>
          <p:cNvSpPr txBox="1"/>
          <p:nvPr/>
        </p:nvSpPr>
        <p:spPr>
          <a:xfrm>
            <a:off x="6217920" y="1737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Arena Empfehlung 2 Titel"/>
          <p:cNvSpPr txBox="1"/>
          <p:nvPr/>
        </p:nvSpPr>
        <p:spPr>
          <a:xfrm>
            <a:off x="6720840" y="17373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Montagehöhe 8 m</a:t>
            </a:r>
            <a:endParaRPr lang="en-US" sz="1700" dirty="0"/>
          </a:p>
        </p:txBody>
      </p:sp>
      <p:sp>
        <p:nvSpPr>
          <p:cNvPr id="9" name="Arena Empfehlung 2 Text"/>
          <p:cNvSpPr txBox="1"/>
          <p:nvPr/>
        </p:nvSpPr>
        <p:spPr>
          <a:xfrm>
            <a:off x="6720840" y="219456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Gleichmäßiges Feld (U0 0,70 mit durchgehender Reihe, Klasse I) und geringere Blendung der Zuschauer als bei 5 m.</a:t>
            </a:r>
            <a:endParaRPr lang="en-US" sz="1400" dirty="0"/>
          </a:p>
        </p:txBody>
      </p:sp>
      <p:sp>
        <p:nvSpPr>
          <p:cNvPr id="10" name="Arena Empfehlung 3 Nummer"/>
          <p:cNvSpPr txBox="1"/>
          <p:nvPr/>
        </p:nvSpPr>
        <p:spPr>
          <a:xfrm>
            <a:off x="548640" y="3886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Arena Empfehlung 3 Titel"/>
          <p:cNvSpPr txBox="1"/>
          <p:nvPr/>
        </p:nvSpPr>
        <p:spPr>
          <a:xfrm>
            <a:off x="1051560" y="38862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Reihe durchgehend planen</a:t>
            </a:r>
            <a:endParaRPr lang="en-US" sz="1700" dirty="0"/>
          </a:p>
        </p:txBody>
      </p:sp>
      <p:sp>
        <p:nvSpPr>
          <p:cNvPr id="12" name="Arena Empfehlung 3 Text"/>
          <p:cNvSpPr txBox="1"/>
          <p:nvPr/>
        </p:nvSpPr>
        <p:spPr>
          <a:xfrm>
            <a:off x="1051560" y="434340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Mit nur drei Leuchten fällt das Licht an den Rändern ab. Für ein ganzes Spielfeld weitere Reihen oder die Gegenseite einplanen.</a:t>
            </a:r>
            <a:endParaRPr lang="en-US" sz="1400" dirty="0"/>
          </a:p>
        </p:txBody>
      </p:sp>
      <p:sp>
        <p:nvSpPr>
          <p:cNvPr id="13" name="Arena Empfehlung 4 Nummer"/>
          <p:cNvSpPr txBox="1"/>
          <p:nvPr/>
        </p:nvSpPr>
        <p:spPr>
          <a:xfrm>
            <a:off x="6217920" y="3886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Arena Empfehlung 4 Titel"/>
          <p:cNvSpPr txBox="1"/>
          <p:nvPr/>
        </p:nvSpPr>
        <p:spPr>
          <a:xfrm>
            <a:off x="6720840" y="38862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50 % nur für TV-Tribünenlicht</a:t>
            </a:r>
            <a:endParaRPr lang="en-US" sz="1700" dirty="0"/>
          </a:p>
        </p:txBody>
      </p:sp>
      <p:sp>
        <p:nvSpPr>
          <p:cNvPr id="15" name="Arena Empfehlung 4 Text"/>
          <p:cNvSpPr txBox="1"/>
          <p:nvPr/>
        </p:nvSpPr>
        <p:spPr>
          <a:xfrm>
            <a:off x="6720840" y="434340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Soll die Tribüne für Übertragungen bewusst aufgehellt werden, kann die 50-%-Lochung sinnvoll sein; dann die LVK vorher messen.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VIER LICHTVERTEILUNGEN IM VERGLEICH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Ohne externe Blende geht deutlich weniger Licht nach hinten</a:t>
            </a:r>
            <a:endParaRPr lang="en-US" sz="2800" dirty="0"/>
          </a:p>
        </p:txBody>
      </p:sp>
      <p:graphicFrame>
        <p:nvGraphicFramePr>
          <p:cNvPr id="4" name="Vergleich LVK C180" descr=""/>
          <p:cNvGraphicFramePr/>
          <p:nvPr/>
        </p:nvGraphicFramePr>
        <p:xfrm>
          <a:off x="548640" y="164592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91640"/>
          <a:ext cx="3566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68680"/>
                <a:gridCol w="685800"/>
                <a:gridCol w="685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C180, γ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B2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49,6° (8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10.371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4.874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5.383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64,6° (5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4.789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1.290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1.905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über 90°, vorn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1.000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ergleich LVK Hinweis"/>
          <p:cNvSpPr txBox="1"/>
          <p:nvPr/>
        </p:nvSpPr>
        <p:spPr>
          <a:xfrm>
            <a:off x="8046720" y="356616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Werte in cd bei je 111.246 lm. B2 und B3 sind relative LDT (4000 K, CRI 70), auf den gleichen Lichtstrom gesetzt und um 90° gedreht (Hauptstrahl C90 → C0). Ohne externe Blende kein Licht über die Horizontale.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PERSON 8 m HINTER DER LEUCHTE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Blende 2 halbiert die Blendung der Person gegenüber V2</a:t>
            </a:r>
            <a:endParaRPr lang="en-US" sz="2800" dirty="0"/>
          </a:p>
        </p:txBody>
      </p:sp>
      <p:graphicFrame>
        <p:nvGraphicFramePr>
          <p:cNvPr id="4" name="Vergleich GR Person" descr=""/>
          <p:cNvGraphicFramePr/>
          <p:nvPr/>
        </p:nvGraphicFramePr>
        <p:xfrm>
          <a:off x="548640" y="1645920"/>
          <a:ext cx="53949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B2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 zur Person,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4.789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6.409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1.290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1.905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 zur Person,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10.371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11.647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4.874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5.383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E_v Auge,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E_v Auge,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34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Rückwand Ē,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2,5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Rückwand Ē,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20,3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5,3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6,6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ergleich Person Kommentar"/>
          <p:cNvSpPr txBox="1"/>
          <p:nvPr/>
        </p:nvSpPr>
        <p:spPr>
          <a:xfrm>
            <a:off x="6172200" y="484632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Mit Blende 2 bleibt die Beleuchtungsstärke am Auge bei 5 m unter dem Störlicht-Richtwert E4 (25 lx).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ARENA · BLENDUNG UND FELD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Arena: B2 und B3 blenden kaum, V2 hält Klasse I besser</a:t>
            </a:r>
            <a:endParaRPr lang="en-US" sz="2800" dirty="0"/>
          </a:p>
        </p:txBody>
      </p:sp>
      <p:pic>
        <p:nvPicPr>
          <p:cNvPr id="4" name="Vergleich Arena Karten" descr="GR-Karten der Zuschauer für V2, V2 50 %, Blende 2 und Blende 3 bei 5 m und 8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863840" cy="3599993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1645920"/>
          <a:ext cx="29718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77240"/>
                <a:gridCol w="50292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8 m, REIHE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Ē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U0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KLASSE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1.080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V2 50 %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1.094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Blende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1.235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III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Blende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1.179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III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ergleich Arena Kommentar"/>
          <p:cNvSpPr txBox="1"/>
          <p:nvPr/>
        </p:nvSpPr>
        <p:spPr>
          <a:xfrm>
            <a:off x="8641080" y="38404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 der Zuschauer bei 8 m: max 13 (V2), 15 (V2 50 %), 7 (B2), 9 (B3). B2/B3 bündeln stärker: helleres Feld, etwas geringere Gleichmäßigkeit.</a:t>
            </a:r>
            <a:endParaRPr lang="en-US" sz="1200" dirty="0"/>
          </a:p>
        </p:txBody>
      </p:sp>
      <p:sp>
        <p:nvSpPr>
          <p:cNvPr id="7" name="Vergleich Arena Bildunterschrift"/>
          <p:cNvSpPr txBox="1"/>
          <p:nvPr/>
        </p:nvSpPr>
        <p:spPr>
          <a:xfrm>
            <a:off x="548640" y="5257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Drei Leuchten im Abstand von 6 m bzw. durchgehende Reihe, Wartungsfaktor 0,8, je 111.246 lm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GESAMTBEWERTUNG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Für Blendung und Störlicht ist Blende 2 die beste Lösung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965960"/>
                <a:gridCol w="19659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KRITERIUM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 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 50 %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BLENDE 2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BLENDE 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Person (GR 5 m / 8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24,0 / 21,0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26,8 / 22,1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9,8 / 12,4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14,0 / 13,7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 am Auge (E_v 5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Zuschauer (GR max 8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Aufhellung Rückwand (Ē 5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2,5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 über die Horizontale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bis 1.000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bis 1.000 cd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keins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keins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Feld 8 m, durchgehende Reihe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Klasse III (U0 0,64)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Klasse III (U0 0,69)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Datengrundlage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gemessen, absolut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abgeschätzt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relativ, 4000 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relativ, 4000 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Gesamtbewertung Empfehlung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Empfehlung: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Blende 2 oder Blende 3 bei 8 m Montagehöhe statt der außenliegenden Blende V2. Vorher die absoluten Lichtströme der Ausführungen ohne Blende beim Hersteller abfragen und für Klasse I die Gleichmäßigkeit mit Neigung oder Abstand nachweisen.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AUSLEGUNG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Ein 450 mm tiefes Stirnblech bildet Blende 3 außen nach</a:t>
            </a:r>
            <a:endParaRPr lang="en-US" sz="2800" dirty="0"/>
          </a:p>
        </p:txBody>
      </p:sp>
      <p:pic>
        <p:nvPicPr>
          <p:cNvPr id="4" name="Neue Blende Ansicht hinten" descr="SIRIUS 1000 mit neuer außenliegender Blende, Ansicht von hinten unt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3657600" cy="3074213"/>
          </a:xfrm>
          <a:prstGeom prst="rect">
            <a:avLst/>
          </a:prstGeom>
        </p:spPr>
      </p:pic>
      <p:sp>
        <p:nvSpPr>
          <p:cNvPr id="5" name="Neue Blende Bildunterschrift"/>
          <p:cNvSpPr txBox="1"/>
          <p:nvPr/>
        </p:nvSpPr>
        <p:spPr>
          <a:xfrm>
            <a:off x="731520" y="4892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Neue Blende B3a von hinten unten; Unter- und Seitenkanten 20 mm gekantet</a:t>
            </a:r>
            <a:endParaRPr lang="en-US" sz="1000" dirty="0"/>
          </a:p>
        </p:txBody>
      </p:sp>
      <p:sp>
        <p:nvSpPr>
          <p:cNvPr id="6" name="Seitenansicht V2 Titel"/>
          <p:cNvSpPr txBox="1"/>
          <p:nvPr/>
        </p:nvSpPr>
        <p:spPr>
          <a:xfrm>
            <a:off x="498348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V2 heute (211 mm)</a:t>
            </a:r>
            <a:endParaRPr lang="en-US" sz="1100" dirty="0"/>
          </a:p>
        </p:txBody>
      </p:sp>
      <p:pic>
        <p:nvPicPr>
          <p:cNvPr id="7" name="Seitenansicht V2" descr="Seitenansicht mit Blende V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65960"/>
            <a:ext cx="2743200" cy="1277417"/>
          </a:xfrm>
          <a:prstGeom prst="rect">
            <a:avLst/>
          </a:prstGeom>
        </p:spPr>
      </p:pic>
      <p:sp>
        <p:nvSpPr>
          <p:cNvPr id="8" name="Seitenansicht B3a Titel"/>
          <p:cNvSpPr txBox="1"/>
          <p:nvPr/>
        </p:nvSpPr>
        <p:spPr>
          <a:xfrm>
            <a:off x="498348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B3a neu (450 mm)</a:t>
            </a:r>
            <a:endParaRPr lang="en-US" sz="1100" dirty="0"/>
          </a:p>
        </p:txBody>
      </p:sp>
      <p:pic>
        <p:nvPicPr>
          <p:cNvPr id="9" name="Seitenansicht B3a" descr="Seitenansicht mit neuer Blende B3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749040"/>
            <a:ext cx="2743200" cy="1965960"/>
          </a:xfrm>
          <a:prstGeom prst="rect">
            <a:avLst/>
          </a:prstGeom>
        </p:spPr>
      </p:pic>
      <p:sp>
        <p:nvSpPr>
          <p:cNvPr id="10" name="Tiefe Kachel"/>
          <p:cNvSpPr/>
          <p:nvPr/>
        </p:nvSpPr>
        <p:spPr>
          <a:xfrm>
            <a:off x="8001000" y="1691640"/>
            <a:ext cx="3611880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iefe Wert"/>
          <p:cNvSpPr txBox="1"/>
          <p:nvPr/>
        </p:nvSpPr>
        <p:spPr>
          <a:xfrm>
            <a:off x="82296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450 mm</a:t>
            </a:r>
            <a:endParaRPr lang="en-US" sz="3000" dirty="0"/>
          </a:p>
        </p:txBody>
      </p:sp>
      <p:sp>
        <p:nvSpPr>
          <p:cNvPr id="12" name="Tiefe Text"/>
          <p:cNvSpPr txBox="1"/>
          <p:nvPr/>
        </p:nvSpPr>
        <p:spPr>
          <a:xfrm>
            <a:off x="8229600" y="2606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Stirnblech senkrecht; Seitenwangen wie V2, 211 → 89 mm tief</a:t>
            </a:r>
            <a:endParaRPr lang="en-US" sz="1200" dirty="0"/>
          </a:p>
        </p:txBody>
      </p:sp>
      <p:sp>
        <p:nvSpPr>
          <p:cNvPr id="13" name="Lochung Kachel"/>
          <p:cNvSpPr/>
          <p:nvPr/>
        </p:nvSpPr>
        <p:spPr>
          <a:xfrm>
            <a:off x="8001000" y="3154680"/>
            <a:ext cx="3611880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Lochung Wert"/>
          <p:cNvSpPr txBox="1"/>
          <p:nvPr/>
        </p:nvSpPr>
        <p:spPr>
          <a:xfrm>
            <a:off x="8229600" y="33375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10 %</a:t>
            </a:r>
            <a:endParaRPr lang="en-US" sz="3000" dirty="0"/>
          </a:p>
        </p:txBody>
      </p:sp>
      <p:sp>
        <p:nvSpPr>
          <p:cNvPr id="15" name="Lochung Text"/>
          <p:cNvSpPr txBox="1"/>
          <p:nvPr/>
        </p:nvSpPr>
        <p:spPr>
          <a:xfrm>
            <a:off x="822960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Lochung Ø 4,3 mm im Raster 12 mm, Blech 1,5 mm, 1.204 Löcher</a:t>
            </a:r>
            <a:endParaRPr lang="en-US" sz="1200" dirty="0"/>
          </a:p>
        </p:txBody>
      </p:sp>
      <p:sp>
        <p:nvSpPr>
          <p:cNvPr id="16" name="Lichtstrom Kachel"/>
          <p:cNvSpPr/>
          <p:nvPr/>
        </p:nvSpPr>
        <p:spPr>
          <a:xfrm>
            <a:off x="8001000" y="4617720"/>
            <a:ext cx="3611880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Lichtstrom Wert"/>
          <p:cNvSpPr txBox="1"/>
          <p:nvPr/>
        </p:nvSpPr>
        <p:spPr>
          <a:xfrm>
            <a:off x="8229600" y="48006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–2 %</a:t>
            </a:r>
            <a:endParaRPr lang="en-US" sz="3000" dirty="0"/>
          </a:p>
        </p:txBody>
      </p:sp>
      <p:sp>
        <p:nvSpPr>
          <p:cNvPr id="18" name="Lichtstrom Text"/>
          <p:cNvSpPr txBox="1"/>
          <p:nvPr/>
        </p:nvSpPr>
        <p:spPr>
          <a:xfrm>
            <a:off x="8229600" y="5532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Lichtstrom 109.236 lm statt 111.246 lm (gleiche Optik wie V2)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LICHTVERTEILUNG NACH HINTEN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Bis 55° wie Blende 3, darüber schärfer abgeschnitten</a:t>
            </a:r>
            <a:endParaRPr lang="en-US" sz="2800" dirty="0"/>
          </a:p>
        </p:txBody>
      </p:sp>
      <p:graphicFrame>
        <p:nvGraphicFramePr>
          <p:cNvPr id="4" name="B3a LVK C180" descr=""/>
          <p:cNvGraphicFramePr/>
          <p:nvPr/>
        </p:nvGraphicFramePr>
        <p:xfrm>
          <a:off x="548640" y="164592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9164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C180, γ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B3a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50° (8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10.381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5.177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5.781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8.597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3.260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3.520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6.267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2.430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746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65° (5 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4.658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1.858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798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2.238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1.386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628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3a LVK Hinweis"/>
          <p:cNvSpPr txBox="1"/>
          <p:nvPr/>
        </p:nvSpPr>
        <p:spPr>
          <a:xfrm>
            <a:off x="8046720" y="38862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Werte in cd, je Lichtstrom der Variante. Das gerade Blech schneidet schärfer ab als die Optik der Blende 3: bis 55° passt es, ab 60° geht weniger Licht nach hinten. Schräg nach hinten (C150) bleibt es wie V2, weil die Wangen nicht tiefer sind. Nach vorn wie V2.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BEWERTUNG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B3a blendet kaum mehr als Blende 3 und hält Klasse I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560320"/>
                <a:gridCol w="256032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KRITERIUM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 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BLENDE 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B3a NEU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Person, GR 5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5,4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Person, GR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13,7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 am Auge, E_v 5 m /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/ 72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 / 37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 / 40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Zuschauer, GR max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Aufhellung Rückwand, Ē 5 m /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7,1 / 16,0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3,4 / 6,6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4,9 / 10,1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Feld 8 m, durchgehende Reihe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 (U0 0,70)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Klasse III (U0 0,69)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 (U0 0,70)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Umsetzung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vorhanden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andere Optik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nur neues Blech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B3a Einordnung"/>
          <p:cNvSpPr txBox="1"/>
          <p:nvPr/>
        </p:nvSpPr>
        <p:spPr>
          <a:xfrm>
            <a:off x="548640" y="48006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B3a kommt bei der Blendung nahe an Blende 3, braucht keine neue Optik und hält in der Arena Klasse I wie V2 (U0 genau an der Grenze). Die Rückwand wird etwas heller als mit Blende 3. Das freie Stirnblech ist an Unter- und Seitenkanten 20 mm nach hinten gekantet. Vor dem Einsatz ein Muster bauen und vermessen.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KOMPAKTE BLENDE · PRINZIP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Eine Lamelle unter dem Glas spart mehr als die halbe Bautiefe</a:t>
            </a:r>
            <a:endParaRPr lang="en-US" sz="2800" dirty="0"/>
          </a:p>
        </p:txBody>
      </p:sp>
      <p:sp>
        <p:nvSpPr>
          <p:cNvPr id="4" name="Prinzip 1 Nummer"/>
          <p:cNvSpPr txBox="1"/>
          <p:nvPr/>
        </p:nvSpPr>
        <p:spPr>
          <a:xfrm>
            <a:off x="548640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Prinzip 1 Titel"/>
          <p:cNvSpPr txBox="1"/>
          <p:nvPr/>
        </p:nvSpPr>
        <p:spPr>
          <a:xfrm>
            <a:off x="1051560" y="16916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Warum B3a 450 mm tief ist</a:t>
            </a:r>
            <a:endParaRPr lang="en-US" sz="1700" dirty="0"/>
          </a:p>
        </p:txBody>
      </p:sp>
      <p:sp>
        <p:nvSpPr>
          <p:cNvPr id="6" name="Prinzip 1 Text"/>
          <p:cNvSpPr txBox="1"/>
          <p:nvPr/>
        </p:nvSpPr>
        <p:spPr>
          <a:xfrm>
            <a:off x="1051560" y="214884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 Stirnblech allein muss die ganze Glaslänge von 766 mm abdecken: Tiefe = Länge / tan γ, für 60° rund 440 mm.</a:t>
            </a:r>
            <a:endParaRPr lang="en-US" sz="1400" dirty="0"/>
          </a:p>
        </p:txBody>
      </p:sp>
      <p:sp>
        <p:nvSpPr>
          <p:cNvPr id="7" name="Prinzip 2 Nummer"/>
          <p:cNvSpPr txBox="1"/>
          <p:nvPr/>
        </p:nvSpPr>
        <p:spPr>
          <a:xfrm>
            <a:off x="54864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Prinzip 2 Titel"/>
          <p:cNvSpPr txBox="1"/>
          <p:nvPr/>
        </p:nvSpPr>
        <p:spPr>
          <a:xfrm>
            <a:off x="1051560" y="32004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Lamelle teilt die Fläche</a:t>
            </a:r>
            <a:endParaRPr lang="en-US" sz="1700" dirty="0"/>
          </a:p>
        </p:txBody>
      </p:sp>
      <p:sp>
        <p:nvSpPr>
          <p:cNvPr id="9" name="Prinzip 2 Text"/>
          <p:cNvSpPr txBox="1"/>
          <p:nvPr/>
        </p:nvSpPr>
        <p:spPr>
          <a:xfrm>
            <a:off x="1051560" y="365760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Eine Lamelle unter der Glasmitte halbiert die abzudeckende Länge. Um 30° nach vorn geneigt, lässt sie den Hauptstrahl (C0, γ 35°) durch.</a:t>
            </a:r>
            <a:endParaRPr lang="en-US" sz="1400" dirty="0"/>
          </a:p>
        </p:txBody>
      </p:sp>
      <p:sp>
        <p:nvSpPr>
          <p:cNvPr id="10" name="Prinzip 3 Nummer"/>
          <p:cNvSpPr txBox="1"/>
          <p:nvPr/>
        </p:nvSpPr>
        <p:spPr>
          <a:xfrm>
            <a:off x="548640" y="4709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Prinzip 3 Titel"/>
          <p:cNvSpPr txBox="1"/>
          <p:nvPr/>
        </p:nvSpPr>
        <p:spPr>
          <a:xfrm>
            <a:off x="1051560" y="47091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Seitliche Form: ohne Wangen</a:t>
            </a:r>
            <a:endParaRPr lang="en-US" sz="1700" dirty="0"/>
          </a:p>
        </p:txBody>
      </p:sp>
      <p:sp>
        <p:nvSpPr>
          <p:cNvPr id="12" name="Prinzip 3 Text"/>
          <p:cNvSpPr txBox="1"/>
          <p:nvPr/>
        </p:nvSpPr>
        <p:spPr>
          <a:xfrm>
            <a:off x="1051560" y="516636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Wangen schneiden Licht zur Seite ab: je nach Länge 2–20 % Lichtstrom und Gleichmäßigkeit weg, ohne die Blendung nach hinten zu senken.</a:t>
            </a:r>
            <a:endParaRPr lang="en-US" sz="1400" dirty="0"/>
          </a:p>
        </p:txBody>
      </p:sp>
      <p:graphicFrame>
        <p:nvGraphicFramePr>
          <p:cNvPr id="13" name="Kompakt Studie GR" descr=""/>
          <p:cNvGraphicFramePr/>
          <p:nvPr/>
        </p:nvGraphicFramePr>
        <p:xfrm>
          <a:off x="6309360" y="1645920"/>
          <a:ext cx="5303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AUSLEGUNG B3k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B3k: 188 mm statt 450 mm Bautiefe</a:t>
            </a:r>
            <a:endParaRPr lang="en-US" sz="2800" dirty="0"/>
          </a:p>
        </p:txBody>
      </p:sp>
      <p:pic>
        <p:nvPicPr>
          <p:cNvPr id="4" name="B3k Ansicht hinten" descr="SIRIUS 1000 mit kompakter Blende B3k, Ansicht von hinten unt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023360" cy="2989174"/>
          </a:xfrm>
          <a:prstGeom prst="rect">
            <a:avLst/>
          </a:prstGeom>
        </p:spPr>
      </p:pic>
      <p:sp>
        <p:nvSpPr>
          <p:cNvPr id="5" name="B3k Bildunterschrift"/>
          <p:cNvSpPr txBox="1"/>
          <p:nvPr/>
        </p:nvSpPr>
        <p:spPr>
          <a:xfrm>
            <a:off x="548640" y="4846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B3k von hinten unten: Stirnblech gelocht, Lamelle geschlossen</a:t>
            </a:r>
            <a:endParaRPr lang="en-US" sz="1000" dirty="0"/>
          </a:p>
        </p:txBody>
      </p:sp>
      <p:sp>
        <p:nvSpPr>
          <p:cNvPr id="6" name="Seitenansicht B3a Titel"/>
          <p:cNvSpPr txBox="1"/>
          <p:nvPr/>
        </p:nvSpPr>
        <p:spPr>
          <a:xfrm>
            <a:off x="4846320" y="1645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B3a (450 mm)</a:t>
            </a:r>
            <a:endParaRPr lang="en-US" sz="1100" dirty="0"/>
          </a:p>
        </p:txBody>
      </p:sp>
      <p:pic>
        <p:nvPicPr>
          <p:cNvPr id="7" name="Seitenansicht B3a klein" descr="Seitenansicht mit Blende B3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920240"/>
            <a:ext cx="2834640" cy="2031797"/>
          </a:xfrm>
          <a:prstGeom prst="rect">
            <a:avLst/>
          </a:prstGeom>
        </p:spPr>
      </p:pic>
      <p:sp>
        <p:nvSpPr>
          <p:cNvPr id="8" name="Seitenansicht B3k Titel"/>
          <p:cNvSpPr txBox="1"/>
          <p:nvPr/>
        </p:nvSpPr>
        <p:spPr>
          <a:xfrm>
            <a:off x="4846320" y="4114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B3k (188 mm)</a:t>
            </a:r>
            <a:endParaRPr lang="en-US" sz="1100" dirty="0"/>
          </a:p>
        </p:txBody>
      </p:sp>
      <p:pic>
        <p:nvPicPr>
          <p:cNvPr id="9" name="Seitenansicht B3k" descr="Seitenansicht mit kompakter Blende B3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389120"/>
            <a:ext cx="2834640" cy="1473098"/>
          </a:xfrm>
          <a:prstGeom prst="rect">
            <a:avLst/>
          </a:prstGeom>
        </p:spPr>
      </p:pic>
      <p:sp>
        <p:nvSpPr>
          <p:cNvPr id="10" name="B3k Tiefe Kachel"/>
          <p:cNvSpPr/>
          <p:nvPr/>
        </p:nvSpPr>
        <p:spPr>
          <a:xfrm>
            <a:off x="8001000" y="1691640"/>
            <a:ext cx="3611880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B3k Tiefe Wert"/>
          <p:cNvSpPr txBox="1"/>
          <p:nvPr/>
        </p:nvSpPr>
        <p:spPr>
          <a:xfrm>
            <a:off x="82296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188 mm</a:t>
            </a:r>
            <a:endParaRPr lang="en-US" sz="3000" dirty="0"/>
          </a:p>
        </p:txBody>
      </p:sp>
      <p:sp>
        <p:nvSpPr>
          <p:cNvPr id="12" name="B3k Tiefe Text"/>
          <p:cNvSpPr txBox="1"/>
          <p:nvPr/>
        </p:nvSpPr>
        <p:spPr>
          <a:xfrm>
            <a:off x="8229600" y="2606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58 % flacher als B3a; Stirnblech senkrecht, eine Lamelle unter der Glasmitte</a:t>
            </a:r>
            <a:endParaRPr lang="en-US" sz="1200" dirty="0"/>
          </a:p>
        </p:txBody>
      </p:sp>
      <p:sp>
        <p:nvSpPr>
          <p:cNvPr id="13" name="B3k Lamelle Kachel"/>
          <p:cNvSpPr/>
          <p:nvPr/>
        </p:nvSpPr>
        <p:spPr>
          <a:xfrm>
            <a:off x="8001000" y="3154680"/>
            <a:ext cx="3611880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B3k Lamelle Wert"/>
          <p:cNvSpPr txBox="1"/>
          <p:nvPr/>
        </p:nvSpPr>
        <p:spPr>
          <a:xfrm>
            <a:off x="8229600" y="33375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30°</a:t>
            </a:r>
            <a:endParaRPr lang="en-US" sz="3000" dirty="0"/>
          </a:p>
        </p:txBody>
      </p:sp>
      <p:sp>
        <p:nvSpPr>
          <p:cNvPr id="15" name="B3k Lamelle Text"/>
          <p:cNvSpPr txBox="1"/>
          <p:nvPr/>
        </p:nvSpPr>
        <p:spPr>
          <a:xfrm>
            <a:off x="822960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Lamelle geschlossen, nach vorn geneigt, 15 mm unter dem Glas; Stirnblech 10 % gelocht</a:t>
            </a:r>
            <a:endParaRPr lang="en-US" sz="1200" dirty="0"/>
          </a:p>
        </p:txBody>
      </p:sp>
      <p:sp>
        <p:nvSpPr>
          <p:cNvPr id="16" name="B3k Lichtstrom Kachel"/>
          <p:cNvSpPr/>
          <p:nvPr/>
        </p:nvSpPr>
        <p:spPr>
          <a:xfrm>
            <a:off x="8001000" y="4617720"/>
            <a:ext cx="3611880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B3k Lichtstrom Wert"/>
          <p:cNvSpPr txBox="1"/>
          <p:nvPr/>
        </p:nvSpPr>
        <p:spPr>
          <a:xfrm>
            <a:off x="8229600" y="48006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–4,1 %</a:t>
            </a:r>
            <a:endParaRPr lang="en-US" sz="3000" dirty="0"/>
          </a:p>
        </p:txBody>
      </p:sp>
      <p:sp>
        <p:nvSpPr>
          <p:cNvPr id="18" name="B3k Lichtstrom Text"/>
          <p:cNvSpPr txBox="1"/>
          <p:nvPr/>
        </p:nvSpPr>
        <p:spPr>
          <a:xfrm>
            <a:off x="8229600" y="5532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Lichtstrom 106.577 lm; keine Seitenwangen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BEWERTUNG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B3k blendet wie B3a, erreicht in der Arena aber nur Klasse III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2011680"/>
                <a:gridCol w="201168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KRITERIUM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V2 HEUTE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BLENDE 3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B3a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B3k KOMPAKT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Bautiefe unter dem Glas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211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450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188 mm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Lichtstrom gegenüber V2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 (gesetzt)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98 %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96 %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Person, GR 5 m /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24,0 / 21,0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14,0 / 13,7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5,4 / 15,1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6,5 / 14,7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Licht am Auge, E_v 5 m /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/ 72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 / 37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 / 40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/ 37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Blendung Zuschauer, GR max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Aufhellung Rückwand, Ē 5 m / 8 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7,1 / 16,0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3,4 / 6,6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4,9 / 10,1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3,7 / 8,2 lx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Feld 8 m, durchgehende Reihe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 (U0 0,70)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Klasse III (0,69)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Klasse I (U0 0,70)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Klasse III (0,66)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B3k Einordnung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B3k erreicht die Blendungswerte von B3a mit 42 % der Bautiefe. Die Lamelle schattet etwas Licht nach unten ab; am vorderen Feldrand fällt U0 dadurch auf 0,66. Wo Klasse I gefordert ist, bleibt B3a die Lösung, sonst ist B3k die handlichere Blende.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ANNAHMEN UND GRENZEN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Was die Bewertung abdeckt und was nicht</a:t>
            </a:r>
            <a:endParaRPr lang="en-US" sz="2800" dirty="0"/>
          </a:p>
        </p:txBody>
      </p:sp>
      <p:sp>
        <p:nvSpPr>
          <p:cNvPr id="4" name="Annahmen Liste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Grundlage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LDT der SIRIUS 2000 (5XA7100W40A13DA-Z, außenliegende Blende V2), auf ein Modul halbiert: 111.246 lm, 985,5 W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CAD-Modell der Blende aus der STEP-Datei, Löcher geometrisch aufgebohrt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Direktlicht analytisch aus der LVK, gegengeprüft mit Blender/Cycles (Abweichung 3–7 %)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Grenzen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LVK der 50-%-Lochung ist mit einem Strahlenmodell abgeschätzt, nicht gemessen; Reflexion an der Blende wie gemessen angenommen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 mit angenommenem Boden-Reflexionsgrad 20 %; bei 0 % Reflexion nicht definiert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Ein Blickpunkt (sitzend, 8 m hinter der Leuchte, Blick nach vorn); direkter Blick zur Leuchte nicht mit GR bewertet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Person nicht als Hindernis im Messfeld berücksichtigt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Arena: drei Leuchten bzw. durchgehende Reihe alle 6 m, Wartungsfaktor 0,8, Direktlicht, Zuschauer in Augenhöhe 1,2 m (keine ansteigende Tribüne)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Blende 2/3: relative LDT (4000 K, CRI 70), auf 111.246 lm gesetzt und um 90° gedreht; Vergleich bei gleichem Lichtstrom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B3a/B3k: Blende und LVK berechnet (Strahlenmodell, Innenseite matt schwarz), nicht gemessen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eco Datenblatt">
  <a:themeElements>
    <a:clrScheme name="Siteco Datenblatt">
      <a:dk1>
        <a:srgbClr val="17202B"/>
      </a:dk1>
      <a:lt1>
        <a:srgbClr val="FFFFFF"/>
      </a:lt1>
      <a:dk2>
        <a:srgbClr val="5B6673"/>
      </a:dk2>
      <a:lt2>
        <a:srgbClr val="F6F7F8"/>
      </a:lt2>
      <a:accent1>
        <a:srgbClr val="0B5CAD"/>
      </a:accent1>
      <a:accent2>
        <a:srgbClr val="A35A00"/>
      </a:accent2>
      <a:accent3>
        <a:srgbClr val="E3EEF9"/>
      </a:accent3>
      <a:accent4>
        <a:srgbClr val="D5DBE1"/>
      </a:accent4>
      <a:accent5>
        <a:srgbClr val="2F9A46"/>
      </a:accent5>
      <a:accent6>
        <a:srgbClr val="FBF0E1"/>
      </a:accent6>
      <a:hlink>
        <a:srgbClr val="0B5CAD"/>
      </a:hlink>
      <a:folHlink>
        <a:srgbClr val="5B6673"/>
      </a:folHlink>
    </a:clrScheme>
    <a:fontScheme name="Siteco Datenblat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Blendungsbewertung SIRIUS 1000 – außenliegende Blende</dc:title>
  <dc:subject>Vergleich Blende wie geliefert (Lochung 3,4 %) und Lochung 50 %</dc:subject>
  <dc:creator>W. Rödel</dc:creator>
  <cp:lastModifiedBy>W. Rödel</cp:lastModifiedBy>
  <cp:revision>1</cp:revision>
  <dcterms:created xsi:type="dcterms:W3CDTF">2026-10-26T19:41:13Z</dcterms:created>
  <dcterms:modified xsi:type="dcterms:W3CDTF">2026-10-26T19:41:13Z</dcterms:modified>
</cp:coreProperties>
</file>